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413C966-241D-4A71-B9AA-B556D43ACBE1}">
  <a:tblStyle styleId="{D413C966-241D-4A71-B9AA-B556D43ACBE1}"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2400"/>
              <a:t>30 Seg.</a:t>
            </a:r>
            <a:endParaRPr sz="2400"/>
          </a:p>
          <a:p>
            <a:pPr indent="0" lvl="0" marL="0" rtl="0" algn="l">
              <a:spcBef>
                <a:spcPts val="0"/>
              </a:spcBef>
              <a:spcAft>
                <a:spcPts val="0"/>
              </a:spcAft>
              <a:buClr>
                <a:schemeClr val="dk1"/>
              </a:buClr>
              <a:buSzPts val="1100"/>
              <a:buFont typeface="Arial"/>
              <a:buNone/>
            </a:pPr>
            <a:r>
              <a:rPr lang="es" sz="2400"/>
              <a:t>"Buenas tardes. Mi proyecto se titula Aplicación de modelos de inteligencia artificial para la clasificación y el análisis de catálogos de tiendas.</a:t>
            </a:r>
            <a:endParaRPr sz="2400"/>
          </a:p>
          <a:p>
            <a:pPr indent="0" lvl="0" marL="0" rtl="0" algn="l">
              <a:spcBef>
                <a:spcPts val="0"/>
              </a:spcBef>
              <a:spcAft>
                <a:spcPts val="0"/>
              </a:spcAft>
              <a:buNone/>
            </a:pPr>
            <a:r>
              <a:rPr lang="es" sz="2400"/>
              <a:t>Este trabajo forma parte del Diploma en Ciencia de Datos e Inteligencia Artificial Aplicada de UTEC y el Tecnológico de Monterrey, con la tutoría del Lic. Martín Fernández."</a:t>
            </a:r>
            <a:endParaRPr sz="2400"/>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362f18b14dd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362f18b14dd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Clr>
                <a:schemeClr val="dk1"/>
              </a:buClr>
              <a:buSzPts val="1100"/>
              <a:buFont typeface="Arial"/>
              <a:buNone/>
            </a:pPr>
            <a:r>
              <a:rPr lang="es" sz="1900"/>
              <a:t>120 Seg.</a:t>
            </a:r>
            <a:endParaRPr sz="1900"/>
          </a:p>
          <a:p>
            <a:pPr indent="0" lvl="0" marL="0" rtl="0" algn="l">
              <a:spcBef>
                <a:spcPts val="1200"/>
              </a:spcBef>
              <a:spcAft>
                <a:spcPts val="0"/>
              </a:spcAft>
              <a:buClr>
                <a:schemeClr val="dk1"/>
              </a:buClr>
              <a:buSzPts val="1100"/>
              <a:buFont typeface="Arial"/>
              <a:buNone/>
            </a:pPr>
            <a:r>
              <a:rPr lang="es" sz="1900"/>
              <a:t>"En Uruguay, cada tienda de moda publica sus catálogos usando nombres propios, categorías distintas, atributos desordenados y estructuras sin estandarización.</a:t>
            </a:r>
            <a:endParaRPr sz="1900"/>
          </a:p>
          <a:p>
            <a:pPr indent="0" lvl="0" marL="0" rtl="0" algn="l">
              <a:spcBef>
                <a:spcPts val="1200"/>
              </a:spcBef>
              <a:spcAft>
                <a:spcPts val="0"/>
              </a:spcAft>
              <a:buClr>
                <a:schemeClr val="dk1"/>
              </a:buClr>
              <a:buSzPts val="1100"/>
              <a:buFont typeface="Arial"/>
              <a:buNone/>
            </a:pPr>
            <a:r>
              <a:rPr lang="es" sz="1900"/>
              <a:t>Esto genera datos caóticos que no se pueden comparar entre tiendas ni integrar en un sistema de análisis o recomendación.</a:t>
            </a:r>
            <a:endParaRPr sz="1900"/>
          </a:p>
          <a:p>
            <a:pPr indent="0" lvl="0" marL="0" rtl="0" algn="l">
              <a:spcBef>
                <a:spcPts val="1200"/>
              </a:spcBef>
              <a:spcAft>
                <a:spcPts val="0"/>
              </a:spcAft>
              <a:buClr>
                <a:schemeClr val="dk1"/>
              </a:buClr>
              <a:buSzPts val="1100"/>
              <a:buFont typeface="Arial"/>
              <a:buNone/>
            </a:pPr>
            <a:r>
              <a:rPr lang="es" sz="1900">
                <a:solidFill>
                  <a:schemeClr val="dk1"/>
                </a:solidFill>
              </a:rPr>
              <a:t>[señalar gráfico]</a:t>
            </a:r>
            <a:endParaRPr sz="1900">
              <a:solidFill>
                <a:schemeClr val="dk1"/>
              </a:solidFill>
            </a:endParaRPr>
          </a:p>
          <a:p>
            <a:pPr indent="0" lvl="0" marL="0" rtl="0" algn="l">
              <a:spcBef>
                <a:spcPts val="1200"/>
              </a:spcBef>
              <a:spcAft>
                <a:spcPts val="0"/>
              </a:spcAft>
              <a:buClr>
                <a:schemeClr val="dk1"/>
              </a:buClr>
              <a:buSzPts val="1100"/>
              <a:buFont typeface="Arial"/>
              <a:buNone/>
            </a:pPr>
            <a:r>
              <a:rPr lang="es" sz="1900">
                <a:solidFill>
                  <a:schemeClr val="dk1"/>
                </a:solidFill>
              </a:rPr>
              <a:t>Como ejemplo, encontramos más de 120 etiquetas distintas para nombrar prendas que, en muchos casos, pertenecen al mismo tipo de producto.</a:t>
            </a:r>
            <a:endParaRPr sz="1900">
              <a:solidFill>
                <a:schemeClr val="dk1"/>
              </a:solidFill>
            </a:endParaRPr>
          </a:p>
          <a:p>
            <a:pPr indent="0" lvl="0" marL="0" rtl="0" algn="l">
              <a:spcBef>
                <a:spcPts val="1200"/>
              </a:spcBef>
              <a:spcAft>
                <a:spcPts val="0"/>
              </a:spcAft>
              <a:buClr>
                <a:schemeClr val="dk1"/>
              </a:buClr>
              <a:buSzPts val="1100"/>
              <a:buFont typeface="Arial"/>
              <a:buNone/>
            </a:pPr>
            <a:r>
              <a:rPr lang="es" sz="1900">
                <a:solidFill>
                  <a:schemeClr val="dk1"/>
                </a:solidFill>
              </a:rPr>
              <a:t>Esto demuestra que no existe una taxonomía estándar entre las tiendas, lo que impide cualquier tipo de análisis o búsqueda inteligente.”</a:t>
            </a:r>
            <a:endParaRPr sz="1900"/>
          </a:p>
          <a:p>
            <a:pPr indent="0" lvl="0" marL="0" rtl="0" algn="l">
              <a:spcBef>
                <a:spcPts val="1200"/>
              </a:spcBef>
              <a:spcAft>
                <a:spcPts val="0"/>
              </a:spcAft>
              <a:buClr>
                <a:schemeClr val="dk1"/>
              </a:buClr>
              <a:buSzPts val="1100"/>
              <a:buFont typeface="Arial"/>
              <a:buNone/>
            </a:pPr>
            <a:r>
              <a:t/>
            </a:r>
            <a:endParaRPr sz="1900"/>
          </a:p>
          <a:p>
            <a:pPr indent="0" lvl="0" marL="0" rtl="0" algn="l">
              <a:spcBef>
                <a:spcPts val="1200"/>
              </a:spcBef>
              <a:spcAft>
                <a:spcPts val="0"/>
              </a:spcAft>
              <a:buClr>
                <a:schemeClr val="dk1"/>
              </a:buClr>
              <a:buSzPts val="1100"/>
              <a:buFont typeface="Arial"/>
              <a:buNone/>
            </a:pPr>
            <a:r>
              <a:t/>
            </a:r>
            <a:endParaRPr sz="1900"/>
          </a:p>
          <a:p>
            <a:pPr indent="0" lvl="0" marL="0" rtl="0" algn="l">
              <a:spcBef>
                <a:spcPts val="1200"/>
              </a:spcBef>
              <a:spcAft>
                <a:spcPts val="1200"/>
              </a:spcAft>
              <a:buNone/>
            </a:pPr>
            <a:r>
              <a:t/>
            </a:r>
            <a:endParaRPr sz="1900"/>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3a3bb7d03df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3a3bb7d03df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2400"/>
              <a:t>60 Seg.</a:t>
            </a:r>
            <a:endParaRPr sz="2400"/>
          </a:p>
          <a:p>
            <a:pPr indent="0" lvl="0" marL="0" rtl="0" algn="l">
              <a:spcBef>
                <a:spcPts val="0"/>
              </a:spcBef>
              <a:spcAft>
                <a:spcPts val="0"/>
              </a:spcAft>
              <a:buClr>
                <a:schemeClr val="dk1"/>
              </a:buClr>
              <a:buSzPts val="1100"/>
              <a:buFont typeface="Arial"/>
              <a:buNone/>
            </a:pPr>
            <a:r>
              <a:rPr lang="es" sz="2400"/>
              <a:t>"Los trabajos relacionados con Fashion AI se enfocan en:</a:t>
            </a:r>
            <a:endParaRPr sz="2400"/>
          </a:p>
          <a:p>
            <a:pPr indent="0" lvl="0" marL="0" rtl="0" algn="l">
              <a:spcBef>
                <a:spcPts val="0"/>
              </a:spcBef>
              <a:spcAft>
                <a:spcPts val="0"/>
              </a:spcAft>
              <a:buClr>
                <a:schemeClr val="dk1"/>
              </a:buClr>
              <a:buSzPts val="1100"/>
              <a:buFont typeface="Arial"/>
              <a:buNone/>
            </a:pPr>
            <a:r>
              <a:t/>
            </a:r>
            <a:endParaRPr sz="2400"/>
          </a:p>
          <a:p>
            <a:pPr indent="0" lvl="0" marL="0" rtl="0" algn="l">
              <a:spcBef>
                <a:spcPts val="0"/>
              </a:spcBef>
              <a:spcAft>
                <a:spcPts val="0"/>
              </a:spcAft>
              <a:buClr>
                <a:schemeClr val="dk1"/>
              </a:buClr>
              <a:buSzPts val="1100"/>
              <a:buFont typeface="Arial"/>
              <a:buNone/>
            </a:pPr>
            <a:r>
              <a:rPr lang="es" sz="2400"/>
              <a:t>clasificación automática de prendas,</a:t>
            </a:r>
            <a:endParaRPr sz="2400"/>
          </a:p>
          <a:p>
            <a:pPr indent="0" lvl="0" marL="0" rtl="0" algn="l">
              <a:spcBef>
                <a:spcPts val="0"/>
              </a:spcBef>
              <a:spcAft>
                <a:spcPts val="0"/>
              </a:spcAft>
              <a:buClr>
                <a:schemeClr val="dk1"/>
              </a:buClr>
              <a:buSzPts val="1100"/>
              <a:buFont typeface="Arial"/>
              <a:buNone/>
            </a:pPr>
            <a:r>
              <a:t/>
            </a:r>
            <a:endParaRPr sz="2400"/>
          </a:p>
          <a:p>
            <a:pPr indent="0" lvl="0" marL="0" rtl="0" algn="l">
              <a:spcBef>
                <a:spcPts val="0"/>
              </a:spcBef>
              <a:spcAft>
                <a:spcPts val="0"/>
              </a:spcAft>
              <a:buClr>
                <a:schemeClr val="dk1"/>
              </a:buClr>
              <a:buSzPts val="1100"/>
              <a:buFont typeface="Arial"/>
              <a:buNone/>
            </a:pPr>
            <a:r>
              <a:rPr lang="es" sz="2400"/>
              <a:t>embeddings multimodales,</a:t>
            </a:r>
            <a:endParaRPr sz="2400"/>
          </a:p>
          <a:p>
            <a:pPr indent="0" lvl="0" marL="0" rtl="0" algn="l">
              <a:spcBef>
                <a:spcPts val="0"/>
              </a:spcBef>
              <a:spcAft>
                <a:spcPts val="0"/>
              </a:spcAft>
              <a:buClr>
                <a:schemeClr val="dk1"/>
              </a:buClr>
              <a:buSzPts val="1100"/>
              <a:buFont typeface="Arial"/>
              <a:buNone/>
            </a:pPr>
            <a:r>
              <a:t/>
            </a:r>
            <a:endParaRPr sz="2400"/>
          </a:p>
          <a:p>
            <a:pPr indent="0" lvl="0" marL="0" rtl="0" algn="l">
              <a:spcBef>
                <a:spcPts val="0"/>
              </a:spcBef>
              <a:spcAft>
                <a:spcPts val="0"/>
              </a:spcAft>
              <a:buClr>
                <a:schemeClr val="dk1"/>
              </a:buClr>
              <a:buSzPts val="1100"/>
              <a:buFont typeface="Arial"/>
              <a:buNone/>
            </a:pPr>
            <a:r>
              <a:rPr lang="es" sz="2400"/>
              <a:t>y sistemas de recomendación basados en búsqueda vectorial.</a:t>
            </a:r>
            <a:endParaRPr sz="2400"/>
          </a:p>
          <a:p>
            <a:pPr indent="0" lvl="0" marL="0" rtl="0" algn="l">
              <a:spcBef>
                <a:spcPts val="0"/>
              </a:spcBef>
              <a:spcAft>
                <a:spcPts val="0"/>
              </a:spcAft>
              <a:buClr>
                <a:schemeClr val="dk1"/>
              </a:buClr>
              <a:buSzPts val="1100"/>
              <a:buFont typeface="Arial"/>
              <a:buNone/>
            </a:pPr>
            <a:r>
              <a:t/>
            </a:r>
            <a:endParaRPr sz="2400"/>
          </a:p>
          <a:p>
            <a:pPr indent="0" lvl="0" marL="0" rtl="0" algn="l">
              <a:spcBef>
                <a:spcPts val="0"/>
              </a:spcBef>
              <a:spcAft>
                <a:spcPts val="0"/>
              </a:spcAft>
              <a:buClr>
                <a:schemeClr val="dk1"/>
              </a:buClr>
              <a:buSzPts val="1100"/>
              <a:buFont typeface="Arial"/>
              <a:buNone/>
            </a:pPr>
            <a:r>
              <a:rPr lang="es" sz="2400"/>
              <a:t>Sin embargo, la mayoría trabaja con datasets bien etiquetados y no con catálogos reales, donde la información es ruidosa o incompleta."</a:t>
            </a:r>
            <a:endParaRPr sz="2400"/>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3a3bb7d03df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3a3bb7d03df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2400"/>
              <a:t>90 Seg.</a:t>
            </a:r>
            <a:endParaRPr sz="2400"/>
          </a:p>
          <a:p>
            <a:pPr indent="0" lvl="0" marL="0" rtl="0" algn="l">
              <a:spcBef>
                <a:spcPts val="0"/>
              </a:spcBef>
              <a:spcAft>
                <a:spcPts val="0"/>
              </a:spcAft>
              <a:buClr>
                <a:schemeClr val="dk1"/>
              </a:buClr>
              <a:buSzPts val="1100"/>
              <a:buFont typeface="Arial"/>
              <a:buNone/>
            </a:pPr>
            <a:r>
              <a:rPr lang="es" sz="2400"/>
              <a:t>"El objetivo general es desarrollar un sistema de recomendación de moda basado en catálogos reales de tiendas usando IA y búsqueda vectorial.</a:t>
            </a:r>
            <a:endParaRPr sz="2400"/>
          </a:p>
          <a:p>
            <a:pPr indent="0" lvl="0" marL="0" rtl="0" algn="l">
              <a:spcBef>
                <a:spcPts val="0"/>
              </a:spcBef>
              <a:spcAft>
                <a:spcPts val="0"/>
              </a:spcAft>
              <a:buClr>
                <a:schemeClr val="dk1"/>
              </a:buClr>
              <a:buSzPts val="1100"/>
              <a:buFont typeface="Arial"/>
              <a:buNone/>
            </a:pPr>
            <a:r>
              <a:t/>
            </a:r>
            <a:endParaRPr sz="2400"/>
          </a:p>
          <a:p>
            <a:pPr indent="0" lvl="0" marL="0" rtl="0" algn="l">
              <a:spcBef>
                <a:spcPts val="0"/>
              </a:spcBef>
              <a:spcAft>
                <a:spcPts val="0"/>
              </a:spcAft>
              <a:buClr>
                <a:schemeClr val="dk1"/>
              </a:buClr>
              <a:buSzPts val="1100"/>
              <a:buFont typeface="Arial"/>
              <a:buNone/>
            </a:pPr>
            <a:r>
              <a:rPr lang="es" sz="2400"/>
              <a:t>Los objetivos específicos fueron:</a:t>
            </a:r>
            <a:endParaRPr sz="2400"/>
          </a:p>
          <a:p>
            <a:pPr indent="0" lvl="0" marL="0" rtl="0" algn="l">
              <a:spcBef>
                <a:spcPts val="0"/>
              </a:spcBef>
              <a:spcAft>
                <a:spcPts val="0"/>
              </a:spcAft>
              <a:buClr>
                <a:schemeClr val="dk1"/>
              </a:buClr>
              <a:buSzPts val="1100"/>
              <a:buFont typeface="Arial"/>
              <a:buNone/>
            </a:pPr>
            <a:r>
              <a:t/>
            </a:r>
            <a:endParaRPr sz="2400"/>
          </a:p>
          <a:p>
            <a:pPr indent="0" lvl="0" marL="0" rtl="0" algn="l">
              <a:spcBef>
                <a:spcPts val="0"/>
              </a:spcBef>
              <a:spcAft>
                <a:spcPts val="0"/>
              </a:spcAft>
              <a:buClr>
                <a:schemeClr val="dk1"/>
              </a:buClr>
              <a:buSzPts val="1100"/>
              <a:buFont typeface="Arial"/>
              <a:buNone/>
            </a:pPr>
            <a:r>
              <a:rPr lang="es" sz="2400"/>
              <a:t>Limpiar y estandarizar categorías, géneros y atributos.</a:t>
            </a:r>
            <a:endParaRPr sz="2400"/>
          </a:p>
          <a:p>
            <a:pPr indent="0" lvl="0" marL="0" rtl="0" algn="l">
              <a:spcBef>
                <a:spcPts val="0"/>
              </a:spcBef>
              <a:spcAft>
                <a:spcPts val="0"/>
              </a:spcAft>
              <a:buClr>
                <a:schemeClr val="dk1"/>
              </a:buClr>
              <a:buSzPts val="1100"/>
              <a:buFont typeface="Arial"/>
              <a:buNone/>
            </a:pPr>
            <a:r>
              <a:t/>
            </a:r>
            <a:endParaRPr sz="2400"/>
          </a:p>
          <a:p>
            <a:pPr indent="0" lvl="0" marL="0" rtl="0" algn="l">
              <a:spcBef>
                <a:spcPts val="0"/>
              </a:spcBef>
              <a:spcAft>
                <a:spcPts val="0"/>
              </a:spcAft>
              <a:buClr>
                <a:schemeClr val="dk1"/>
              </a:buClr>
              <a:buSzPts val="1100"/>
              <a:buFont typeface="Arial"/>
              <a:buNone/>
            </a:pPr>
            <a:r>
              <a:rPr lang="es" sz="2400"/>
              <a:t>Generar embeddings multimodales para texto e imágenes.</a:t>
            </a:r>
            <a:endParaRPr sz="2400"/>
          </a:p>
          <a:p>
            <a:pPr indent="0" lvl="0" marL="0" rtl="0" algn="l">
              <a:spcBef>
                <a:spcPts val="0"/>
              </a:spcBef>
              <a:spcAft>
                <a:spcPts val="0"/>
              </a:spcAft>
              <a:buClr>
                <a:schemeClr val="dk1"/>
              </a:buClr>
              <a:buSzPts val="1100"/>
              <a:buFont typeface="Arial"/>
              <a:buNone/>
            </a:pPr>
            <a:r>
              <a:t/>
            </a:r>
            <a:endParaRPr sz="2400"/>
          </a:p>
          <a:p>
            <a:pPr indent="0" lvl="0" marL="0" rtl="0" algn="l">
              <a:spcBef>
                <a:spcPts val="0"/>
              </a:spcBef>
              <a:spcAft>
                <a:spcPts val="0"/>
              </a:spcAft>
              <a:buClr>
                <a:schemeClr val="dk1"/>
              </a:buClr>
              <a:buSzPts val="1100"/>
              <a:buFont typeface="Arial"/>
              <a:buNone/>
            </a:pPr>
            <a:r>
              <a:rPr lang="es" sz="2400"/>
              <a:t>Entrenar modelos supervisados con CatBoost que clasifiquen género y categoría automáticamente.</a:t>
            </a:r>
            <a:endParaRPr sz="2400"/>
          </a:p>
          <a:p>
            <a:pPr indent="0" lvl="0" marL="0" rtl="0" algn="l">
              <a:spcBef>
                <a:spcPts val="0"/>
              </a:spcBef>
              <a:spcAft>
                <a:spcPts val="0"/>
              </a:spcAft>
              <a:buClr>
                <a:schemeClr val="dk1"/>
              </a:buClr>
              <a:buSzPts val="1100"/>
              <a:buFont typeface="Arial"/>
              <a:buNone/>
            </a:pPr>
            <a:r>
              <a:t/>
            </a:r>
            <a:endParaRPr sz="2400"/>
          </a:p>
          <a:p>
            <a:pPr indent="0" lvl="0" marL="0" rtl="0" algn="l">
              <a:spcBef>
                <a:spcPts val="0"/>
              </a:spcBef>
              <a:spcAft>
                <a:spcPts val="0"/>
              </a:spcAft>
              <a:buClr>
                <a:schemeClr val="dk1"/>
              </a:buClr>
              <a:buSzPts val="1100"/>
              <a:buFont typeface="Arial"/>
              <a:buNone/>
            </a:pPr>
            <a:r>
              <a:rPr lang="es" sz="2400"/>
              <a:t>Implementar búsqueda vectorial con PostgreSQL y pgvector.</a:t>
            </a:r>
            <a:endParaRPr sz="2400"/>
          </a:p>
          <a:p>
            <a:pPr indent="0" lvl="0" marL="0" rtl="0" algn="l">
              <a:spcBef>
                <a:spcPts val="0"/>
              </a:spcBef>
              <a:spcAft>
                <a:spcPts val="0"/>
              </a:spcAft>
              <a:buClr>
                <a:schemeClr val="dk1"/>
              </a:buClr>
              <a:buSzPts val="1100"/>
              <a:buFont typeface="Arial"/>
              <a:buNone/>
            </a:pPr>
            <a:r>
              <a:t/>
            </a:r>
            <a:endParaRPr sz="2400"/>
          </a:p>
          <a:p>
            <a:pPr indent="0" lvl="0" marL="0" rtl="0" algn="l">
              <a:spcBef>
                <a:spcPts val="0"/>
              </a:spcBef>
              <a:spcAft>
                <a:spcPts val="0"/>
              </a:spcAft>
              <a:buClr>
                <a:schemeClr val="dk1"/>
              </a:buClr>
              <a:buSzPts val="1100"/>
              <a:buFont typeface="Arial"/>
              <a:buNone/>
            </a:pPr>
            <a:r>
              <a:rPr lang="es" sz="2400"/>
              <a:t>Diseñar una arquitectura multiagente para permitir interacción conversacional."</a:t>
            </a:r>
            <a:endParaRPr sz="2400"/>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3a7e36a56a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3a7e36a56a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2400"/>
              <a:t>60 Seg.</a:t>
            </a:r>
            <a:endParaRPr sz="2400"/>
          </a:p>
          <a:p>
            <a:pPr indent="0" lvl="0" marL="0" rtl="0" algn="l">
              <a:spcBef>
                <a:spcPts val="0"/>
              </a:spcBef>
              <a:spcAft>
                <a:spcPts val="0"/>
              </a:spcAft>
              <a:buClr>
                <a:schemeClr val="dk1"/>
              </a:buClr>
              <a:buSzPts val="1100"/>
              <a:buFont typeface="Arial"/>
              <a:buNone/>
            </a:pPr>
            <a:r>
              <a:rPr lang="es" sz="2400"/>
              <a:t>"El proyecto se estructuró en tres etapas:</a:t>
            </a:r>
            <a:endParaRPr sz="2400"/>
          </a:p>
          <a:p>
            <a:pPr indent="0" lvl="0" marL="0" rtl="0" algn="l">
              <a:spcBef>
                <a:spcPts val="0"/>
              </a:spcBef>
              <a:spcAft>
                <a:spcPts val="0"/>
              </a:spcAft>
              <a:buClr>
                <a:schemeClr val="dk1"/>
              </a:buClr>
              <a:buSzPts val="1100"/>
              <a:buFont typeface="Arial"/>
              <a:buNone/>
            </a:pPr>
            <a:r>
              <a:t/>
            </a:r>
            <a:endParaRPr sz="2400"/>
          </a:p>
          <a:p>
            <a:pPr indent="0" lvl="0" marL="0" rtl="0" algn="l">
              <a:spcBef>
                <a:spcPts val="0"/>
              </a:spcBef>
              <a:spcAft>
                <a:spcPts val="0"/>
              </a:spcAft>
              <a:buClr>
                <a:schemeClr val="dk1"/>
              </a:buClr>
              <a:buSzPts val="1100"/>
              <a:buFont typeface="Arial"/>
              <a:buNone/>
            </a:pPr>
            <a:r>
              <a:rPr lang="es" sz="2400"/>
              <a:t>Limpieza y estandarización.</a:t>
            </a:r>
            <a:endParaRPr sz="2400"/>
          </a:p>
          <a:p>
            <a:pPr indent="0" lvl="0" marL="0" rtl="0" algn="l">
              <a:spcBef>
                <a:spcPts val="0"/>
              </a:spcBef>
              <a:spcAft>
                <a:spcPts val="0"/>
              </a:spcAft>
              <a:buClr>
                <a:schemeClr val="dk1"/>
              </a:buClr>
              <a:buSzPts val="1100"/>
              <a:buFont typeface="Arial"/>
              <a:buNone/>
            </a:pPr>
            <a:r>
              <a:t/>
            </a:r>
            <a:endParaRPr sz="2400"/>
          </a:p>
          <a:p>
            <a:pPr indent="0" lvl="0" marL="0" rtl="0" algn="l">
              <a:spcBef>
                <a:spcPts val="0"/>
              </a:spcBef>
              <a:spcAft>
                <a:spcPts val="0"/>
              </a:spcAft>
              <a:buClr>
                <a:schemeClr val="dk1"/>
              </a:buClr>
              <a:buSzPts val="1100"/>
              <a:buFont typeface="Arial"/>
              <a:buNone/>
            </a:pPr>
            <a:r>
              <a:rPr lang="es" sz="2400"/>
              <a:t>Construcción de embeddings multimodales.</a:t>
            </a:r>
            <a:endParaRPr sz="2400"/>
          </a:p>
          <a:p>
            <a:pPr indent="0" lvl="0" marL="0" rtl="0" algn="l">
              <a:spcBef>
                <a:spcPts val="0"/>
              </a:spcBef>
              <a:spcAft>
                <a:spcPts val="0"/>
              </a:spcAft>
              <a:buClr>
                <a:schemeClr val="dk1"/>
              </a:buClr>
              <a:buSzPts val="1100"/>
              <a:buFont typeface="Arial"/>
              <a:buNone/>
            </a:pPr>
            <a:r>
              <a:t/>
            </a:r>
            <a:endParaRPr sz="2400"/>
          </a:p>
          <a:p>
            <a:pPr indent="0" lvl="0" marL="0" rtl="0" algn="l">
              <a:spcBef>
                <a:spcPts val="0"/>
              </a:spcBef>
              <a:spcAft>
                <a:spcPts val="0"/>
              </a:spcAft>
              <a:buClr>
                <a:schemeClr val="dk1"/>
              </a:buClr>
              <a:buSzPts val="1100"/>
              <a:buFont typeface="Arial"/>
              <a:buNone/>
            </a:pPr>
            <a:r>
              <a:rPr lang="es" sz="2400"/>
              <a:t>Entrenamiento de modelos y diseño de la arquitectura de recomendación."</a:t>
            </a:r>
            <a:endParaRPr sz="2400"/>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3a3bb7d03df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3a3bb7d03df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2400"/>
              <a:t>120 Seg.</a:t>
            </a:r>
            <a:endParaRPr sz="2400"/>
          </a:p>
          <a:p>
            <a:pPr indent="0" lvl="0" marL="0" rtl="0" algn="l">
              <a:spcBef>
                <a:spcPts val="0"/>
              </a:spcBef>
              <a:spcAft>
                <a:spcPts val="0"/>
              </a:spcAft>
              <a:buClr>
                <a:schemeClr val="dk1"/>
              </a:buClr>
              <a:buSzPts val="1100"/>
              <a:buFont typeface="Arial"/>
              <a:buNone/>
            </a:pPr>
            <a:r>
              <a:rPr lang="es" sz="2400">
                <a:solidFill>
                  <a:schemeClr val="dk1"/>
                </a:solidFill>
              </a:rPr>
              <a:t>"Los datos fueron provistos por Style Designer, una startup que trabaja la </a:t>
            </a:r>
            <a:r>
              <a:rPr lang="es" sz="2400">
                <a:solidFill>
                  <a:schemeClr val="dk1"/>
                </a:solidFill>
              </a:rPr>
              <a:t>problemática</a:t>
            </a:r>
            <a:r>
              <a:rPr lang="es" sz="2400">
                <a:solidFill>
                  <a:schemeClr val="dk1"/>
                </a:solidFill>
              </a:rPr>
              <a:t> de </a:t>
            </a:r>
            <a:r>
              <a:rPr lang="es" sz="2400">
                <a:solidFill>
                  <a:schemeClr val="dk1"/>
                </a:solidFill>
              </a:rPr>
              <a:t>búsqueda</a:t>
            </a:r>
            <a:r>
              <a:rPr lang="es" sz="2400">
                <a:solidFill>
                  <a:schemeClr val="dk1"/>
                </a:solidFill>
              </a:rPr>
              <a:t> de prendas."</a:t>
            </a:r>
            <a:endParaRPr sz="2400">
              <a:solidFill>
                <a:schemeClr val="dk1"/>
              </a:solidFill>
            </a:endParaRPr>
          </a:p>
          <a:p>
            <a:pPr indent="0" lvl="0" marL="0" rtl="0" algn="l">
              <a:spcBef>
                <a:spcPts val="0"/>
              </a:spcBef>
              <a:spcAft>
                <a:spcPts val="0"/>
              </a:spcAft>
              <a:buClr>
                <a:schemeClr val="dk1"/>
              </a:buClr>
              <a:buSzPts val="1100"/>
              <a:buFont typeface="Arial"/>
              <a:buNone/>
            </a:pPr>
            <a:r>
              <a:t/>
            </a:r>
            <a:endParaRPr sz="2400">
              <a:solidFill>
                <a:schemeClr val="dk1"/>
              </a:solidFill>
            </a:endParaRPr>
          </a:p>
          <a:p>
            <a:pPr indent="0" lvl="0" marL="0" rtl="0" algn="l">
              <a:spcBef>
                <a:spcPts val="0"/>
              </a:spcBef>
              <a:spcAft>
                <a:spcPts val="0"/>
              </a:spcAft>
              <a:buClr>
                <a:schemeClr val="dk1"/>
              </a:buClr>
              <a:buSzPts val="1100"/>
              <a:buFont typeface="Arial"/>
              <a:buNone/>
            </a:pPr>
            <a:r>
              <a:rPr lang="es" sz="2400">
                <a:solidFill>
                  <a:schemeClr val="dk1"/>
                </a:solidFill>
              </a:rPr>
              <a:t>[Señalar gráficos]</a:t>
            </a:r>
            <a:endParaRPr sz="2400">
              <a:solidFill>
                <a:schemeClr val="dk1"/>
              </a:solidFill>
            </a:endParaRPr>
          </a:p>
          <a:p>
            <a:pPr indent="0" lvl="0" marL="0" rtl="0" algn="l">
              <a:spcBef>
                <a:spcPts val="0"/>
              </a:spcBef>
              <a:spcAft>
                <a:spcPts val="0"/>
              </a:spcAft>
              <a:buClr>
                <a:schemeClr val="dk1"/>
              </a:buClr>
              <a:buSzPts val="1100"/>
              <a:buFont typeface="Arial"/>
              <a:buNone/>
            </a:pPr>
            <a:r>
              <a:t/>
            </a:r>
            <a:endParaRPr sz="2400">
              <a:solidFill>
                <a:schemeClr val="dk1"/>
              </a:solidFill>
            </a:endParaRPr>
          </a:p>
          <a:p>
            <a:pPr indent="0" lvl="0" marL="0" rtl="0" algn="l">
              <a:spcBef>
                <a:spcPts val="0"/>
              </a:spcBef>
              <a:spcAft>
                <a:spcPts val="0"/>
              </a:spcAft>
              <a:buClr>
                <a:schemeClr val="dk1"/>
              </a:buClr>
              <a:buSzPts val="1100"/>
              <a:buFont typeface="Arial"/>
              <a:buNone/>
            </a:pPr>
            <a:r>
              <a:rPr lang="es" sz="2400">
                <a:solidFill>
                  <a:schemeClr val="dk1"/>
                </a:solidFill>
              </a:rPr>
              <a:t>"Estos datos presentaron cuatro desafíos críticos de calidad:"</a:t>
            </a:r>
            <a:endParaRPr sz="2400">
              <a:solidFill>
                <a:schemeClr val="dk1"/>
              </a:solidFill>
            </a:endParaRPr>
          </a:p>
          <a:p>
            <a:pPr indent="0" lvl="0" marL="0" rtl="0" algn="l">
              <a:spcBef>
                <a:spcPts val="0"/>
              </a:spcBef>
              <a:spcAft>
                <a:spcPts val="0"/>
              </a:spcAft>
              <a:buClr>
                <a:schemeClr val="dk1"/>
              </a:buClr>
              <a:buSzPts val="1100"/>
              <a:buFont typeface="Arial"/>
              <a:buNone/>
            </a:pPr>
            <a:r>
              <a:t/>
            </a:r>
            <a:endParaRPr sz="2400">
              <a:solidFill>
                <a:schemeClr val="dk1"/>
              </a:solidFill>
            </a:endParaRPr>
          </a:p>
          <a:p>
            <a:pPr indent="0" lvl="0" marL="0" rtl="0" algn="l">
              <a:spcBef>
                <a:spcPts val="0"/>
              </a:spcBef>
              <a:spcAft>
                <a:spcPts val="0"/>
              </a:spcAft>
              <a:buClr>
                <a:schemeClr val="dk1"/>
              </a:buClr>
              <a:buSzPts val="1100"/>
              <a:buFont typeface="Arial"/>
              <a:buNone/>
            </a:pPr>
            <a:r>
              <a:rPr lang="es" sz="2400">
                <a:solidFill>
                  <a:schemeClr val="dk1"/>
                </a:solidFill>
              </a:rPr>
              <a:t>"Primero, el género:"</a:t>
            </a:r>
            <a:endParaRPr sz="2400">
              <a:solidFill>
                <a:schemeClr val="dk1"/>
              </a:solidFill>
            </a:endParaRPr>
          </a:p>
          <a:p>
            <a:pPr indent="0" lvl="0" marL="0" rtl="0" algn="l">
              <a:spcBef>
                <a:spcPts val="0"/>
              </a:spcBef>
              <a:spcAft>
                <a:spcPts val="0"/>
              </a:spcAft>
              <a:buClr>
                <a:schemeClr val="dk1"/>
              </a:buClr>
              <a:buSzPts val="1100"/>
              <a:buFont typeface="Arial"/>
              <a:buNone/>
            </a:pPr>
            <a:r>
              <a:t/>
            </a:r>
            <a:endParaRPr sz="2400">
              <a:solidFill>
                <a:schemeClr val="dk1"/>
              </a:solidFill>
            </a:endParaRPr>
          </a:p>
          <a:p>
            <a:pPr indent="0" lvl="0" marL="0" rtl="0" algn="l">
              <a:spcBef>
                <a:spcPts val="0"/>
              </a:spcBef>
              <a:spcAft>
                <a:spcPts val="0"/>
              </a:spcAft>
              <a:buClr>
                <a:schemeClr val="dk1"/>
              </a:buClr>
              <a:buSzPts val="1100"/>
              <a:buFont typeface="Arial"/>
              <a:buNone/>
            </a:pPr>
            <a:r>
              <a:rPr lang="es" sz="2400">
                <a:solidFill>
                  <a:schemeClr val="dk1"/>
                </a:solidFill>
              </a:rPr>
              <a:t>"Encontramos múltiples formas de expresar los mismos conceptos: 'mujer', 'dama', 'femenino' para un mismo género. Además, valores ambiguos como 'unisex-adultos' o directamente faltantes que dificultaban la clasificación automática."</a:t>
            </a:r>
            <a:endParaRPr sz="2400">
              <a:solidFill>
                <a:schemeClr val="dk1"/>
              </a:solidFill>
            </a:endParaRPr>
          </a:p>
          <a:p>
            <a:pPr indent="0" lvl="0" marL="0" rtl="0" algn="l">
              <a:spcBef>
                <a:spcPts val="0"/>
              </a:spcBef>
              <a:spcAft>
                <a:spcPts val="0"/>
              </a:spcAft>
              <a:buClr>
                <a:schemeClr val="dk1"/>
              </a:buClr>
              <a:buSzPts val="1100"/>
              <a:buFont typeface="Arial"/>
              <a:buNone/>
            </a:pPr>
            <a:r>
              <a:t/>
            </a:r>
            <a:endParaRPr sz="2400">
              <a:solidFill>
                <a:schemeClr val="dk1"/>
              </a:solidFill>
            </a:endParaRPr>
          </a:p>
          <a:p>
            <a:pPr indent="0" lvl="0" marL="0" rtl="0" algn="l">
              <a:spcBef>
                <a:spcPts val="0"/>
              </a:spcBef>
              <a:spcAft>
                <a:spcPts val="0"/>
              </a:spcAft>
              <a:buClr>
                <a:schemeClr val="dk1"/>
              </a:buClr>
              <a:buSzPts val="1100"/>
              <a:buFont typeface="Arial"/>
              <a:buNone/>
            </a:pPr>
            <a:r>
              <a:rPr lang="es" sz="2400">
                <a:solidFill>
                  <a:schemeClr val="dk1"/>
                </a:solidFill>
              </a:rPr>
              <a:t>"Segundo, las categorías:"</a:t>
            </a:r>
            <a:endParaRPr sz="2400">
              <a:solidFill>
                <a:schemeClr val="dk1"/>
              </a:solidFill>
            </a:endParaRPr>
          </a:p>
          <a:p>
            <a:pPr indent="0" lvl="0" marL="0" rtl="0" algn="l">
              <a:spcBef>
                <a:spcPts val="0"/>
              </a:spcBef>
              <a:spcAft>
                <a:spcPts val="0"/>
              </a:spcAft>
              <a:buClr>
                <a:schemeClr val="dk1"/>
              </a:buClr>
              <a:buSzPts val="1100"/>
              <a:buFont typeface="Arial"/>
              <a:buNone/>
            </a:pPr>
            <a:r>
              <a:t/>
            </a:r>
            <a:endParaRPr sz="2400">
              <a:solidFill>
                <a:schemeClr val="dk1"/>
              </a:solidFill>
            </a:endParaRPr>
          </a:p>
          <a:p>
            <a:pPr indent="0" lvl="0" marL="0" rtl="0" algn="l">
              <a:spcBef>
                <a:spcPts val="0"/>
              </a:spcBef>
              <a:spcAft>
                <a:spcPts val="0"/>
              </a:spcAft>
              <a:buClr>
                <a:schemeClr val="dk1"/>
              </a:buClr>
              <a:buSzPts val="1100"/>
              <a:buFont typeface="Arial"/>
              <a:buNone/>
            </a:pPr>
            <a:r>
              <a:rPr lang="es" sz="2400">
                <a:solidFill>
                  <a:schemeClr val="dk1"/>
                </a:solidFill>
              </a:rPr>
              <a:t>"</a:t>
            </a:r>
            <a:r>
              <a:rPr lang="es" sz="2400">
                <a:solidFill>
                  <a:schemeClr val="dk1"/>
                </a:solidFill>
              </a:rPr>
              <a:t>Esta nube de palabras muestra la fragmentación: 'remera', 'remeras', 'camisetas', 'tops', 'musculosas'... todas refiriéndose al mismo tipo de prenda pero con nombres distintos según cada tienda.</a:t>
            </a:r>
            <a:r>
              <a:rPr lang="es" sz="2400">
                <a:solidFill>
                  <a:schemeClr val="dk1"/>
                </a:solidFill>
              </a:rPr>
              <a:t>"</a:t>
            </a:r>
            <a:endParaRPr sz="2400">
              <a:solidFill>
                <a:schemeClr val="dk1"/>
              </a:solidFill>
            </a:endParaRPr>
          </a:p>
          <a:p>
            <a:pPr indent="0" lvl="0" marL="0" rtl="0" algn="l">
              <a:spcBef>
                <a:spcPts val="0"/>
              </a:spcBef>
              <a:spcAft>
                <a:spcPts val="0"/>
              </a:spcAft>
              <a:buClr>
                <a:schemeClr val="dk1"/>
              </a:buClr>
              <a:buSzPts val="1100"/>
              <a:buFont typeface="Arial"/>
              <a:buNone/>
            </a:pPr>
            <a:r>
              <a:t/>
            </a:r>
            <a:endParaRPr sz="2400">
              <a:solidFill>
                <a:schemeClr val="dk1"/>
              </a:solidFill>
            </a:endParaRPr>
          </a:p>
          <a:p>
            <a:pPr indent="0" lvl="0" marL="0" rtl="0" algn="l">
              <a:spcBef>
                <a:spcPts val="0"/>
              </a:spcBef>
              <a:spcAft>
                <a:spcPts val="0"/>
              </a:spcAft>
              <a:buClr>
                <a:schemeClr val="dk1"/>
              </a:buClr>
              <a:buSzPts val="1100"/>
              <a:buFont typeface="Arial"/>
              <a:buNone/>
            </a:pPr>
            <a:r>
              <a:rPr lang="es" sz="2400">
                <a:solidFill>
                  <a:schemeClr val="dk1"/>
                </a:solidFill>
              </a:rPr>
              <a:t>"Tercero, los colores:"</a:t>
            </a:r>
            <a:endParaRPr sz="2400">
              <a:solidFill>
                <a:schemeClr val="dk1"/>
              </a:solidFill>
            </a:endParaRPr>
          </a:p>
          <a:p>
            <a:pPr indent="0" lvl="0" marL="0" rtl="0" algn="l">
              <a:spcBef>
                <a:spcPts val="0"/>
              </a:spcBef>
              <a:spcAft>
                <a:spcPts val="0"/>
              </a:spcAft>
              <a:buClr>
                <a:schemeClr val="dk1"/>
              </a:buClr>
              <a:buSzPts val="1100"/>
              <a:buFont typeface="Arial"/>
              <a:buNone/>
            </a:pPr>
            <a:r>
              <a:t/>
            </a:r>
            <a:endParaRPr sz="2400">
              <a:solidFill>
                <a:schemeClr val="dk1"/>
              </a:solidFill>
            </a:endParaRPr>
          </a:p>
          <a:p>
            <a:pPr indent="0" lvl="0" marL="0" rtl="0" algn="l">
              <a:spcBef>
                <a:spcPts val="0"/>
              </a:spcBef>
              <a:spcAft>
                <a:spcPts val="0"/>
              </a:spcAft>
              <a:buClr>
                <a:schemeClr val="dk1"/>
              </a:buClr>
              <a:buSzPts val="1100"/>
              <a:buFont typeface="Arial"/>
              <a:buNone/>
            </a:pPr>
            <a:r>
              <a:rPr lang="es" sz="2400">
                <a:solidFill>
                  <a:schemeClr val="dk1"/>
                </a:solidFill>
              </a:rPr>
              <a:t>"Presentan etiquetas completamente inconsistentes: nombres en español e inglés mezclados, códigos hexadecimales, URLs apuntando a imágenes de texturas, y descripciones vagas como 'multicolor' o 'estampado'. Por esta razón, la predicción de colores fue excluida del alcance del proyecto."</a:t>
            </a:r>
            <a:endParaRPr sz="2400">
              <a:solidFill>
                <a:schemeClr val="dk1"/>
              </a:solidFill>
            </a:endParaRPr>
          </a:p>
          <a:p>
            <a:pPr indent="0" lvl="0" marL="0" rtl="0" algn="l">
              <a:spcBef>
                <a:spcPts val="0"/>
              </a:spcBef>
              <a:spcAft>
                <a:spcPts val="0"/>
              </a:spcAft>
              <a:buClr>
                <a:schemeClr val="dk1"/>
              </a:buClr>
              <a:buSzPts val="1100"/>
              <a:buFont typeface="Arial"/>
              <a:buNone/>
            </a:pPr>
            <a:r>
              <a:t/>
            </a:r>
            <a:endParaRPr sz="2400">
              <a:solidFill>
                <a:schemeClr val="dk1"/>
              </a:solidFill>
            </a:endParaRPr>
          </a:p>
          <a:p>
            <a:pPr indent="0" lvl="0" marL="0" rtl="0" algn="l">
              <a:spcBef>
                <a:spcPts val="0"/>
              </a:spcBef>
              <a:spcAft>
                <a:spcPts val="0"/>
              </a:spcAft>
              <a:buClr>
                <a:schemeClr val="dk1"/>
              </a:buClr>
              <a:buSzPts val="1100"/>
              <a:buFont typeface="Arial"/>
              <a:buNone/>
            </a:pPr>
            <a:r>
              <a:rPr lang="es" sz="2400">
                <a:solidFill>
                  <a:schemeClr val="dk1"/>
                </a:solidFill>
              </a:rPr>
              <a:t>"Y cuarto, productos fuera de alcance:"</a:t>
            </a:r>
            <a:endParaRPr sz="2400">
              <a:solidFill>
                <a:schemeClr val="dk1"/>
              </a:solidFill>
            </a:endParaRPr>
          </a:p>
          <a:p>
            <a:pPr indent="0" lvl="0" marL="0" rtl="0" algn="l">
              <a:spcBef>
                <a:spcPts val="0"/>
              </a:spcBef>
              <a:spcAft>
                <a:spcPts val="0"/>
              </a:spcAft>
              <a:buClr>
                <a:schemeClr val="dk1"/>
              </a:buClr>
              <a:buSzPts val="1100"/>
              <a:buFont typeface="Arial"/>
              <a:buNone/>
            </a:pPr>
            <a:r>
              <a:t/>
            </a:r>
            <a:endParaRPr sz="2400">
              <a:solidFill>
                <a:schemeClr val="dk1"/>
              </a:solidFill>
            </a:endParaRPr>
          </a:p>
          <a:p>
            <a:pPr indent="0" lvl="0" marL="0" rtl="0" algn="l">
              <a:spcBef>
                <a:spcPts val="0"/>
              </a:spcBef>
              <a:spcAft>
                <a:spcPts val="0"/>
              </a:spcAft>
              <a:buNone/>
            </a:pPr>
            <a:r>
              <a:rPr lang="es" sz="2400">
                <a:solidFill>
                  <a:schemeClr val="dk1"/>
                </a:solidFill>
              </a:rPr>
              <a:t>"El scraping capturó artículos que no son prendas de vestir. Todo esto requirió diseñar un pipeline robusto de limpieza y normalización."</a:t>
            </a:r>
            <a:endParaRPr sz="2400">
              <a:solidFill>
                <a:schemeClr val="dk1"/>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a3bb7d03df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3a3bb7d03df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2400"/>
              <a:t>120 Seg.</a:t>
            </a:r>
            <a:endParaRPr sz="2400"/>
          </a:p>
          <a:p>
            <a:pPr indent="0" lvl="0" marL="0" rtl="0" algn="l">
              <a:spcBef>
                <a:spcPts val="0"/>
              </a:spcBef>
              <a:spcAft>
                <a:spcPts val="0"/>
              </a:spcAft>
              <a:buNone/>
            </a:pPr>
            <a:r>
              <a:rPr lang="es" sz="2400"/>
              <a:t>"El proceso de limpieza tuvo varias etapas claramente diferenciadas.</a:t>
            </a:r>
            <a:endParaRPr sz="2400"/>
          </a:p>
          <a:p>
            <a:pPr indent="0" lvl="0" marL="0" rtl="0" algn="l">
              <a:spcBef>
                <a:spcPts val="0"/>
              </a:spcBef>
              <a:spcAft>
                <a:spcPts val="0"/>
              </a:spcAft>
              <a:buNone/>
            </a:pPr>
            <a:r>
              <a:t/>
            </a:r>
            <a:endParaRPr sz="2400"/>
          </a:p>
          <a:p>
            <a:pPr indent="0" lvl="0" marL="0" rtl="0" algn="l">
              <a:spcBef>
                <a:spcPts val="0"/>
              </a:spcBef>
              <a:spcAft>
                <a:spcPts val="0"/>
              </a:spcAft>
              <a:buNone/>
            </a:pPr>
            <a:r>
              <a:rPr lang="es" sz="2400"/>
              <a:t>Primero, unificamos las cuatro tablas originales, mediante joins relacionales por product_id. Esto nos dio el dataset consolidado de 16,660 productos.</a:t>
            </a:r>
            <a:endParaRPr sz="2400"/>
          </a:p>
          <a:p>
            <a:pPr indent="0" lvl="0" marL="0" rtl="0" algn="l">
              <a:spcBef>
                <a:spcPts val="0"/>
              </a:spcBef>
              <a:spcAft>
                <a:spcPts val="0"/>
              </a:spcAft>
              <a:buNone/>
            </a:pPr>
            <a:r>
              <a:t/>
            </a:r>
            <a:endParaRPr sz="2400"/>
          </a:p>
          <a:p>
            <a:pPr indent="0" lvl="0" marL="0" rtl="0" algn="l">
              <a:spcBef>
                <a:spcPts val="0"/>
              </a:spcBef>
              <a:spcAft>
                <a:spcPts val="0"/>
              </a:spcAft>
              <a:buNone/>
            </a:pPr>
            <a:r>
              <a:rPr lang="es" sz="2400"/>
              <a:t>Luego, definí una taxonomía global con dos niveles: Por un lado, </a:t>
            </a:r>
            <a:r>
              <a:rPr lang="es" sz="2400"/>
              <a:t>estandarice</a:t>
            </a:r>
            <a:r>
              <a:rPr lang="es" sz="2400"/>
              <a:t> 32 variantes de género a solo 6 clases</a:t>
            </a:r>
            <a:r>
              <a:rPr lang="es" sz="1600"/>
              <a:t>.</a:t>
            </a:r>
            <a:r>
              <a:rPr lang="es" sz="2400"/>
              <a:t> Por otro lado, reduje 257 categorías originales</a:t>
            </a:r>
            <a:r>
              <a:rPr lang="es" sz="1600"/>
              <a:t>  </a:t>
            </a:r>
            <a:r>
              <a:rPr lang="es" sz="2400"/>
              <a:t> a 31 categorías globales.</a:t>
            </a:r>
            <a:endParaRPr sz="2400"/>
          </a:p>
          <a:p>
            <a:pPr indent="0" lvl="0" marL="0" rtl="0" algn="l">
              <a:spcBef>
                <a:spcPts val="0"/>
              </a:spcBef>
              <a:spcAft>
                <a:spcPts val="0"/>
              </a:spcAft>
              <a:buNone/>
            </a:pPr>
            <a:r>
              <a:t/>
            </a:r>
            <a:endParaRPr sz="2400"/>
          </a:p>
          <a:p>
            <a:pPr indent="0" lvl="0" marL="0" rtl="0" algn="l">
              <a:spcBef>
                <a:spcPts val="0"/>
              </a:spcBef>
              <a:spcAft>
                <a:spcPts val="0"/>
              </a:spcAft>
              <a:buNone/>
            </a:pPr>
            <a:r>
              <a:rPr lang="es" sz="2400"/>
              <a:t>Para la clasificación automática probé dos enfoques diferentes:</a:t>
            </a:r>
            <a:endParaRPr sz="2400"/>
          </a:p>
          <a:p>
            <a:pPr indent="0" lvl="0" marL="0" rtl="0" algn="l">
              <a:spcBef>
                <a:spcPts val="0"/>
              </a:spcBef>
              <a:spcAft>
                <a:spcPts val="0"/>
              </a:spcAft>
              <a:buNone/>
            </a:pPr>
            <a:r>
              <a:t/>
            </a:r>
            <a:endParaRPr sz="2400"/>
          </a:p>
          <a:p>
            <a:pPr indent="0" lvl="0" marL="0" rtl="0" algn="l">
              <a:spcBef>
                <a:spcPts val="0"/>
              </a:spcBef>
              <a:spcAft>
                <a:spcPts val="0"/>
              </a:spcAft>
              <a:buNone/>
            </a:pPr>
            <a:r>
              <a:rPr lang="es" sz="2400"/>
              <a:t>Primero, el modelo open-source facebook/bart-large-mnli. Que no detectaba correctamente la categoría o el género de la prenda.</a:t>
            </a:r>
            <a:endParaRPr sz="2400"/>
          </a:p>
          <a:p>
            <a:pPr indent="0" lvl="0" marL="0" rtl="0" algn="l">
              <a:spcBef>
                <a:spcPts val="0"/>
              </a:spcBef>
              <a:spcAft>
                <a:spcPts val="0"/>
              </a:spcAft>
              <a:buNone/>
            </a:pPr>
            <a:r>
              <a:t/>
            </a:r>
            <a:endParaRPr sz="2400"/>
          </a:p>
          <a:p>
            <a:pPr indent="0" lvl="0" marL="0" rtl="0" algn="l">
              <a:spcBef>
                <a:spcPts val="0"/>
              </a:spcBef>
              <a:spcAft>
                <a:spcPts val="0"/>
              </a:spcAft>
              <a:buNone/>
            </a:pPr>
            <a:r>
              <a:rPr lang="es" sz="2400"/>
              <a:t>Segundo, decidí usar Azure OpenAI GPT-4o-mini con prompts específicos. Aquí el input fue la concatenación de: nombre de categoría de la tienda + nombre del producto + descripción + sexo original + URL del producto. Generé un prompt especializado que actuaba como experto en moda, restringiendo las opciones a las 6 clases de género y 31 categorías predefinidas. Con temperatura 0.0 para garantizar determinismo</a:t>
            </a:r>
            <a:r>
              <a:rPr lang="es" sz="1600"/>
              <a:t>.</a:t>
            </a:r>
            <a:endParaRPr sz="1600"/>
          </a:p>
          <a:p>
            <a:pPr indent="0" lvl="0" marL="0" rtl="0" algn="l">
              <a:spcBef>
                <a:spcPts val="0"/>
              </a:spcBef>
              <a:spcAft>
                <a:spcPts val="0"/>
              </a:spcAft>
              <a:buNone/>
            </a:pPr>
            <a:r>
              <a:t/>
            </a:r>
            <a:endParaRPr sz="1600"/>
          </a:p>
          <a:p>
            <a:pPr indent="0" lvl="0" marL="0" rtl="0" algn="l">
              <a:spcBef>
                <a:spcPts val="0"/>
              </a:spcBef>
              <a:spcAft>
                <a:spcPts val="0"/>
              </a:spcAft>
              <a:buNone/>
            </a:pPr>
            <a:r>
              <a:rPr lang="es" sz="2400"/>
              <a:t>La validación fue tomar artículos aleatorios para verificar que efectivamente se haya establecido la categoría adecuada.</a:t>
            </a:r>
            <a:endParaRPr sz="2400"/>
          </a:p>
          <a:p>
            <a:pPr indent="0" lvl="0" marL="0" rtl="0" algn="l">
              <a:spcBef>
                <a:spcPts val="0"/>
              </a:spcBef>
              <a:spcAft>
                <a:spcPts val="0"/>
              </a:spcAft>
              <a:buNone/>
            </a:pPr>
            <a:r>
              <a:t/>
            </a:r>
            <a:endParaRPr sz="2400"/>
          </a:p>
          <a:p>
            <a:pPr indent="0" lvl="0" marL="0" rtl="0" algn="l">
              <a:spcBef>
                <a:spcPts val="0"/>
              </a:spcBef>
              <a:spcAft>
                <a:spcPts val="0"/>
              </a:spcAft>
              <a:buNone/>
            </a:pPr>
            <a:r>
              <a:rPr lang="es" sz="2400"/>
              <a:t>La decisión final fue clara: </a:t>
            </a:r>
            <a:r>
              <a:rPr lang="es" sz="1600"/>
              <a:t>descartar BAR, y </a:t>
            </a:r>
            <a:r>
              <a:rPr lang="es" sz="2400"/>
              <a:t>adoptar GPT-4o-mini como estándar para clasificación. El sistema unificado final quedó con 764 productos con taxonomía global consistente."</a:t>
            </a:r>
            <a:endParaRPr sz="2400"/>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865867f9cc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3865867f9cc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2400"/>
              <a:t>3</a:t>
            </a:r>
            <a:r>
              <a:rPr lang="es" sz="2400"/>
              <a:t>0 Seg.</a:t>
            </a:r>
            <a:endParaRPr sz="2400"/>
          </a:p>
          <a:p>
            <a:pPr indent="0" lvl="0" marL="0" rtl="0" algn="l">
              <a:spcBef>
                <a:spcPts val="0"/>
              </a:spcBef>
              <a:spcAft>
                <a:spcPts val="0"/>
              </a:spcAft>
              <a:buNone/>
            </a:pPr>
            <a:r>
              <a:rPr lang="es" sz="2400"/>
              <a:t>"En estos gráficos podemos apreciar el resultado del pipeline anterior para la clasificación y el género con el promt utilizado"</a:t>
            </a:r>
            <a:endParaRPr sz="2400"/>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a3bb7d03df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3a3bb7d03df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2400"/>
              <a:t>120 Seg.</a:t>
            </a:r>
            <a:endParaRPr sz="2400"/>
          </a:p>
          <a:p>
            <a:pPr indent="0" lvl="0" marL="0" rtl="0" algn="l">
              <a:spcBef>
                <a:spcPts val="0"/>
              </a:spcBef>
              <a:spcAft>
                <a:spcPts val="0"/>
              </a:spcAft>
              <a:buClr>
                <a:schemeClr val="dk1"/>
              </a:buClr>
              <a:buSzPts val="1100"/>
              <a:buFont typeface="Arial"/>
              <a:buNone/>
            </a:pPr>
            <a:r>
              <a:rPr lang="es" sz="2400"/>
              <a:t>"Para la representación vectorial, usé OpenFashion CLIP, un modelo especializado en moda entrenado sobre millones de imágenes y descripciones de productos fashion."</a:t>
            </a:r>
            <a:endParaRPr sz="2400"/>
          </a:p>
          <a:p>
            <a:pPr indent="0" lvl="0" marL="0" rtl="0" algn="l">
              <a:spcBef>
                <a:spcPts val="0"/>
              </a:spcBef>
              <a:spcAft>
                <a:spcPts val="0"/>
              </a:spcAft>
              <a:buClr>
                <a:schemeClr val="dk1"/>
              </a:buClr>
              <a:buSzPts val="1100"/>
              <a:buFont typeface="Arial"/>
              <a:buNone/>
            </a:pPr>
            <a:r>
              <a:t/>
            </a:r>
            <a:endParaRPr sz="2400"/>
          </a:p>
          <a:p>
            <a:pPr indent="0" lvl="0" marL="0" rtl="0" algn="l">
              <a:spcBef>
                <a:spcPts val="0"/>
              </a:spcBef>
              <a:spcAft>
                <a:spcPts val="0"/>
              </a:spcAft>
              <a:buClr>
                <a:schemeClr val="dk1"/>
              </a:buClr>
              <a:buSzPts val="1100"/>
              <a:buFont typeface="Arial"/>
              <a:buNone/>
            </a:pPr>
            <a:r>
              <a:rPr lang="es" sz="2400"/>
              <a:t>"Para cada producto, generé tres embeddings de 512 dimensiones:"</a:t>
            </a:r>
            <a:endParaRPr sz="2400"/>
          </a:p>
          <a:p>
            <a:pPr indent="0" lvl="0" marL="0" rtl="0" algn="l">
              <a:spcBef>
                <a:spcPts val="0"/>
              </a:spcBef>
              <a:spcAft>
                <a:spcPts val="0"/>
              </a:spcAft>
              <a:buClr>
                <a:schemeClr val="dk1"/>
              </a:buClr>
              <a:buSzPts val="1100"/>
              <a:buFont typeface="Arial"/>
              <a:buNone/>
            </a:pPr>
            <a:r>
              <a:t/>
            </a:r>
            <a:endParaRPr sz="2400"/>
          </a:p>
          <a:p>
            <a:pPr indent="0" lvl="0" marL="0" rtl="0" algn="l">
              <a:spcBef>
                <a:spcPts val="0"/>
              </a:spcBef>
              <a:spcAft>
                <a:spcPts val="0"/>
              </a:spcAft>
              <a:buClr>
                <a:schemeClr val="dk1"/>
              </a:buClr>
              <a:buSzPts val="1100"/>
              <a:buFont typeface="Arial"/>
              <a:buNone/>
            </a:pPr>
            <a:r>
              <a:rPr lang="es" sz="2400"/>
              <a:t>"Primero, embedding de texto en español: a partir de un JSON alojado en PostgreSQL con nombre, colores, descripción, categoría y género (estos dos últimos clasificados previamente), generé el texto descriptivo plano y luego el embedding."</a:t>
            </a:r>
            <a:endParaRPr sz="2400"/>
          </a:p>
          <a:p>
            <a:pPr indent="0" lvl="0" marL="0" rtl="0" algn="l">
              <a:spcBef>
                <a:spcPts val="0"/>
              </a:spcBef>
              <a:spcAft>
                <a:spcPts val="0"/>
              </a:spcAft>
              <a:buClr>
                <a:schemeClr val="dk1"/>
              </a:buClr>
              <a:buSzPts val="1100"/>
              <a:buFont typeface="Arial"/>
              <a:buNone/>
            </a:pPr>
            <a:r>
              <a:t/>
            </a:r>
            <a:endParaRPr sz="2400"/>
          </a:p>
          <a:p>
            <a:pPr indent="0" lvl="0" marL="0" rtl="0" algn="l">
              <a:spcBef>
                <a:spcPts val="0"/>
              </a:spcBef>
              <a:spcAft>
                <a:spcPts val="0"/>
              </a:spcAft>
              <a:buClr>
                <a:schemeClr val="dk1"/>
              </a:buClr>
              <a:buSzPts val="1100"/>
              <a:buFont typeface="Arial"/>
              <a:buNone/>
            </a:pPr>
            <a:r>
              <a:rPr lang="es" sz="2400"/>
              <a:t>"Segundo, embedding de texto en inglés: mediante la traducción del JSON completo con GoogleTranslator, que convierte el contenido a texto descriptivo en inglés y posteriormente generar el embedding.</a:t>
            </a:r>
            <a:endParaRPr sz="2400"/>
          </a:p>
          <a:p>
            <a:pPr indent="0" lvl="0" marL="0" rtl="0" algn="l">
              <a:spcBef>
                <a:spcPts val="0"/>
              </a:spcBef>
              <a:spcAft>
                <a:spcPts val="0"/>
              </a:spcAft>
              <a:buClr>
                <a:schemeClr val="dk1"/>
              </a:buClr>
              <a:buSzPts val="1100"/>
              <a:buFont typeface="Arial"/>
              <a:buNone/>
            </a:pPr>
            <a:r>
              <a:t/>
            </a:r>
            <a:endParaRPr sz="2400"/>
          </a:p>
          <a:p>
            <a:pPr indent="0" lvl="0" marL="0" rtl="0" algn="l">
              <a:spcBef>
                <a:spcPts val="0"/>
              </a:spcBef>
              <a:spcAft>
                <a:spcPts val="0"/>
              </a:spcAft>
              <a:buClr>
                <a:schemeClr val="dk1"/>
              </a:buClr>
              <a:buSzPts val="1100"/>
              <a:buFont typeface="Arial"/>
              <a:buNone/>
            </a:pPr>
            <a:r>
              <a:rPr lang="es" sz="2400"/>
              <a:t>"Tercero, embedding de imagen: procesé directamente los bytes de la imagen redimensionada, codificada en Base64, y generé un embedding visual de 512 dimensiones."</a:t>
            </a:r>
            <a:endParaRPr sz="2400"/>
          </a:p>
          <a:p>
            <a:pPr indent="0" lvl="0" marL="0" rtl="0" algn="l">
              <a:spcBef>
                <a:spcPts val="0"/>
              </a:spcBef>
              <a:spcAft>
                <a:spcPts val="0"/>
              </a:spcAft>
              <a:buClr>
                <a:schemeClr val="dk1"/>
              </a:buClr>
              <a:buSzPts val="1100"/>
              <a:buFont typeface="Arial"/>
              <a:buNone/>
            </a:pPr>
            <a:r>
              <a:t/>
            </a:r>
            <a:endParaRPr sz="2400"/>
          </a:p>
          <a:p>
            <a:pPr indent="0" lvl="0" marL="0" rtl="0" algn="l">
              <a:spcBef>
                <a:spcPts val="0"/>
              </a:spcBef>
              <a:spcAft>
                <a:spcPts val="0"/>
              </a:spcAft>
              <a:buClr>
                <a:schemeClr val="dk1"/>
              </a:buClr>
              <a:buSzPts val="1100"/>
              <a:buFont typeface="Arial"/>
              <a:buNone/>
            </a:pPr>
            <a:r>
              <a:rPr lang="es" sz="2400"/>
              <a:t>"Almacenamiento: todos estos embeddings se almacenaron en PostgreSQL con la extensión pgvector, que permite búsquedas de similitud coseno eficientes mediante índices HNSW."</a:t>
            </a:r>
            <a:endParaRPr sz="2400"/>
          </a:p>
          <a:p>
            <a:pPr indent="0" lvl="0" marL="0" rtl="0" algn="l">
              <a:spcBef>
                <a:spcPts val="0"/>
              </a:spcBef>
              <a:spcAft>
                <a:spcPts val="0"/>
              </a:spcAft>
              <a:buClr>
                <a:schemeClr val="dk1"/>
              </a:buClr>
              <a:buSzPts val="1100"/>
              <a:buFont typeface="Arial"/>
              <a:buNone/>
            </a:pPr>
            <a:r>
              <a:t/>
            </a:r>
            <a:endParaRPr sz="2400"/>
          </a:p>
          <a:p>
            <a:pPr indent="0" lvl="0" marL="0" rtl="0" algn="l">
              <a:spcBef>
                <a:spcPts val="0"/>
              </a:spcBef>
              <a:spcAft>
                <a:spcPts val="0"/>
              </a:spcAft>
              <a:buNone/>
            </a:pPr>
            <a:r>
              <a:rPr lang="es" sz="2400"/>
              <a:t>"Clasificación con CatBoost: concatené los dos embeddings de texto —español más inglés—, resultando en un vector de 1024 dimensiones que captura información semántica bilingüe.</a:t>
            </a:r>
            <a:endParaRPr sz="2400"/>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a3bb7d03df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3a3bb7d03df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2400"/>
              <a:t>150 Seg.</a:t>
            </a:r>
            <a:endParaRPr sz="2400"/>
          </a:p>
          <a:p>
            <a:pPr indent="0" lvl="0" marL="0" rtl="0" algn="l">
              <a:spcBef>
                <a:spcPts val="0"/>
              </a:spcBef>
              <a:spcAft>
                <a:spcPts val="0"/>
              </a:spcAft>
              <a:buClr>
                <a:schemeClr val="dk1"/>
              </a:buClr>
              <a:buSzPts val="1100"/>
              <a:buFont typeface="Arial"/>
              <a:buNone/>
            </a:pPr>
            <a:r>
              <a:rPr lang="es" sz="2400"/>
              <a:t>"La clasificación se realizó con dos modelos CatBoost independientes: uno para categoría y otro para género."</a:t>
            </a:r>
            <a:endParaRPr sz="2400"/>
          </a:p>
          <a:p>
            <a:pPr indent="0" lvl="0" marL="0" rtl="0" algn="l">
              <a:spcBef>
                <a:spcPts val="0"/>
              </a:spcBef>
              <a:spcAft>
                <a:spcPts val="0"/>
              </a:spcAft>
              <a:buClr>
                <a:schemeClr val="dk1"/>
              </a:buClr>
              <a:buSzPts val="1100"/>
              <a:buFont typeface="Arial"/>
              <a:buNone/>
            </a:pPr>
            <a:r>
              <a:t/>
            </a:r>
            <a:endParaRPr sz="2400"/>
          </a:p>
          <a:p>
            <a:pPr indent="0" lvl="0" marL="0" rtl="0" algn="l">
              <a:spcBef>
                <a:spcPts val="0"/>
              </a:spcBef>
              <a:spcAft>
                <a:spcPts val="0"/>
              </a:spcAft>
              <a:buClr>
                <a:schemeClr val="dk1"/>
              </a:buClr>
              <a:buSzPts val="1100"/>
              <a:buFont typeface="Arial"/>
              <a:buNone/>
            </a:pPr>
            <a:r>
              <a:rPr lang="es" sz="2400"/>
              <a:t>"Para categoría, tras filtrar clases con menos de 5 productos, quedaron 23 clases desbalanceadas.</a:t>
            </a:r>
            <a:endParaRPr sz="2400"/>
          </a:p>
          <a:p>
            <a:pPr indent="0" lvl="0" marL="0" rtl="0" algn="l">
              <a:spcBef>
                <a:spcPts val="0"/>
              </a:spcBef>
              <a:spcAft>
                <a:spcPts val="0"/>
              </a:spcAft>
              <a:buClr>
                <a:schemeClr val="dk1"/>
              </a:buClr>
              <a:buSzPts val="1100"/>
              <a:buFont typeface="Arial"/>
              <a:buNone/>
            </a:pPr>
            <a:r>
              <a:t/>
            </a:r>
            <a:endParaRPr sz="2400"/>
          </a:p>
          <a:p>
            <a:pPr indent="0" lvl="0" marL="0" rtl="0" algn="l">
              <a:spcBef>
                <a:spcPts val="0"/>
              </a:spcBef>
              <a:spcAft>
                <a:spcPts val="0"/>
              </a:spcAft>
              <a:buClr>
                <a:schemeClr val="dk1"/>
              </a:buClr>
              <a:buSzPts val="1100"/>
              <a:buFont typeface="Arial"/>
              <a:buNone/>
            </a:pPr>
            <a:r>
              <a:rPr lang="es" sz="2400"/>
              <a:t>"Para género, mantuve las 6 clases globales definidas en la limpieza.</a:t>
            </a:r>
            <a:endParaRPr sz="2400"/>
          </a:p>
          <a:p>
            <a:pPr indent="0" lvl="0" marL="0" rtl="0" algn="l">
              <a:spcBef>
                <a:spcPts val="0"/>
              </a:spcBef>
              <a:spcAft>
                <a:spcPts val="0"/>
              </a:spcAft>
              <a:buClr>
                <a:schemeClr val="dk1"/>
              </a:buClr>
              <a:buSzPts val="1100"/>
              <a:buFont typeface="Arial"/>
              <a:buNone/>
            </a:pPr>
            <a:r>
              <a:t/>
            </a:r>
            <a:endParaRPr sz="2400"/>
          </a:p>
          <a:p>
            <a:pPr indent="0" lvl="0" marL="0" rtl="0" algn="l">
              <a:spcBef>
                <a:spcPts val="0"/>
              </a:spcBef>
              <a:spcAft>
                <a:spcPts val="0"/>
              </a:spcAft>
              <a:buClr>
                <a:schemeClr val="dk1"/>
              </a:buClr>
              <a:buSzPts val="1100"/>
              <a:buFont typeface="Arial"/>
              <a:buNone/>
            </a:pPr>
            <a:r>
              <a:rPr lang="es" sz="2400"/>
              <a:t>"El tratamiento del desbalanceo fue crucial:"</a:t>
            </a:r>
            <a:endParaRPr sz="2400"/>
          </a:p>
          <a:p>
            <a:pPr indent="0" lvl="0" marL="0" rtl="0" algn="l">
              <a:spcBef>
                <a:spcPts val="0"/>
              </a:spcBef>
              <a:spcAft>
                <a:spcPts val="0"/>
              </a:spcAft>
              <a:buClr>
                <a:schemeClr val="dk1"/>
              </a:buClr>
              <a:buSzPts val="1100"/>
              <a:buFont typeface="Arial"/>
              <a:buNone/>
            </a:pPr>
            <a:r>
              <a:t/>
            </a:r>
            <a:endParaRPr sz="2400"/>
          </a:p>
          <a:p>
            <a:pPr indent="0" lvl="0" marL="0" rtl="0" algn="l">
              <a:spcBef>
                <a:spcPts val="0"/>
              </a:spcBef>
              <a:spcAft>
                <a:spcPts val="0"/>
              </a:spcAft>
              <a:buClr>
                <a:schemeClr val="dk1"/>
              </a:buClr>
              <a:buSzPts val="1100"/>
              <a:buFont typeface="Arial"/>
              <a:buNone/>
            </a:pPr>
            <a:r>
              <a:rPr lang="es" sz="2400"/>
              <a:t>"Se aplicó class-wheitgh para darle más importancia a variables menos representativas"</a:t>
            </a:r>
            <a:endParaRPr sz="2400"/>
          </a:p>
          <a:p>
            <a:pPr indent="0" lvl="0" marL="0" rtl="0" algn="l">
              <a:spcBef>
                <a:spcPts val="0"/>
              </a:spcBef>
              <a:spcAft>
                <a:spcPts val="0"/>
              </a:spcAft>
              <a:buClr>
                <a:schemeClr val="dk1"/>
              </a:buClr>
              <a:buSzPts val="1100"/>
              <a:buFont typeface="Arial"/>
              <a:buNone/>
            </a:pPr>
            <a:r>
              <a:t/>
            </a:r>
            <a:endParaRPr sz="2400"/>
          </a:p>
          <a:p>
            <a:pPr indent="0" lvl="0" marL="0" rtl="0" algn="l">
              <a:spcBef>
                <a:spcPts val="0"/>
              </a:spcBef>
              <a:spcAft>
                <a:spcPts val="0"/>
              </a:spcAft>
              <a:buClr>
                <a:schemeClr val="dk1"/>
              </a:buClr>
              <a:buSzPts val="1100"/>
              <a:buFont typeface="Arial"/>
              <a:buNone/>
            </a:pPr>
            <a:r>
              <a:rPr lang="es" sz="2400"/>
              <a:t>[Señalar gráfico]</a:t>
            </a:r>
            <a:endParaRPr sz="2400"/>
          </a:p>
          <a:p>
            <a:pPr indent="0" lvl="0" marL="0" rtl="0" algn="l">
              <a:spcBef>
                <a:spcPts val="0"/>
              </a:spcBef>
              <a:spcAft>
                <a:spcPts val="0"/>
              </a:spcAft>
              <a:buClr>
                <a:schemeClr val="dk1"/>
              </a:buClr>
              <a:buSzPts val="1100"/>
              <a:buFont typeface="Arial"/>
              <a:buNone/>
            </a:pPr>
            <a:r>
              <a:t/>
            </a:r>
            <a:endParaRPr sz="2400"/>
          </a:p>
          <a:p>
            <a:pPr indent="0" lvl="0" marL="0" rtl="0" algn="l">
              <a:spcBef>
                <a:spcPts val="0"/>
              </a:spcBef>
              <a:spcAft>
                <a:spcPts val="0"/>
              </a:spcAft>
              <a:buNone/>
            </a:pPr>
            <a:r>
              <a:rPr lang="es" sz="2400"/>
              <a:t>"Los resultados fueron sólidos: en categoría obtuve un F1-score ponderado de 0.85, con accuracy del 87%. En género, los resultados fueron aún mejores: F1-score de 0.92 y accuracy del 93%. Esto significa que el sistema puede clasificar automáticamente la mayoría de las prendas sin necesidad de invocar un LLM costoso."</a:t>
            </a:r>
            <a:endParaRPr sz="2400"/>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865867f9cc_0_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3865867f9cc_0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2400"/>
              <a:t>3</a:t>
            </a:r>
            <a:r>
              <a:rPr lang="es" sz="2400"/>
              <a:t>0 Seg.</a:t>
            </a:r>
            <a:endParaRPr sz="2400"/>
          </a:p>
          <a:p>
            <a:pPr indent="0" lvl="0" marL="0" rtl="0" algn="l">
              <a:spcBef>
                <a:spcPts val="0"/>
              </a:spcBef>
              <a:spcAft>
                <a:spcPts val="0"/>
              </a:spcAft>
              <a:buNone/>
            </a:pPr>
            <a:r>
              <a:rPr lang="es" sz="2400"/>
              <a:t>"En la matriz de consufisón se observa que el modelo predice bastante bien con algunas confusiones, principalmente en la diferenciación de Dama y Caballero con Unisex o Tops con Remeras o Ropa interior con Bikinis."</a:t>
            </a:r>
            <a:endParaRPr sz="2400"/>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a93a6cd611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a93a6cd611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2400"/>
              <a:t>150 Seg.</a:t>
            </a:r>
            <a:endParaRPr sz="2400"/>
          </a:p>
          <a:p>
            <a:pPr indent="0" lvl="0" marL="0" rtl="0" algn="l">
              <a:spcBef>
                <a:spcPts val="0"/>
              </a:spcBef>
              <a:spcAft>
                <a:spcPts val="0"/>
              </a:spcAft>
              <a:buClr>
                <a:schemeClr val="dk1"/>
              </a:buClr>
              <a:buSzPts val="1100"/>
              <a:buFont typeface="Arial"/>
              <a:buNone/>
            </a:pPr>
            <a:r>
              <a:rPr lang="es" sz="2400">
                <a:solidFill>
                  <a:schemeClr val="dk1"/>
                </a:solidFill>
              </a:rPr>
              <a:t>"En un posterior entrenamiento a la última revisión del tribunal, se identificó que el modelo de categorías seguía aprendiendo sin caer en overfitting y pasamos de 1000 a 2000 iteracciones. También se aprovechó para agregar dos categorías más para mejorar la precisión de las predicciones que fueron Joggings y Bermudas que no estaban siendo eficazmente identificadas en las búsquedas. Todas las métricas obtenidas cambiando los parámetros y el número de iteracciones arrojó magros resultados en comparación con el modelo de categoría entrenado anteriormente. Aunque se haya tomado en consideración el balanceo como en el primer entrenamiento."</a:t>
            </a:r>
            <a:endParaRPr sz="2400"/>
          </a:p>
          <a:p>
            <a:pPr indent="0" lvl="0" marL="0" rtl="0" algn="l">
              <a:spcBef>
                <a:spcPts val="0"/>
              </a:spcBef>
              <a:spcAft>
                <a:spcPts val="0"/>
              </a:spcAft>
              <a:buClr>
                <a:schemeClr val="dk1"/>
              </a:buClr>
              <a:buSzPts val="1100"/>
              <a:buFont typeface="Arial"/>
              <a:buNone/>
            </a:pPr>
            <a:r>
              <a:t/>
            </a:r>
            <a:endParaRPr sz="2400"/>
          </a:p>
          <a:p>
            <a:pPr indent="0" lvl="0" marL="0" rtl="0" algn="l">
              <a:spcBef>
                <a:spcPts val="0"/>
              </a:spcBef>
              <a:spcAft>
                <a:spcPts val="0"/>
              </a:spcAft>
              <a:buNone/>
            </a:pPr>
            <a:r>
              <a:t/>
            </a:r>
            <a:endParaRPr sz="2400"/>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a93a6cd611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3a93a6cd611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2400"/>
              <a:t>150 Seg.</a:t>
            </a:r>
            <a:endParaRPr sz="2400"/>
          </a:p>
          <a:p>
            <a:pPr indent="0" lvl="0" marL="0" rtl="0" algn="l">
              <a:spcBef>
                <a:spcPts val="0"/>
              </a:spcBef>
              <a:spcAft>
                <a:spcPts val="0"/>
              </a:spcAft>
              <a:buClr>
                <a:schemeClr val="dk1"/>
              </a:buClr>
              <a:buSzPts val="1100"/>
              <a:buFont typeface="Arial"/>
              <a:buNone/>
            </a:pPr>
            <a:r>
              <a:rPr lang="es" sz="2400"/>
              <a:t>"Analicemos las curvas de aprendizaje de nuestros modelos.</a:t>
            </a:r>
            <a:endParaRPr sz="2400"/>
          </a:p>
          <a:p>
            <a:pPr indent="0" lvl="0" marL="0" rtl="0" algn="l">
              <a:spcBef>
                <a:spcPts val="0"/>
              </a:spcBef>
              <a:spcAft>
                <a:spcPts val="0"/>
              </a:spcAft>
              <a:buClr>
                <a:schemeClr val="dk1"/>
              </a:buClr>
              <a:buSzPts val="1100"/>
              <a:buFont typeface="Arial"/>
              <a:buNone/>
            </a:pPr>
            <a:r>
              <a:t/>
            </a:r>
            <a:endParaRPr sz="2400"/>
          </a:p>
          <a:p>
            <a:pPr indent="0" lvl="0" marL="0" rtl="0" algn="l">
              <a:spcBef>
                <a:spcPts val="0"/>
              </a:spcBef>
              <a:spcAft>
                <a:spcPts val="0"/>
              </a:spcAft>
              <a:buClr>
                <a:schemeClr val="dk1"/>
              </a:buClr>
              <a:buSzPts val="1100"/>
              <a:buFont typeface="Arial"/>
              <a:buNone/>
            </a:pPr>
            <a:r>
              <a:rPr lang="es" sz="2400"/>
              <a:t>[Señala Género - derecha]</a:t>
            </a:r>
            <a:endParaRPr sz="2400"/>
          </a:p>
          <a:p>
            <a:pPr indent="0" lvl="0" marL="0" rtl="0" algn="l">
              <a:spcBef>
                <a:spcPts val="0"/>
              </a:spcBef>
              <a:spcAft>
                <a:spcPts val="0"/>
              </a:spcAft>
              <a:buClr>
                <a:schemeClr val="dk1"/>
              </a:buClr>
              <a:buSzPts val="1100"/>
              <a:buFont typeface="Arial"/>
              <a:buNone/>
            </a:pPr>
            <a:r>
              <a:rPr lang="es" sz="2400"/>
              <a:t>Para GÉNERO: convergencia perfecta. Train y test bajan juntos, se estabilizan</a:t>
            </a:r>
            <a:endParaRPr sz="2400"/>
          </a:p>
          <a:p>
            <a:pPr indent="0" lvl="0" marL="0" rtl="0" algn="l">
              <a:spcBef>
                <a:spcPts val="0"/>
              </a:spcBef>
              <a:spcAft>
                <a:spcPts val="0"/>
              </a:spcAft>
              <a:buClr>
                <a:schemeClr val="dk1"/>
              </a:buClr>
              <a:buSzPts val="1100"/>
              <a:buFont typeface="Arial"/>
              <a:buNone/>
            </a:pPr>
            <a:r>
              <a:rPr lang="es" sz="2400"/>
              <a:t>con una brecha de solo 0.55. Alcanzamos 91% de accuracy.</a:t>
            </a:r>
            <a:endParaRPr sz="2400"/>
          </a:p>
          <a:p>
            <a:pPr indent="0" lvl="0" marL="0" rtl="0" algn="l">
              <a:spcBef>
                <a:spcPts val="0"/>
              </a:spcBef>
              <a:spcAft>
                <a:spcPts val="0"/>
              </a:spcAft>
              <a:buClr>
                <a:schemeClr val="dk1"/>
              </a:buClr>
              <a:buSzPts val="1100"/>
              <a:buFont typeface="Arial"/>
              <a:buNone/>
            </a:pPr>
            <a:r>
              <a:t/>
            </a:r>
            <a:endParaRPr sz="2400"/>
          </a:p>
          <a:p>
            <a:pPr indent="0" lvl="0" marL="0" rtl="0" algn="l">
              <a:spcBef>
                <a:spcPts val="0"/>
              </a:spcBef>
              <a:spcAft>
                <a:spcPts val="0"/>
              </a:spcAft>
              <a:buClr>
                <a:schemeClr val="dk1"/>
              </a:buClr>
              <a:buSzPts val="1100"/>
              <a:buFont typeface="Arial"/>
              <a:buNone/>
            </a:pPr>
            <a:r>
              <a:rPr lang="es" sz="2400"/>
              <a:t>[Señala Categoría - izquierda]</a:t>
            </a:r>
            <a:endParaRPr sz="2400"/>
          </a:p>
          <a:p>
            <a:pPr indent="0" lvl="0" marL="0" rtl="0" algn="l">
              <a:spcBef>
                <a:spcPts val="0"/>
              </a:spcBef>
              <a:spcAft>
                <a:spcPts val="0"/>
              </a:spcAft>
              <a:buClr>
                <a:schemeClr val="dk1"/>
              </a:buClr>
              <a:buSzPts val="1100"/>
              <a:buFont typeface="Arial"/>
              <a:buNone/>
            </a:pPr>
            <a:r>
              <a:rPr lang="es" sz="2400"/>
              <a:t>Para CATEGORÍA: aquí vemos más complejidad. Son 26 clases vs 6 de género.</a:t>
            </a:r>
            <a:endParaRPr sz="2400"/>
          </a:p>
          <a:p>
            <a:pPr indent="0" lvl="0" marL="0" rtl="0" algn="l">
              <a:spcBef>
                <a:spcPts val="0"/>
              </a:spcBef>
              <a:spcAft>
                <a:spcPts val="0"/>
              </a:spcAft>
              <a:buClr>
                <a:schemeClr val="dk1"/>
              </a:buClr>
              <a:buSzPts val="1100"/>
              <a:buFont typeface="Arial"/>
              <a:buNone/>
            </a:pPr>
            <a:r>
              <a:rPr lang="es" sz="2400"/>
              <a:t>La brecha es mayor (1.10) PERO las curvas son paralelas."</a:t>
            </a:r>
            <a:endParaRPr sz="2400"/>
          </a:p>
          <a:p>
            <a:pPr indent="0" lvl="0" marL="0" rtl="0" algn="l">
              <a:spcBef>
                <a:spcPts val="0"/>
              </a:spcBef>
              <a:spcAft>
                <a:spcPts val="0"/>
              </a:spcAft>
              <a:buClr>
                <a:schemeClr val="dk1"/>
              </a:buClr>
              <a:buSzPts val="1100"/>
              <a:buFont typeface="Arial"/>
              <a:buNone/>
            </a:pPr>
            <a:r>
              <a:t/>
            </a:r>
            <a:endParaRPr sz="2400"/>
          </a:p>
          <a:p>
            <a:pPr indent="0" lvl="0" marL="0" rtl="0" algn="l">
              <a:spcBef>
                <a:spcPts val="0"/>
              </a:spcBef>
              <a:spcAft>
                <a:spcPts val="0"/>
              </a:spcAft>
              <a:buNone/>
            </a:pPr>
            <a:r>
              <a:t/>
            </a:r>
            <a:endParaRPr sz="2400"/>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a93a6cd61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a93a6cd61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2400"/>
              <a:t>30 Seg.</a:t>
            </a:r>
            <a:endParaRPr sz="2400"/>
          </a:p>
          <a:p>
            <a:pPr indent="0" lvl="0" marL="0" rtl="0" algn="l">
              <a:spcBef>
                <a:spcPts val="0"/>
              </a:spcBef>
              <a:spcAft>
                <a:spcPts val="0"/>
              </a:spcAft>
              <a:buNone/>
            </a:pPr>
            <a:r>
              <a:rPr lang="es" sz="2400"/>
              <a:t>“ Como podemos apreciar en la matriz de confusión</a:t>
            </a:r>
            <a:endParaRPr sz="2400">
              <a:solidFill>
                <a:schemeClr val="dk1"/>
              </a:solidFill>
            </a:endParaRPr>
          </a:p>
          <a:p>
            <a:pPr indent="0" lvl="0" marL="0" rtl="0" algn="l">
              <a:spcBef>
                <a:spcPts val="0"/>
              </a:spcBef>
              <a:spcAft>
                <a:spcPts val="0"/>
              </a:spcAft>
              <a:buClr>
                <a:schemeClr val="dk1"/>
              </a:buClr>
              <a:buSzPts val="1100"/>
              <a:buFont typeface="Arial"/>
              <a:buNone/>
            </a:pPr>
            <a:r>
              <a:rPr lang="es" sz="2400">
                <a:solidFill>
                  <a:schemeClr val="dk1"/>
                </a:solidFill>
              </a:rPr>
              <a:t>¿Por qué? Bikinis tiene 1 sola muestra en test. Carteras: 1 muestra.</a:t>
            </a:r>
            <a:endParaRPr sz="2400">
              <a:solidFill>
                <a:schemeClr val="dk1"/>
              </a:solidFill>
            </a:endParaRPr>
          </a:p>
          <a:p>
            <a:pPr indent="0" lvl="0" marL="0" rtl="0" algn="l">
              <a:spcBef>
                <a:spcPts val="0"/>
              </a:spcBef>
              <a:spcAft>
                <a:spcPts val="0"/>
              </a:spcAft>
              <a:buClr>
                <a:schemeClr val="dk1"/>
              </a:buClr>
              <a:buSzPts val="1100"/>
              <a:buFont typeface="Arial"/>
              <a:buNone/>
            </a:pPr>
            <a:r>
              <a:rPr lang="es" sz="2400">
                <a:solidFill>
                  <a:schemeClr val="dk1"/>
                </a:solidFill>
              </a:rPr>
              <a:t>Poleras: 1 muestra. Matemáticamente IMPOSIBLE aprender con esos datos.</a:t>
            </a:r>
            <a:endParaRPr sz="2400">
              <a:solidFill>
                <a:schemeClr val="dk1"/>
              </a:solidFill>
            </a:endParaRPr>
          </a:p>
          <a:p>
            <a:pPr indent="0" lvl="0" marL="0" rtl="0" algn="l">
              <a:spcBef>
                <a:spcPts val="0"/>
              </a:spcBef>
              <a:spcAft>
                <a:spcPts val="0"/>
              </a:spcAft>
              <a:buClr>
                <a:schemeClr val="dk1"/>
              </a:buClr>
              <a:buSzPts val="1100"/>
              <a:buFont typeface="Arial"/>
              <a:buNone/>
            </a:pPr>
            <a:r>
              <a:t/>
            </a:r>
            <a:endParaRPr sz="2400">
              <a:solidFill>
                <a:schemeClr val="dk1"/>
              </a:solidFill>
            </a:endParaRPr>
          </a:p>
          <a:p>
            <a:pPr indent="0" lvl="0" marL="0" rtl="0" algn="l">
              <a:spcBef>
                <a:spcPts val="0"/>
              </a:spcBef>
              <a:spcAft>
                <a:spcPts val="0"/>
              </a:spcAft>
              <a:buClr>
                <a:schemeClr val="dk1"/>
              </a:buClr>
              <a:buSzPts val="1100"/>
              <a:buFont typeface="Arial"/>
              <a:buNone/>
            </a:pPr>
            <a:r>
              <a:rPr lang="es" sz="2400">
                <a:solidFill>
                  <a:schemeClr val="dk1"/>
                </a:solidFill>
              </a:rPr>
              <a:t>Las clases con datos suficientes funcionan perfecto: Tops 100%, Vestidos 100%,</a:t>
            </a:r>
            <a:endParaRPr sz="2400">
              <a:solidFill>
                <a:schemeClr val="dk1"/>
              </a:solidFill>
            </a:endParaRPr>
          </a:p>
          <a:p>
            <a:pPr indent="0" lvl="0" marL="0" rtl="0" algn="l">
              <a:spcBef>
                <a:spcPts val="0"/>
              </a:spcBef>
              <a:spcAft>
                <a:spcPts val="0"/>
              </a:spcAft>
              <a:buClr>
                <a:schemeClr val="dk1"/>
              </a:buClr>
              <a:buSzPts val="1100"/>
              <a:buFont typeface="Arial"/>
              <a:buNone/>
            </a:pPr>
            <a:r>
              <a:rPr lang="es" sz="2400">
                <a:solidFill>
                  <a:schemeClr val="dk1"/>
                </a:solidFill>
              </a:rPr>
              <a:t>Remeras 88%.</a:t>
            </a:r>
            <a:endParaRPr sz="2400">
              <a:solidFill>
                <a:schemeClr val="dk1"/>
              </a:solidFill>
            </a:endParaRPr>
          </a:p>
          <a:p>
            <a:pPr indent="0" lvl="0" marL="0" rtl="0" algn="l">
              <a:spcBef>
                <a:spcPts val="0"/>
              </a:spcBef>
              <a:spcAft>
                <a:spcPts val="0"/>
              </a:spcAft>
              <a:buClr>
                <a:schemeClr val="dk1"/>
              </a:buClr>
              <a:buSzPts val="1100"/>
              <a:buFont typeface="Arial"/>
              <a:buNone/>
            </a:pPr>
            <a:r>
              <a:t/>
            </a:r>
            <a:endParaRPr sz="2400">
              <a:solidFill>
                <a:schemeClr val="dk1"/>
              </a:solidFill>
            </a:endParaRPr>
          </a:p>
          <a:p>
            <a:pPr indent="0" lvl="0" marL="0" rtl="0" algn="l">
              <a:spcBef>
                <a:spcPts val="0"/>
              </a:spcBef>
              <a:spcAft>
                <a:spcPts val="0"/>
              </a:spcAft>
              <a:buNone/>
            </a:pPr>
            <a:r>
              <a:rPr lang="es" sz="2400">
                <a:solidFill>
                  <a:schemeClr val="dk1"/>
                </a:solidFill>
              </a:rPr>
              <a:t>Conclusión: Necesitamos más ejemplos de Bikinis, Carteras, Poleras para mejorar.”</a:t>
            </a:r>
            <a:endParaRPr sz="2400">
              <a:solidFill>
                <a:schemeClr val="dk1"/>
              </a:solidFill>
            </a:endParaRPr>
          </a:p>
          <a:p>
            <a:pPr indent="0" lvl="0" marL="0" rtl="0" algn="l">
              <a:spcBef>
                <a:spcPts val="0"/>
              </a:spcBef>
              <a:spcAft>
                <a:spcPts val="0"/>
              </a:spcAft>
              <a:buNone/>
            </a:pPr>
            <a:r>
              <a:t/>
            </a:r>
            <a:endParaRPr sz="2400">
              <a:solidFill>
                <a:schemeClr val="dk1"/>
              </a:solidFill>
            </a:endParaRPr>
          </a:p>
          <a:p>
            <a:pPr indent="0" lvl="0" marL="0" rtl="0" algn="l">
              <a:spcBef>
                <a:spcPts val="0"/>
              </a:spcBef>
              <a:spcAft>
                <a:spcPts val="0"/>
              </a:spcAft>
              <a:buClr>
                <a:schemeClr val="dk1"/>
              </a:buClr>
              <a:buSzPts val="1100"/>
              <a:buFont typeface="Arial"/>
              <a:buNone/>
            </a:pPr>
            <a:r>
              <a:rPr lang="es" sz="2400">
                <a:solidFill>
                  <a:schemeClr val="dk1"/>
                </a:solidFill>
              </a:rPr>
              <a:t>“De los 757 artículos existentes en el dataset, se utilizaron 605 para entrenamiento y sólo 152 para test. “</a:t>
            </a:r>
            <a:endParaRPr sz="2400">
              <a:solidFill>
                <a:schemeClr val="dk1"/>
              </a:solidFill>
            </a:endParaRPr>
          </a:p>
          <a:p>
            <a:pPr indent="0" lvl="0" marL="0" rtl="0" algn="l">
              <a:spcBef>
                <a:spcPts val="0"/>
              </a:spcBef>
              <a:spcAft>
                <a:spcPts val="0"/>
              </a:spcAft>
              <a:buClr>
                <a:schemeClr val="dk1"/>
              </a:buClr>
              <a:buSzPts val="1100"/>
              <a:buFont typeface="Arial"/>
              <a:buNone/>
            </a:pPr>
            <a:r>
              <a:t/>
            </a:r>
            <a:endParaRPr sz="2400">
              <a:solidFill>
                <a:schemeClr val="dk1"/>
              </a:solidFill>
            </a:endParaRPr>
          </a:p>
          <a:p>
            <a:pPr indent="0" lvl="0" marL="0" rtl="0" algn="l">
              <a:spcBef>
                <a:spcPts val="0"/>
              </a:spcBef>
              <a:spcAft>
                <a:spcPts val="0"/>
              </a:spcAft>
              <a:buNone/>
            </a:pPr>
            <a:r>
              <a:rPr lang="es" sz="2400">
                <a:solidFill>
                  <a:schemeClr val="dk1"/>
                </a:solidFill>
              </a:rPr>
              <a:t>“Ambos modelos con este nuevo entrenamiento se descartaron para el trabajo final, manteniendo el primer entrenamiento mencionado.</a:t>
            </a:r>
            <a:r>
              <a:rPr lang="es" sz="2400"/>
              <a:t>”</a:t>
            </a:r>
            <a:endParaRPr sz="2400"/>
          </a:p>
          <a:p>
            <a:pPr indent="0" lvl="0" marL="0" rtl="0" algn="l">
              <a:spcBef>
                <a:spcPts val="0"/>
              </a:spcBef>
              <a:spcAft>
                <a:spcPts val="0"/>
              </a:spcAft>
              <a:buNone/>
            </a:pPr>
            <a:r>
              <a:t/>
            </a:r>
            <a:endParaRPr sz="2400"/>
          </a:p>
          <a:p>
            <a:pPr indent="0" lvl="0" marL="0" rtl="0" algn="l">
              <a:spcBef>
                <a:spcPts val="0"/>
              </a:spcBef>
              <a:spcAft>
                <a:spcPts val="0"/>
              </a:spcAft>
              <a:buNone/>
            </a:pPr>
            <a:r>
              <a:t/>
            </a:r>
            <a:endParaRPr sz="2400"/>
          </a:p>
          <a:p>
            <a:pPr indent="0" lvl="0" marL="0" rtl="0" algn="l">
              <a:spcBef>
                <a:spcPts val="0"/>
              </a:spcBef>
              <a:spcAft>
                <a:spcPts val="0"/>
              </a:spcAft>
              <a:buClr>
                <a:schemeClr val="dk1"/>
              </a:buClr>
              <a:buSzPts val="1100"/>
              <a:buFont typeface="Arial"/>
              <a:buNone/>
            </a:pPr>
            <a:r>
              <a:t/>
            </a:r>
            <a:endParaRPr sz="2400">
              <a:solidFill>
                <a:schemeClr val="dk1"/>
              </a:solidFill>
            </a:endParaRPr>
          </a:p>
          <a:p>
            <a:pPr indent="0" lvl="0" marL="0" rtl="0" algn="l">
              <a:spcBef>
                <a:spcPts val="0"/>
              </a:spcBef>
              <a:spcAft>
                <a:spcPts val="0"/>
              </a:spcAft>
              <a:buClr>
                <a:schemeClr val="dk1"/>
              </a:buClr>
              <a:buSzPts val="1100"/>
              <a:buFont typeface="Arial"/>
              <a:buNone/>
            </a:pPr>
            <a:r>
              <a:t/>
            </a:r>
            <a:endParaRPr sz="2400"/>
          </a:p>
          <a:p>
            <a:pPr indent="0" lvl="0" marL="0" rtl="0" algn="l">
              <a:spcBef>
                <a:spcPts val="0"/>
              </a:spcBef>
              <a:spcAft>
                <a:spcPts val="0"/>
              </a:spcAft>
              <a:buNone/>
            </a:pPr>
            <a:r>
              <a:t/>
            </a:r>
            <a:endParaRPr sz="2400"/>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a3bb7d03df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3a3bb7d03df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2400"/>
              <a:t>120 Seg.</a:t>
            </a:r>
            <a:endParaRPr sz="2400"/>
          </a:p>
          <a:p>
            <a:pPr indent="0" lvl="0" marL="0" rtl="0" algn="l">
              <a:spcBef>
                <a:spcPts val="0"/>
              </a:spcBef>
              <a:spcAft>
                <a:spcPts val="0"/>
              </a:spcAft>
              <a:buClr>
                <a:schemeClr val="dk1"/>
              </a:buClr>
              <a:buSzPts val="1100"/>
              <a:buFont typeface="Arial"/>
              <a:buNone/>
            </a:pPr>
            <a:r>
              <a:rPr lang="es" sz="2400"/>
              <a:t>"La métrica elegida fue la distancia coseno, que se convierte a similitud normalizada entre 0 y 1. Valores cercanos a 1 indican alta similitud, cercanos a 0 baja similitud."</a:t>
            </a:r>
            <a:endParaRPr sz="2400"/>
          </a:p>
          <a:p>
            <a:pPr indent="0" lvl="0" marL="0" rtl="0" algn="l">
              <a:spcBef>
                <a:spcPts val="0"/>
              </a:spcBef>
              <a:spcAft>
                <a:spcPts val="0"/>
              </a:spcAft>
              <a:buClr>
                <a:schemeClr val="dk1"/>
              </a:buClr>
              <a:buSzPts val="1100"/>
              <a:buFont typeface="Arial"/>
              <a:buNone/>
            </a:pPr>
            <a:r>
              <a:t/>
            </a:r>
            <a:endParaRPr sz="2400"/>
          </a:p>
          <a:p>
            <a:pPr indent="0" lvl="0" marL="0" rtl="0" algn="l">
              <a:spcBef>
                <a:spcPts val="0"/>
              </a:spcBef>
              <a:spcAft>
                <a:spcPts val="0"/>
              </a:spcAft>
              <a:buClr>
                <a:schemeClr val="dk1"/>
              </a:buClr>
              <a:buSzPts val="1100"/>
              <a:buFont typeface="Arial"/>
              <a:buNone/>
            </a:pPr>
            <a:r>
              <a:rPr lang="es" sz="2400"/>
              <a:t>"El sistema soporta cuatro modos de búsqueda:"</a:t>
            </a:r>
            <a:endParaRPr sz="2400"/>
          </a:p>
          <a:p>
            <a:pPr indent="0" lvl="0" marL="0" rtl="0" algn="l">
              <a:spcBef>
                <a:spcPts val="0"/>
              </a:spcBef>
              <a:spcAft>
                <a:spcPts val="0"/>
              </a:spcAft>
              <a:buClr>
                <a:schemeClr val="dk1"/>
              </a:buClr>
              <a:buSzPts val="1100"/>
              <a:buFont typeface="Arial"/>
              <a:buNone/>
            </a:pPr>
            <a:r>
              <a:t/>
            </a:r>
            <a:endParaRPr sz="2400"/>
          </a:p>
          <a:p>
            <a:pPr indent="0" lvl="0" marL="0" rtl="0" algn="l">
              <a:spcBef>
                <a:spcPts val="0"/>
              </a:spcBef>
              <a:spcAft>
                <a:spcPts val="0"/>
              </a:spcAft>
              <a:buClr>
                <a:schemeClr val="dk1"/>
              </a:buClr>
              <a:buSzPts val="1100"/>
              <a:buFont typeface="Arial"/>
              <a:buNone/>
            </a:pPr>
            <a:r>
              <a:rPr lang="es" sz="2400"/>
              <a:t>"Primero, texto a texto en español: </a:t>
            </a:r>
            <a:r>
              <a:rPr lang="es" sz="1600"/>
              <a:t>cuando el usuario escribe 'vestido rojo elegante', se genera el embedding de esa consulta y se compara contra los embeddings de texto español de todos los productos</a:t>
            </a:r>
            <a:r>
              <a:rPr lang="es" sz="2400"/>
              <a:t>."</a:t>
            </a:r>
            <a:endParaRPr sz="2400"/>
          </a:p>
          <a:p>
            <a:pPr indent="0" lvl="0" marL="0" rtl="0" algn="l">
              <a:spcBef>
                <a:spcPts val="0"/>
              </a:spcBef>
              <a:spcAft>
                <a:spcPts val="0"/>
              </a:spcAft>
              <a:buClr>
                <a:schemeClr val="dk1"/>
              </a:buClr>
              <a:buSzPts val="1100"/>
              <a:buFont typeface="Arial"/>
              <a:buNone/>
            </a:pPr>
            <a:r>
              <a:t/>
            </a:r>
            <a:endParaRPr sz="2400"/>
          </a:p>
          <a:p>
            <a:pPr indent="0" lvl="0" marL="0" rtl="0" algn="l">
              <a:spcBef>
                <a:spcPts val="0"/>
              </a:spcBef>
              <a:spcAft>
                <a:spcPts val="0"/>
              </a:spcAft>
              <a:buClr>
                <a:schemeClr val="dk1"/>
              </a:buClr>
              <a:buSzPts val="1100"/>
              <a:buFont typeface="Arial"/>
              <a:buNone/>
            </a:pPr>
            <a:r>
              <a:rPr lang="es" sz="2400"/>
              <a:t>"Segundo, texto a texto en inglés: </a:t>
            </a:r>
            <a:r>
              <a:rPr lang="es" sz="1600"/>
              <a:t>si detectamos que la consulta está en inglés, usamos el embedding bilingüe correspondiente sin necesidad de traducir.</a:t>
            </a:r>
            <a:r>
              <a:rPr lang="es" sz="2400"/>
              <a:t>"</a:t>
            </a:r>
            <a:endParaRPr sz="2400"/>
          </a:p>
          <a:p>
            <a:pPr indent="0" lvl="0" marL="0" rtl="0" algn="l">
              <a:spcBef>
                <a:spcPts val="0"/>
              </a:spcBef>
              <a:spcAft>
                <a:spcPts val="0"/>
              </a:spcAft>
              <a:buClr>
                <a:schemeClr val="dk1"/>
              </a:buClr>
              <a:buSzPts val="1100"/>
              <a:buFont typeface="Arial"/>
              <a:buNone/>
            </a:pPr>
            <a:r>
              <a:t/>
            </a:r>
            <a:endParaRPr sz="2400"/>
          </a:p>
          <a:p>
            <a:pPr indent="0" lvl="0" marL="0" rtl="0" algn="l">
              <a:spcBef>
                <a:spcPts val="0"/>
              </a:spcBef>
              <a:spcAft>
                <a:spcPts val="0"/>
              </a:spcAft>
              <a:buClr>
                <a:schemeClr val="dk1"/>
              </a:buClr>
              <a:buSzPts val="1100"/>
              <a:buFont typeface="Arial"/>
              <a:buNone/>
            </a:pPr>
            <a:r>
              <a:rPr lang="es" sz="2400"/>
              <a:t>"Tercero, imagen a imagen: </a:t>
            </a:r>
            <a:r>
              <a:rPr lang="es" sz="1600"/>
              <a:t>cuando el usuario sube una foto, generamos su embedding visual y buscamos productos con imágenes similares.</a:t>
            </a:r>
            <a:r>
              <a:rPr lang="es" sz="2400"/>
              <a:t>"</a:t>
            </a:r>
            <a:endParaRPr sz="2400"/>
          </a:p>
          <a:p>
            <a:pPr indent="0" lvl="0" marL="0" rtl="0" algn="l">
              <a:spcBef>
                <a:spcPts val="0"/>
              </a:spcBef>
              <a:spcAft>
                <a:spcPts val="0"/>
              </a:spcAft>
              <a:buClr>
                <a:schemeClr val="dk1"/>
              </a:buClr>
              <a:buSzPts val="1100"/>
              <a:buFont typeface="Arial"/>
              <a:buNone/>
            </a:pPr>
            <a:r>
              <a:t/>
            </a:r>
            <a:endParaRPr sz="2400"/>
          </a:p>
          <a:p>
            <a:pPr indent="0" lvl="0" marL="0" rtl="0" algn="l">
              <a:spcBef>
                <a:spcPts val="0"/>
              </a:spcBef>
              <a:spcAft>
                <a:spcPts val="0"/>
              </a:spcAft>
              <a:buClr>
                <a:schemeClr val="dk1"/>
              </a:buClr>
              <a:buSzPts val="1100"/>
              <a:buFont typeface="Arial"/>
              <a:buNone/>
            </a:pPr>
            <a:r>
              <a:rPr lang="es" sz="2400"/>
              <a:t>"Cuarto, cross-modal texto a imagen: esta es la búsqueda más potente. Permite que una descripción textual como 'bikini verde neón' encuentre productos visualmente similares aunque sus descripciones no mencionen exactamente esos términos. Esto funciona porque CLIP aprendió el espacio compartido entre texto e imagen."</a:t>
            </a:r>
            <a:endParaRPr sz="2400"/>
          </a:p>
          <a:p>
            <a:pPr indent="0" lvl="0" marL="0" rtl="0" algn="l">
              <a:spcBef>
                <a:spcPts val="0"/>
              </a:spcBef>
              <a:spcAft>
                <a:spcPts val="0"/>
              </a:spcAft>
              <a:buClr>
                <a:schemeClr val="dk1"/>
              </a:buClr>
              <a:buSzPts val="1100"/>
              <a:buFont typeface="Arial"/>
              <a:buNone/>
            </a:pPr>
            <a:r>
              <a:t/>
            </a:r>
            <a:endParaRPr sz="2400"/>
          </a:p>
          <a:p>
            <a:pPr indent="0" lvl="0" marL="0" rtl="0" algn="l">
              <a:spcBef>
                <a:spcPts val="0"/>
              </a:spcBef>
              <a:spcAft>
                <a:spcPts val="0"/>
              </a:spcAft>
              <a:buNone/>
            </a:pPr>
            <a:r>
              <a:rPr lang="es" sz="2400"/>
              <a:t>"Actualmente el catálogo tiene 764 productos con imagen válida, cada uno con 3 embeddings, totalizando 2,292 vectores almacenados. Las búsquedas exhaustivas tardan menos de 200 milisegundos sin necesidad de índices HNSW, que solo serían necesarios para catálogos de más de 5,000 productos."</a:t>
            </a:r>
            <a:endParaRPr sz="2400"/>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a3bb7d03df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3a3bb7d03df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2400"/>
              <a:t>180 Seg.</a:t>
            </a:r>
            <a:endParaRPr sz="2400"/>
          </a:p>
          <a:p>
            <a:pPr indent="0" lvl="0" marL="0" rtl="0" algn="l">
              <a:spcBef>
                <a:spcPts val="0"/>
              </a:spcBef>
              <a:spcAft>
                <a:spcPts val="0"/>
              </a:spcAft>
              <a:buClr>
                <a:schemeClr val="dk1"/>
              </a:buClr>
              <a:buSzPts val="1100"/>
              <a:buFont typeface="Arial"/>
              <a:buNone/>
            </a:pPr>
            <a:r>
              <a:rPr lang="es" sz="2400"/>
              <a:t>"El corazón del sistema es la arquitectura multiagente con 8 agentes especializados. Déjenme explicar cada uno brevemente:"</a:t>
            </a:r>
            <a:endParaRPr sz="2400"/>
          </a:p>
          <a:p>
            <a:pPr indent="0" lvl="0" marL="0" rtl="0" algn="l">
              <a:spcBef>
                <a:spcPts val="0"/>
              </a:spcBef>
              <a:spcAft>
                <a:spcPts val="0"/>
              </a:spcAft>
              <a:buClr>
                <a:schemeClr val="dk1"/>
              </a:buClr>
              <a:buSzPts val="1100"/>
              <a:buFont typeface="Arial"/>
              <a:buNone/>
            </a:pPr>
            <a:r>
              <a:t/>
            </a:r>
            <a:endParaRPr sz="2400"/>
          </a:p>
          <a:p>
            <a:pPr indent="0" lvl="0" marL="0" rtl="0" algn="l">
              <a:spcBef>
                <a:spcPts val="0"/>
              </a:spcBef>
              <a:spcAft>
                <a:spcPts val="0"/>
              </a:spcAft>
              <a:buClr>
                <a:schemeClr val="dk1"/>
              </a:buClr>
              <a:buSzPts val="1100"/>
              <a:buFont typeface="Arial"/>
              <a:buNone/>
            </a:pPr>
            <a:r>
              <a:rPr lang="es" sz="2400"/>
              <a:t>[Ir señalando cada agente en el diagrama mientras hablas]</a:t>
            </a:r>
            <a:endParaRPr sz="2400"/>
          </a:p>
          <a:p>
            <a:pPr indent="0" lvl="0" marL="0" rtl="0" algn="l">
              <a:spcBef>
                <a:spcPts val="0"/>
              </a:spcBef>
              <a:spcAft>
                <a:spcPts val="0"/>
              </a:spcAft>
              <a:buClr>
                <a:schemeClr val="dk1"/>
              </a:buClr>
              <a:buSzPts val="1100"/>
              <a:buFont typeface="Arial"/>
              <a:buNone/>
            </a:pPr>
            <a:r>
              <a:t/>
            </a:r>
            <a:endParaRPr sz="2400"/>
          </a:p>
          <a:p>
            <a:pPr indent="0" lvl="0" marL="0" rtl="0" algn="l">
              <a:spcBef>
                <a:spcPts val="0"/>
              </a:spcBef>
              <a:spcAft>
                <a:spcPts val="0"/>
              </a:spcAft>
              <a:buClr>
                <a:schemeClr val="dk1"/>
              </a:buClr>
              <a:buSzPts val="1100"/>
              <a:buFont typeface="Arial"/>
              <a:buNone/>
            </a:pPr>
            <a:r>
              <a:rPr lang="es" sz="2400"/>
              <a:t>"1. Coordinador Inteligente (LLM): Es el orquestador. Decide qué agentes ejecutar y en qué orden.”</a:t>
            </a:r>
            <a:endParaRPr sz="2400"/>
          </a:p>
          <a:p>
            <a:pPr indent="0" lvl="0" marL="0" rtl="0" algn="l">
              <a:spcBef>
                <a:spcPts val="0"/>
              </a:spcBef>
              <a:spcAft>
                <a:spcPts val="0"/>
              </a:spcAft>
              <a:buClr>
                <a:schemeClr val="dk1"/>
              </a:buClr>
              <a:buSzPts val="1100"/>
              <a:buFont typeface="Arial"/>
              <a:buNone/>
            </a:pPr>
            <a:r>
              <a:t/>
            </a:r>
            <a:endParaRPr sz="2400"/>
          </a:p>
          <a:p>
            <a:pPr indent="0" lvl="0" marL="0" rtl="0" algn="l">
              <a:spcBef>
                <a:spcPts val="0"/>
              </a:spcBef>
              <a:spcAft>
                <a:spcPts val="0"/>
              </a:spcAft>
              <a:buClr>
                <a:schemeClr val="dk1"/>
              </a:buClr>
              <a:buSzPts val="1100"/>
              <a:buFont typeface="Arial"/>
              <a:buNone/>
            </a:pPr>
            <a:r>
              <a:rPr lang="es" sz="2400"/>
              <a:t>"2. AnalizadorConsulta (LLM): Extrae los atributos estructurados de la consulta del usuario: qué prenda busca, qué color, para qué género, qué ocasión.”</a:t>
            </a:r>
            <a:endParaRPr sz="2400"/>
          </a:p>
          <a:p>
            <a:pPr indent="0" lvl="0" marL="0" rtl="0" algn="l">
              <a:spcBef>
                <a:spcPts val="0"/>
              </a:spcBef>
              <a:spcAft>
                <a:spcPts val="0"/>
              </a:spcAft>
              <a:buClr>
                <a:schemeClr val="dk1"/>
              </a:buClr>
              <a:buSzPts val="1100"/>
              <a:buFont typeface="Arial"/>
              <a:buNone/>
            </a:pPr>
            <a:r>
              <a:t/>
            </a:r>
            <a:endParaRPr sz="2400"/>
          </a:p>
          <a:p>
            <a:pPr indent="0" lvl="0" marL="0" rtl="0" algn="l">
              <a:spcBef>
                <a:spcPts val="0"/>
              </a:spcBef>
              <a:spcAft>
                <a:spcPts val="0"/>
              </a:spcAft>
              <a:buClr>
                <a:schemeClr val="dk1"/>
              </a:buClr>
              <a:buSzPts val="1100"/>
              <a:buFont typeface="Arial"/>
              <a:buNone/>
            </a:pPr>
            <a:r>
              <a:rPr lang="es" sz="2400"/>
              <a:t>"3. ImageAnalyzer (LLM Vision): Cuando el usuario sube una imagen, este agente usa GPT-4 para describir las prendas: tipo, color, estilo, patrón. Convierte la imagen en texto estructurado que luego se procesa como cualquier otra consulta."</a:t>
            </a:r>
            <a:endParaRPr sz="2400"/>
          </a:p>
          <a:p>
            <a:pPr indent="0" lvl="0" marL="0" rtl="0" algn="l">
              <a:spcBef>
                <a:spcPts val="0"/>
              </a:spcBef>
              <a:spcAft>
                <a:spcPts val="0"/>
              </a:spcAft>
              <a:buClr>
                <a:schemeClr val="dk1"/>
              </a:buClr>
              <a:buSzPts val="1100"/>
              <a:buFont typeface="Arial"/>
              <a:buNone/>
            </a:pPr>
            <a:r>
              <a:t/>
            </a:r>
            <a:endParaRPr sz="2400"/>
          </a:p>
          <a:p>
            <a:pPr indent="0" lvl="0" marL="0" rtl="0" algn="l">
              <a:spcBef>
                <a:spcPts val="0"/>
              </a:spcBef>
              <a:spcAft>
                <a:spcPts val="0"/>
              </a:spcAft>
              <a:buClr>
                <a:schemeClr val="dk1"/>
              </a:buClr>
              <a:buSzPts val="1100"/>
              <a:buFont typeface="Arial"/>
              <a:buNone/>
            </a:pPr>
            <a:r>
              <a:rPr lang="es" sz="2400"/>
              <a:t>"4. EspecialistaOutfits (LLM): Se activa cuando detecta consultas relacionadas con ocasiones especiales: 'outfit para entrevista', 'look para ir al gym', 'ropa de playa'."</a:t>
            </a:r>
            <a:endParaRPr sz="2400"/>
          </a:p>
          <a:p>
            <a:pPr indent="0" lvl="0" marL="0" rtl="0" algn="l">
              <a:spcBef>
                <a:spcPts val="0"/>
              </a:spcBef>
              <a:spcAft>
                <a:spcPts val="0"/>
              </a:spcAft>
              <a:buClr>
                <a:schemeClr val="dk1"/>
              </a:buClr>
              <a:buSzPts val="1100"/>
              <a:buFont typeface="Arial"/>
              <a:buNone/>
            </a:pPr>
            <a:r>
              <a:t/>
            </a:r>
            <a:endParaRPr sz="2400"/>
          </a:p>
          <a:p>
            <a:pPr indent="0" lvl="0" marL="0" rtl="0" algn="l">
              <a:spcBef>
                <a:spcPts val="0"/>
              </a:spcBef>
              <a:spcAft>
                <a:spcPts val="0"/>
              </a:spcAft>
              <a:buNone/>
            </a:pPr>
            <a:r>
              <a:rPr lang="es" sz="2400"/>
              <a:t>"5. PresentadorResultados (LLM): Toma los productos encontrados y los reordena semánticamente según relevancia. Además, genera la respuesta conversacional natural para el usuario."</a:t>
            </a:r>
            <a:endParaRPr sz="2400"/>
          </a:p>
          <a:p>
            <a:pPr indent="0" lvl="0" marL="0" rtl="0" algn="l">
              <a:spcBef>
                <a:spcPts val="0"/>
              </a:spcBef>
              <a:spcAft>
                <a:spcPts val="0"/>
              </a:spcAft>
              <a:buNone/>
            </a:pPr>
            <a:r>
              <a:t/>
            </a:r>
            <a:endParaRPr sz="2400"/>
          </a:p>
          <a:p>
            <a:pPr indent="0" lvl="0" marL="0" rtl="0" algn="l">
              <a:spcBef>
                <a:spcPts val="0"/>
              </a:spcBef>
              <a:spcAft>
                <a:spcPts val="0"/>
              </a:spcAft>
              <a:buClr>
                <a:schemeClr val="dk1"/>
              </a:buClr>
              <a:buSzPts val="1100"/>
              <a:buFont typeface="Arial"/>
              <a:buNone/>
            </a:pPr>
            <a:r>
              <a:rPr lang="es" sz="2400">
                <a:solidFill>
                  <a:schemeClr val="dk1"/>
                </a:solidFill>
              </a:rPr>
              <a:t>"6. ClasificadorCatBoost (ML): Este es el agente que optimiza costos. Predice categoría y género localmente usando los modelos CatBoost entrenados, sin llamadas a APIs externas.”</a:t>
            </a:r>
            <a:endParaRPr sz="2400"/>
          </a:p>
          <a:p>
            <a:pPr indent="0" lvl="0" marL="0" rtl="0" algn="l">
              <a:spcBef>
                <a:spcPts val="0"/>
              </a:spcBef>
              <a:spcAft>
                <a:spcPts val="0"/>
              </a:spcAft>
              <a:buClr>
                <a:schemeClr val="dk1"/>
              </a:buClr>
              <a:buSzPts val="1100"/>
              <a:buFont typeface="Arial"/>
              <a:buNone/>
            </a:pPr>
            <a:r>
              <a:t/>
            </a:r>
            <a:endParaRPr sz="2400"/>
          </a:p>
          <a:p>
            <a:pPr indent="0" lvl="0" marL="0" rtl="0" algn="l">
              <a:spcBef>
                <a:spcPts val="0"/>
              </a:spcBef>
              <a:spcAft>
                <a:spcPts val="0"/>
              </a:spcAft>
              <a:buNone/>
            </a:pPr>
            <a:r>
              <a:rPr lang="es" sz="2400"/>
              <a:t>"7. RefinadorConsulta (Híbrido LLM + reglas): Determina si la consulta es ambigua y requiere preguntas aclaratorias. Usa una matriz de decisión: si la confianza de CatBoost es menor al 50% Y el análisis semántico no es claro, genera preguntas con el LLM. Si no, usa preguntas predefinidas."</a:t>
            </a:r>
            <a:endParaRPr sz="2400"/>
          </a:p>
          <a:p>
            <a:pPr indent="0" lvl="0" marL="0" rtl="0" algn="l">
              <a:spcBef>
                <a:spcPts val="0"/>
              </a:spcBef>
              <a:spcAft>
                <a:spcPts val="0"/>
              </a:spcAft>
              <a:buNone/>
            </a:pPr>
            <a:r>
              <a:t/>
            </a:r>
            <a:endParaRPr sz="2400"/>
          </a:p>
          <a:p>
            <a:pPr indent="0" lvl="0" marL="0" rtl="0" algn="l">
              <a:spcBef>
                <a:spcPts val="0"/>
              </a:spcBef>
              <a:spcAft>
                <a:spcPts val="0"/>
              </a:spcAft>
              <a:buClr>
                <a:schemeClr val="dk1"/>
              </a:buClr>
              <a:buSzPts val="1100"/>
              <a:buFont typeface="Arial"/>
              <a:buNone/>
            </a:pPr>
            <a:r>
              <a:rPr lang="es" sz="2400">
                <a:solidFill>
                  <a:schemeClr val="dk1"/>
                </a:solidFill>
              </a:rPr>
              <a:t>"8. BuscadorEmbeddings (Vectorial, NO-LLM): Ejecuta las consultas de similitud en la base de datos usando los embeddings."</a:t>
            </a:r>
            <a:endParaRPr sz="2400"/>
          </a:p>
          <a:p>
            <a:pPr indent="0" lvl="0" marL="0" rtl="0" algn="l">
              <a:spcBef>
                <a:spcPts val="0"/>
              </a:spcBef>
              <a:spcAft>
                <a:spcPts val="0"/>
              </a:spcAft>
              <a:buNone/>
            </a:pPr>
            <a:r>
              <a:t/>
            </a:r>
            <a:endParaRPr sz="1600"/>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3a3bb7d03df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3a3bb7d03df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2400"/>
              <a:t>90 Seg.</a:t>
            </a:r>
            <a:endParaRPr sz="2400"/>
          </a:p>
          <a:p>
            <a:pPr indent="0" lvl="0" marL="0" rtl="0" algn="l">
              <a:spcBef>
                <a:spcPts val="0"/>
              </a:spcBef>
              <a:spcAft>
                <a:spcPts val="0"/>
              </a:spcAft>
              <a:buClr>
                <a:schemeClr val="dk1"/>
              </a:buClr>
              <a:buSzPts val="1100"/>
              <a:buFont typeface="Arial"/>
              <a:buNone/>
            </a:pPr>
            <a:r>
              <a:rPr lang="es" sz="2400"/>
              <a:t>"La interfaz web está desarrollada en Streamlit."</a:t>
            </a:r>
            <a:endParaRPr sz="2400"/>
          </a:p>
          <a:p>
            <a:pPr indent="0" lvl="0" marL="0" rtl="0" algn="l">
              <a:spcBef>
                <a:spcPts val="0"/>
              </a:spcBef>
              <a:spcAft>
                <a:spcPts val="0"/>
              </a:spcAft>
              <a:buClr>
                <a:schemeClr val="dk1"/>
              </a:buClr>
              <a:buSzPts val="1100"/>
              <a:buFont typeface="Arial"/>
              <a:buNone/>
            </a:pPr>
            <a:r>
              <a:t/>
            </a:r>
            <a:endParaRPr sz="2400"/>
          </a:p>
          <a:p>
            <a:pPr indent="0" lvl="0" marL="0" rtl="0" algn="l">
              <a:spcBef>
                <a:spcPts val="0"/>
              </a:spcBef>
              <a:spcAft>
                <a:spcPts val="0"/>
              </a:spcAft>
              <a:buClr>
                <a:schemeClr val="dk1"/>
              </a:buClr>
              <a:buSzPts val="1100"/>
              <a:buFont typeface="Arial"/>
              <a:buNone/>
            </a:pPr>
            <a:r>
              <a:rPr lang="es" sz="2400"/>
              <a:t>[Señalar screenshot de chat]</a:t>
            </a:r>
            <a:endParaRPr sz="2400"/>
          </a:p>
          <a:p>
            <a:pPr indent="0" lvl="0" marL="0" rtl="0" algn="l">
              <a:spcBef>
                <a:spcPts val="0"/>
              </a:spcBef>
              <a:spcAft>
                <a:spcPts val="0"/>
              </a:spcAft>
              <a:buClr>
                <a:schemeClr val="dk1"/>
              </a:buClr>
              <a:buSzPts val="1100"/>
              <a:buFont typeface="Arial"/>
              <a:buNone/>
            </a:pPr>
            <a:r>
              <a:t/>
            </a:r>
            <a:endParaRPr sz="2400"/>
          </a:p>
          <a:p>
            <a:pPr indent="0" lvl="0" marL="0" rtl="0" algn="l">
              <a:spcBef>
                <a:spcPts val="0"/>
              </a:spcBef>
              <a:spcAft>
                <a:spcPts val="0"/>
              </a:spcAft>
              <a:buClr>
                <a:schemeClr val="dk1"/>
              </a:buClr>
              <a:buSzPts val="1100"/>
              <a:buFont typeface="Arial"/>
              <a:buNone/>
            </a:pPr>
            <a:r>
              <a:rPr lang="es" sz="2400"/>
              <a:t>"El usuario previamente registrado es derivado a la pestaña principal del Chat, donde puede escribir consultas en lenguaje natural o subir imágenes. La interfaz tiene un sidebar con ajustes</a:t>
            </a:r>
            <a:r>
              <a:rPr lang="es" sz="1600"/>
              <a:t>: activar/desactivar predicciones de CatBoost, limpiar historial, mostrar similitudes, ver agentes intervinientes y ver leyenda de colores.</a:t>
            </a:r>
            <a:r>
              <a:rPr lang="es" sz="2400"/>
              <a:t>"</a:t>
            </a:r>
            <a:endParaRPr sz="2400"/>
          </a:p>
          <a:p>
            <a:pPr indent="0" lvl="0" marL="0" rtl="0" algn="l">
              <a:spcBef>
                <a:spcPts val="0"/>
              </a:spcBef>
              <a:spcAft>
                <a:spcPts val="0"/>
              </a:spcAft>
              <a:buClr>
                <a:schemeClr val="dk1"/>
              </a:buClr>
              <a:buSzPts val="1100"/>
              <a:buFont typeface="Arial"/>
              <a:buNone/>
            </a:pPr>
            <a:r>
              <a:t/>
            </a:r>
            <a:endParaRPr sz="2400"/>
          </a:p>
          <a:p>
            <a:pPr indent="0" lvl="0" marL="0" rtl="0" algn="l">
              <a:spcBef>
                <a:spcPts val="0"/>
              </a:spcBef>
              <a:spcAft>
                <a:spcPts val="0"/>
              </a:spcAft>
              <a:buClr>
                <a:schemeClr val="dk1"/>
              </a:buClr>
              <a:buSzPts val="1100"/>
              <a:buFont typeface="Arial"/>
              <a:buNone/>
            </a:pPr>
            <a:r>
              <a:rPr lang="es" sz="2400"/>
              <a:t>[Señalar screenshot de resultados]</a:t>
            </a:r>
            <a:endParaRPr sz="2400"/>
          </a:p>
          <a:p>
            <a:pPr indent="0" lvl="0" marL="0" rtl="0" algn="l">
              <a:spcBef>
                <a:spcPts val="0"/>
              </a:spcBef>
              <a:spcAft>
                <a:spcPts val="0"/>
              </a:spcAft>
              <a:buClr>
                <a:schemeClr val="dk1"/>
              </a:buClr>
              <a:buSzPts val="1100"/>
              <a:buFont typeface="Arial"/>
              <a:buNone/>
            </a:pPr>
            <a:r>
              <a:t/>
            </a:r>
            <a:endParaRPr sz="2400"/>
          </a:p>
          <a:p>
            <a:pPr indent="0" lvl="0" marL="0" rtl="0" algn="l">
              <a:spcBef>
                <a:spcPts val="0"/>
              </a:spcBef>
              <a:spcAft>
                <a:spcPts val="0"/>
              </a:spcAft>
              <a:buClr>
                <a:schemeClr val="dk1"/>
              </a:buClr>
              <a:buSzPts val="1100"/>
              <a:buFont typeface="Arial"/>
              <a:buNone/>
            </a:pPr>
            <a:r>
              <a:rPr lang="es" sz="2400"/>
              <a:t>"Los resultados se muestran en una matriz visual de 5 columnas con tarjetas de productos. Cada tarjeta tiene un color que indica la similitud:"</a:t>
            </a:r>
            <a:endParaRPr sz="2400"/>
          </a:p>
          <a:p>
            <a:pPr indent="0" lvl="0" marL="0" rtl="0" algn="l">
              <a:spcBef>
                <a:spcPts val="0"/>
              </a:spcBef>
              <a:spcAft>
                <a:spcPts val="0"/>
              </a:spcAft>
              <a:buClr>
                <a:schemeClr val="dk1"/>
              </a:buClr>
              <a:buSzPts val="1100"/>
              <a:buFont typeface="Arial"/>
              <a:buNone/>
            </a:pPr>
            <a:r>
              <a:t/>
            </a:r>
            <a:endParaRPr sz="2400"/>
          </a:p>
          <a:p>
            <a:pPr indent="0" lvl="0" marL="0" rtl="0" algn="l">
              <a:spcBef>
                <a:spcPts val="0"/>
              </a:spcBef>
              <a:spcAft>
                <a:spcPts val="0"/>
              </a:spcAft>
              <a:buClr>
                <a:schemeClr val="dk1"/>
              </a:buClr>
              <a:buSzPts val="1100"/>
              <a:buFont typeface="Arial"/>
              <a:buNone/>
            </a:pPr>
            <a:r>
              <a:rPr lang="es" sz="2400"/>
              <a:t>"Además, cada producto muestra su categoría predicha, género, colores detectados, entre otros.”</a:t>
            </a:r>
            <a:endParaRPr sz="2400"/>
          </a:p>
          <a:p>
            <a:pPr indent="0" lvl="0" marL="0" rtl="0" algn="l">
              <a:spcBef>
                <a:spcPts val="0"/>
              </a:spcBef>
              <a:spcAft>
                <a:spcPts val="0"/>
              </a:spcAft>
              <a:buClr>
                <a:schemeClr val="dk1"/>
              </a:buClr>
              <a:buSzPts val="1100"/>
              <a:buFont typeface="Arial"/>
              <a:buNone/>
            </a:pPr>
            <a:r>
              <a:t/>
            </a:r>
            <a:endParaRPr sz="2400"/>
          </a:p>
          <a:p>
            <a:pPr indent="0" lvl="0" marL="0" rtl="0" algn="l">
              <a:spcBef>
                <a:spcPts val="0"/>
              </a:spcBef>
              <a:spcAft>
                <a:spcPts val="0"/>
              </a:spcAft>
              <a:buClr>
                <a:schemeClr val="dk1"/>
              </a:buClr>
              <a:buSzPts val="1100"/>
              <a:buFont typeface="Arial"/>
              <a:buNone/>
            </a:pPr>
            <a:r>
              <a:rPr lang="es" sz="2400"/>
              <a:t>"La pestaña de Reportes es fundamental para análisis y auditoría. Muestra dashboards como por ejemplo cantidad de consultas de usuario o costos por uso de los LLMs"</a:t>
            </a:r>
            <a:endParaRPr sz="2400"/>
          </a:p>
          <a:p>
            <a:pPr indent="0" lvl="0" marL="0" rtl="0" algn="l">
              <a:spcBef>
                <a:spcPts val="0"/>
              </a:spcBef>
              <a:spcAft>
                <a:spcPts val="0"/>
              </a:spcAft>
              <a:buClr>
                <a:schemeClr val="dk1"/>
              </a:buClr>
              <a:buSzPts val="1100"/>
              <a:buFont typeface="Arial"/>
              <a:buNone/>
            </a:pPr>
            <a:r>
              <a:t/>
            </a:r>
            <a:endParaRPr sz="2400"/>
          </a:p>
          <a:p>
            <a:pPr indent="0" lvl="0" marL="0" rtl="0" algn="l">
              <a:spcBef>
                <a:spcPts val="0"/>
              </a:spcBef>
              <a:spcAft>
                <a:spcPts val="0"/>
              </a:spcAft>
              <a:buNone/>
            </a:pPr>
            <a:r>
              <a:rPr lang="es" sz="2400"/>
              <a:t>"También hay pestañas para Configuración LLM (prompts y temperatura editables).</a:t>
            </a:r>
            <a:endParaRPr sz="2400"/>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3a3bb7d03df_0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3a3bb7d03df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2000"/>
              <a:t>120 Seg.</a:t>
            </a:r>
            <a:endParaRPr sz="2000"/>
          </a:p>
          <a:p>
            <a:pPr indent="0" lvl="0" marL="0" rtl="0" algn="l">
              <a:spcBef>
                <a:spcPts val="0"/>
              </a:spcBef>
              <a:spcAft>
                <a:spcPts val="0"/>
              </a:spcAft>
              <a:buClr>
                <a:schemeClr val="dk1"/>
              </a:buClr>
              <a:buSzPts val="1100"/>
              <a:buFont typeface="Arial"/>
              <a:buNone/>
            </a:pPr>
            <a:r>
              <a:rPr lang="es" sz="2000"/>
              <a:t>"Veamos tres ejemplos representativos del sistema en acción."</a:t>
            </a:r>
            <a:endParaRPr sz="2000"/>
          </a:p>
          <a:p>
            <a:pPr indent="0" lvl="0" marL="0" rtl="0" algn="l">
              <a:spcBef>
                <a:spcPts val="0"/>
              </a:spcBef>
              <a:spcAft>
                <a:spcPts val="0"/>
              </a:spcAft>
              <a:buClr>
                <a:schemeClr val="dk1"/>
              </a:buClr>
              <a:buSzPts val="1100"/>
              <a:buFont typeface="Arial"/>
              <a:buNone/>
            </a:pPr>
            <a:r>
              <a:t/>
            </a:r>
            <a:endParaRPr sz="2000"/>
          </a:p>
          <a:p>
            <a:pPr indent="0" lvl="0" marL="0" rtl="0" algn="l">
              <a:spcBef>
                <a:spcPts val="0"/>
              </a:spcBef>
              <a:spcAft>
                <a:spcPts val="0"/>
              </a:spcAft>
              <a:buClr>
                <a:schemeClr val="dk1"/>
              </a:buClr>
              <a:buSzPts val="1100"/>
              <a:buFont typeface="Arial"/>
              <a:buNone/>
            </a:pPr>
            <a:r>
              <a:rPr lang="es" sz="2000"/>
              <a:t>[Señalar ejemplo 1]</a:t>
            </a:r>
            <a:endParaRPr sz="2000"/>
          </a:p>
          <a:p>
            <a:pPr indent="0" lvl="0" marL="0" rtl="0" algn="l">
              <a:spcBef>
                <a:spcPts val="0"/>
              </a:spcBef>
              <a:spcAft>
                <a:spcPts val="0"/>
              </a:spcAft>
              <a:buClr>
                <a:schemeClr val="dk1"/>
              </a:buClr>
              <a:buSzPts val="1100"/>
              <a:buFont typeface="Arial"/>
              <a:buNone/>
            </a:pPr>
            <a:r>
              <a:t/>
            </a:r>
            <a:endParaRPr sz="2000"/>
          </a:p>
          <a:p>
            <a:pPr indent="0" lvl="0" marL="0" rtl="0" algn="l">
              <a:spcBef>
                <a:spcPts val="0"/>
              </a:spcBef>
              <a:spcAft>
                <a:spcPts val="0"/>
              </a:spcAft>
              <a:buClr>
                <a:schemeClr val="dk1"/>
              </a:buClr>
              <a:buSzPts val="1100"/>
              <a:buFont typeface="Arial"/>
              <a:buNone/>
            </a:pPr>
            <a:r>
              <a:rPr lang="es" sz="2000"/>
              <a:t>"Ejemplo 1: Búsqueda solo por imagen. El usuario sube una foto de un bikini verde neón. El sistema:"</a:t>
            </a:r>
            <a:endParaRPr sz="2000"/>
          </a:p>
          <a:p>
            <a:pPr indent="0" lvl="0" marL="0" rtl="0" algn="l">
              <a:spcBef>
                <a:spcPts val="0"/>
              </a:spcBef>
              <a:spcAft>
                <a:spcPts val="0"/>
              </a:spcAft>
              <a:buClr>
                <a:schemeClr val="dk1"/>
              </a:buClr>
              <a:buSzPts val="1100"/>
              <a:buFont typeface="Arial"/>
              <a:buNone/>
            </a:pPr>
            <a:r>
              <a:t/>
            </a:r>
            <a:endParaRPr sz="2000"/>
          </a:p>
          <a:p>
            <a:pPr indent="0" lvl="0" marL="0" rtl="0" algn="l">
              <a:spcBef>
                <a:spcPts val="0"/>
              </a:spcBef>
              <a:spcAft>
                <a:spcPts val="0"/>
              </a:spcAft>
              <a:buClr>
                <a:schemeClr val="dk1"/>
              </a:buClr>
              <a:buSzPts val="1100"/>
              <a:buFont typeface="Arial"/>
              <a:buNone/>
            </a:pPr>
            <a:r>
              <a:rPr lang="es" sz="2000"/>
              <a:t>1. "Usa ImageAnalyzer (GPT-4 Vision) para describir: 'Bikini verde neón con tirantes ajustables, estilo minimalista para mujer'"</a:t>
            </a:r>
            <a:endParaRPr sz="2000"/>
          </a:p>
          <a:p>
            <a:pPr indent="0" lvl="0" marL="0" rtl="0" algn="l">
              <a:spcBef>
                <a:spcPts val="0"/>
              </a:spcBef>
              <a:spcAft>
                <a:spcPts val="0"/>
              </a:spcAft>
              <a:buClr>
                <a:schemeClr val="dk1"/>
              </a:buClr>
              <a:buSzPts val="1100"/>
              <a:buFont typeface="Arial"/>
              <a:buNone/>
            </a:pPr>
            <a:r>
              <a:rPr lang="es" sz="2000"/>
              <a:t>2. "Genera el embedding visual de la imagen"</a:t>
            </a:r>
            <a:endParaRPr sz="2000"/>
          </a:p>
          <a:p>
            <a:pPr indent="0" lvl="0" marL="0" rtl="0" algn="l">
              <a:spcBef>
                <a:spcPts val="0"/>
              </a:spcBef>
              <a:spcAft>
                <a:spcPts val="0"/>
              </a:spcAft>
              <a:buClr>
                <a:schemeClr val="dk1"/>
              </a:buClr>
              <a:buSzPts val="1100"/>
              <a:buFont typeface="Arial"/>
              <a:buNone/>
            </a:pPr>
            <a:r>
              <a:rPr lang="es" sz="2000"/>
              <a:t>3. "Busca productos visualmente similares con búsqueda cross-modal"</a:t>
            </a:r>
            <a:endParaRPr sz="2000"/>
          </a:p>
          <a:p>
            <a:pPr indent="0" lvl="0" marL="0" rtl="0" algn="l">
              <a:spcBef>
                <a:spcPts val="0"/>
              </a:spcBef>
              <a:spcAft>
                <a:spcPts val="0"/>
              </a:spcAft>
              <a:buClr>
                <a:schemeClr val="dk1"/>
              </a:buClr>
              <a:buSzPts val="1100"/>
              <a:buFont typeface="Arial"/>
              <a:buNone/>
            </a:pPr>
            <a:r>
              <a:rPr lang="es" sz="2000"/>
              <a:t>4. "Devuelve 5 bikinis con similitud superior al 80%, incluso si sus descripciones no mencionan 'verde neón' textualmente"</a:t>
            </a:r>
            <a:endParaRPr sz="2000"/>
          </a:p>
          <a:p>
            <a:pPr indent="0" lvl="0" marL="0" rtl="0" algn="l">
              <a:spcBef>
                <a:spcPts val="0"/>
              </a:spcBef>
              <a:spcAft>
                <a:spcPts val="0"/>
              </a:spcAft>
              <a:buClr>
                <a:schemeClr val="dk1"/>
              </a:buClr>
              <a:buSzPts val="1100"/>
              <a:buFont typeface="Arial"/>
              <a:buNone/>
            </a:pPr>
            <a:r>
              <a:t/>
            </a:r>
            <a:endParaRPr sz="2000"/>
          </a:p>
          <a:p>
            <a:pPr indent="0" lvl="0" marL="457200" rtl="0" algn="l">
              <a:spcBef>
                <a:spcPts val="0"/>
              </a:spcBef>
              <a:spcAft>
                <a:spcPts val="0"/>
              </a:spcAft>
              <a:buNone/>
            </a:pPr>
            <a:r>
              <a:rPr lang="es" sz="2000"/>
              <a:t>Ejemplo 2: Búsqueda con ocasión especial y refinamiento conversacional</a:t>
            </a:r>
            <a:endParaRPr sz="2000"/>
          </a:p>
          <a:p>
            <a:pPr indent="0" lvl="0" marL="457200" rtl="0" algn="l">
              <a:spcBef>
                <a:spcPts val="0"/>
              </a:spcBef>
              <a:spcAft>
                <a:spcPts val="0"/>
              </a:spcAft>
              <a:buNone/>
            </a:pPr>
            <a:r>
              <a:t/>
            </a:r>
            <a:endParaRPr sz="2000"/>
          </a:p>
          <a:p>
            <a:pPr indent="0" lvl="0" marL="457200" rtl="0" algn="l">
              <a:spcBef>
                <a:spcPts val="0"/>
              </a:spcBef>
              <a:spcAft>
                <a:spcPts val="0"/>
              </a:spcAft>
              <a:buNone/>
            </a:pPr>
            <a:r>
              <a:rPr lang="es" sz="2000"/>
              <a:t>El usuario escribe: "outfit para entrevista de trabajo".</a:t>
            </a:r>
            <a:endParaRPr sz="2000"/>
          </a:p>
          <a:p>
            <a:pPr indent="0" lvl="0" marL="457200" rtl="0" algn="l">
              <a:spcBef>
                <a:spcPts val="0"/>
              </a:spcBef>
              <a:spcAft>
                <a:spcPts val="0"/>
              </a:spcAft>
              <a:buNone/>
            </a:pPr>
            <a:r>
              <a:t/>
            </a:r>
            <a:endParaRPr sz="2000"/>
          </a:p>
          <a:p>
            <a:pPr indent="0" lvl="0" marL="457200" rtl="0" algn="l">
              <a:spcBef>
                <a:spcPts val="0"/>
              </a:spcBef>
              <a:spcAft>
                <a:spcPts val="0"/>
              </a:spcAft>
              <a:buNone/>
            </a:pPr>
            <a:r>
              <a:rPr lang="es" sz="2000"/>
              <a:t>Flujo de ejecución:</a:t>
            </a:r>
            <a:endParaRPr sz="2000"/>
          </a:p>
          <a:p>
            <a:pPr indent="-355600" lvl="0" marL="457200" rtl="0" algn="l">
              <a:spcBef>
                <a:spcPts val="0"/>
              </a:spcBef>
              <a:spcAft>
                <a:spcPts val="0"/>
              </a:spcAft>
              <a:buSzPts val="2000"/>
              <a:buAutoNum type="arabicPeriod"/>
            </a:pPr>
            <a:r>
              <a:rPr lang="es" sz="2000"/>
              <a:t>AnalizadorConsulta detecta idioma español, marca necesita_refinamiento=True (falta tipo de prenda).</a:t>
            </a:r>
            <a:endParaRPr sz="2000"/>
          </a:p>
          <a:p>
            <a:pPr indent="-355600" lvl="0" marL="457200" rtl="0" algn="l">
              <a:spcBef>
                <a:spcPts val="0"/>
              </a:spcBef>
              <a:spcAft>
                <a:spcPts val="0"/>
              </a:spcAft>
              <a:buSzPts val="2000"/>
              <a:buAutoNum type="arabicPeriod"/>
            </a:pPr>
            <a:r>
              <a:rPr lang="es" sz="2000"/>
              <a:t>EspecialistaOutfits detecta palabra clave "entrevista" → activa prompt especializado ocasion=trabajo (camisas formales, pantalones de vestir, colores neutros).</a:t>
            </a:r>
            <a:endParaRPr sz="2000"/>
          </a:p>
          <a:p>
            <a:pPr indent="-355600" lvl="0" marL="457200" rtl="0" algn="l">
              <a:spcBef>
                <a:spcPts val="0"/>
              </a:spcBef>
              <a:spcAft>
                <a:spcPts val="0"/>
              </a:spcAft>
              <a:buSzPts val="2000"/>
              <a:buAutoNum type="arabicPeriod"/>
            </a:pPr>
            <a:r>
              <a:rPr lang="es" sz="2000"/>
              <a:t>ClasificadorCatBoost predice: categoría="Camisas" (15.8%), género="Caballero" (44.2%) → ambas bajo umbral.</a:t>
            </a:r>
            <a:endParaRPr sz="2000"/>
          </a:p>
          <a:p>
            <a:pPr indent="-355600" lvl="0" marL="457200" rtl="0" algn="l">
              <a:spcBef>
                <a:spcPts val="0"/>
              </a:spcBef>
              <a:spcAft>
                <a:spcPts val="0"/>
              </a:spcAft>
              <a:buSzPts val="2000"/>
              <a:buAutoNum type="arabicPeriod"/>
            </a:pPr>
            <a:r>
              <a:rPr lang="es" sz="2000"/>
              <a:t>RefinadorConsulta evalúa: Categoría &lt;30% + Género &lt;50% + sin mención explícita → solicita 2 preguntas: "¿Qué tipo de prenda? ¿Es para hombre o mujer?"</a:t>
            </a:r>
            <a:endParaRPr sz="2000"/>
          </a:p>
          <a:p>
            <a:pPr indent="-355600" lvl="0" marL="457200" rtl="0" algn="l">
              <a:spcBef>
                <a:spcPts val="0"/>
              </a:spcBef>
              <a:spcAft>
                <a:spcPts val="0"/>
              </a:spcAft>
              <a:buSzPts val="2000"/>
              <a:buAutoNum type="arabicPeriod"/>
            </a:pPr>
            <a:r>
              <a:rPr lang="es" sz="2000"/>
              <a:t>PresentadorResultados detiene flujo, presenta preguntas al usuario.</a:t>
            </a:r>
            <a:endParaRPr sz="2000"/>
          </a:p>
          <a:p>
            <a:pPr indent="0" lvl="0" marL="457200" rtl="0" algn="l">
              <a:spcBef>
                <a:spcPts val="0"/>
              </a:spcBef>
              <a:spcAft>
                <a:spcPts val="0"/>
              </a:spcAft>
              <a:buNone/>
            </a:pPr>
            <a:r>
              <a:rPr lang="es" sz="2000"/>
              <a:t>Usuario responde: "Camisas rosadas para mujer".</a:t>
            </a:r>
            <a:endParaRPr sz="2000"/>
          </a:p>
          <a:p>
            <a:pPr indent="0" lvl="0" marL="457200" rtl="0" algn="l">
              <a:spcBef>
                <a:spcPts val="0"/>
              </a:spcBef>
              <a:spcAft>
                <a:spcPts val="0"/>
              </a:spcAft>
              <a:buNone/>
            </a:pPr>
            <a:r>
              <a:t/>
            </a:r>
            <a:endParaRPr sz="2000"/>
          </a:p>
          <a:p>
            <a:pPr indent="-355600" lvl="0" marL="457200" rtl="0" algn="l">
              <a:spcBef>
                <a:spcPts val="0"/>
              </a:spcBef>
              <a:spcAft>
                <a:spcPts val="0"/>
              </a:spcAft>
              <a:buSzPts val="2000"/>
              <a:buAutoNum type="arabicPeriod"/>
            </a:pPr>
            <a:r>
              <a:rPr lang="es" sz="2000"/>
              <a:t>AnalizadorConsulta (2da iteración) extrae: prenda="camisas", colores=["rosadas"], genero="femenino" + reutiliza contexto ocasion=trabajo.</a:t>
            </a:r>
            <a:endParaRPr sz="2000"/>
          </a:p>
          <a:p>
            <a:pPr indent="-355600" lvl="0" marL="457200" rtl="0" algn="l">
              <a:spcBef>
                <a:spcPts val="0"/>
              </a:spcBef>
              <a:spcAft>
                <a:spcPts val="0"/>
              </a:spcAft>
              <a:buSzPts val="2000"/>
              <a:buAutoNum type="arabicPeriod"/>
            </a:pPr>
            <a:r>
              <a:rPr lang="es" sz="2000"/>
              <a:t>RefinadorConsulta detecta mención explícita → marca info_suficiente=True.</a:t>
            </a:r>
            <a:endParaRPr sz="2000"/>
          </a:p>
          <a:p>
            <a:pPr indent="-355600" lvl="0" marL="457200" rtl="0" algn="l">
              <a:spcBef>
                <a:spcPts val="0"/>
              </a:spcBef>
              <a:spcAft>
                <a:spcPts val="0"/>
              </a:spcAft>
              <a:buSzPts val="2000"/>
              <a:buAutoNum type="arabicPeriod"/>
            </a:pPr>
            <a:r>
              <a:rPr lang="es" sz="2000"/>
              <a:t>BuscadorEmbeddings ejecuta búsqueda híbrida con filtros: categoría=Camisas, género=Dama, colores=rosado → recupera 8 productos.</a:t>
            </a:r>
            <a:endParaRPr sz="2000"/>
          </a:p>
          <a:p>
            <a:pPr indent="-355600" lvl="0" marL="457200" rtl="0" algn="l">
              <a:spcBef>
                <a:spcPts val="0"/>
              </a:spcBef>
              <a:spcAft>
                <a:spcPts val="0"/>
              </a:spcAft>
              <a:buSzPts val="2000"/>
              <a:buAutoNum type="arabicPeriod"/>
            </a:pPr>
            <a:r>
              <a:rPr lang="es" sz="2000"/>
              <a:t>PresentadorResultados re-rankea priorizando color rosa + contexto formal → responde: "🎉¡Tengo 8 camisas rosadas para vos! 👇"</a:t>
            </a:r>
            <a:endParaRPr sz="2000"/>
          </a:p>
          <a:p>
            <a:pPr indent="0" lvl="0" marL="0" rtl="0" algn="l">
              <a:spcBef>
                <a:spcPts val="0"/>
              </a:spcBef>
              <a:spcAft>
                <a:spcPts val="0"/>
              </a:spcAft>
              <a:buClr>
                <a:schemeClr val="dk1"/>
              </a:buClr>
              <a:buSzPts val="1100"/>
              <a:buFont typeface="Arial"/>
              <a:buNone/>
            </a:pPr>
            <a:r>
              <a:t/>
            </a:r>
            <a:endParaRPr sz="2000"/>
          </a:p>
          <a:p>
            <a:pPr indent="0" lvl="0" marL="0" rtl="0" algn="l">
              <a:spcBef>
                <a:spcPts val="0"/>
              </a:spcBef>
              <a:spcAft>
                <a:spcPts val="0"/>
              </a:spcAft>
              <a:buClr>
                <a:schemeClr val="dk1"/>
              </a:buClr>
              <a:buSzPts val="1100"/>
              <a:buFont typeface="Arial"/>
              <a:buNone/>
            </a:pPr>
            <a:r>
              <a:rPr lang="es" sz="2000"/>
              <a:t>[Señalar ejemplo 3]</a:t>
            </a:r>
            <a:endParaRPr sz="2000"/>
          </a:p>
          <a:p>
            <a:pPr indent="0" lvl="0" marL="0" rtl="0" algn="l">
              <a:spcBef>
                <a:spcPts val="0"/>
              </a:spcBef>
              <a:spcAft>
                <a:spcPts val="0"/>
              </a:spcAft>
              <a:buClr>
                <a:schemeClr val="dk1"/>
              </a:buClr>
              <a:buSzPts val="1100"/>
              <a:buFont typeface="Arial"/>
              <a:buNone/>
            </a:pPr>
            <a:r>
              <a:t/>
            </a:r>
            <a:endParaRPr sz="2000"/>
          </a:p>
          <a:p>
            <a:pPr indent="0" lvl="0" marL="0" rtl="0" algn="l">
              <a:spcBef>
                <a:spcPts val="0"/>
              </a:spcBef>
              <a:spcAft>
                <a:spcPts val="0"/>
              </a:spcAft>
              <a:buClr>
                <a:schemeClr val="dk1"/>
              </a:buClr>
              <a:buSzPts val="1100"/>
              <a:buFont typeface="Arial"/>
              <a:buNone/>
            </a:pPr>
            <a:r>
              <a:rPr lang="es" sz="2000"/>
              <a:t>"Ejemplo 3: Consulta en inglés. El usuario escribe 'men's blue jeans'. El sistema:"</a:t>
            </a:r>
            <a:endParaRPr sz="2000"/>
          </a:p>
          <a:p>
            <a:pPr indent="0" lvl="0" marL="0" rtl="0" algn="l">
              <a:spcBef>
                <a:spcPts val="0"/>
              </a:spcBef>
              <a:spcAft>
                <a:spcPts val="0"/>
              </a:spcAft>
              <a:buClr>
                <a:schemeClr val="dk1"/>
              </a:buClr>
              <a:buSzPts val="1100"/>
              <a:buFont typeface="Arial"/>
              <a:buNone/>
            </a:pPr>
            <a:r>
              <a:t/>
            </a:r>
            <a:endParaRPr sz="2000"/>
          </a:p>
          <a:p>
            <a:pPr indent="0" lvl="0" marL="0" rtl="0" algn="l">
              <a:spcBef>
                <a:spcPts val="0"/>
              </a:spcBef>
              <a:spcAft>
                <a:spcPts val="0"/>
              </a:spcAft>
              <a:buClr>
                <a:schemeClr val="dk1"/>
              </a:buClr>
              <a:buSzPts val="1100"/>
              <a:buFont typeface="Arial"/>
              <a:buNone/>
            </a:pPr>
            <a:r>
              <a:rPr lang="es" sz="2000"/>
              <a:t>1. "Detecta automáticamente"</a:t>
            </a:r>
            <a:endParaRPr sz="2000"/>
          </a:p>
          <a:p>
            <a:pPr indent="0" lvl="0" marL="0" rtl="0" algn="l">
              <a:spcBef>
                <a:spcPts val="0"/>
              </a:spcBef>
              <a:spcAft>
                <a:spcPts val="0"/>
              </a:spcAft>
              <a:buClr>
                <a:schemeClr val="dk1"/>
              </a:buClr>
              <a:buSzPts val="1100"/>
              <a:buFont typeface="Arial"/>
              <a:buNone/>
            </a:pPr>
            <a:r>
              <a:rPr lang="es" sz="2000"/>
              <a:t>2. "Usa el embedding bilingüe EN sin traducir"</a:t>
            </a:r>
            <a:endParaRPr sz="2000"/>
          </a:p>
          <a:p>
            <a:pPr indent="0" lvl="0" marL="0" rtl="0" algn="l">
              <a:spcBef>
                <a:spcPts val="0"/>
              </a:spcBef>
              <a:spcAft>
                <a:spcPts val="0"/>
              </a:spcAft>
              <a:buClr>
                <a:schemeClr val="dk1"/>
              </a:buClr>
              <a:buSzPts val="1100"/>
              <a:buFont typeface="Arial"/>
              <a:buNone/>
            </a:pPr>
            <a:r>
              <a:rPr lang="es" sz="2000"/>
              <a:t>3. "Busca pantalón jean para hombre"</a:t>
            </a:r>
            <a:endParaRPr sz="2000"/>
          </a:p>
          <a:p>
            <a:pPr indent="0" lvl="0" marL="0" rtl="0" algn="l">
              <a:spcBef>
                <a:spcPts val="0"/>
              </a:spcBef>
              <a:spcAft>
                <a:spcPts val="0"/>
              </a:spcAft>
              <a:buClr>
                <a:schemeClr val="dk1"/>
              </a:buClr>
              <a:buSzPts val="1100"/>
              <a:buFont typeface="Arial"/>
              <a:buNone/>
            </a:pPr>
            <a:r>
              <a:rPr lang="es" sz="2000"/>
              <a:t>4. "Responde: </a:t>
            </a:r>
            <a:r>
              <a:rPr lang="es" sz="2000">
                <a:solidFill>
                  <a:schemeClr val="dk1"/>
                </a:solidFill>
              </a:rPr>
              <a:t>🎉 </a:t>
            </a:r>
            <a:r>
              <a:rPr b="1" lang="es" sz="2000">
                <a:solidFill>
                  <a:schemeClr val="dk1"/>
                </a:solidFill>
              </a:rPr>
              <a:t>I've found 8 pairs of men's blue jeans for you!</a:t>
            </a:r>
            <a:r>
              <a:rPr lang="es" sz="2000"/>
              <a:t>"</a:t>
            </a:r>
            <a:endParaRPr sz="2000"/>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3a3bb7d03df_0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3a3bb7d03df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2400"/>
              <a:t>90 Seg.</a:t>
            </a:r>
            <a:endParaRPr sz="2400"/>
          </a:p>
          <a:p>
            <a:pPr indent="0" lvl="0" marL="0" rtl="0" algn="l">
              <a:spcBef>
                <a:spcPts val="0"/>
              </a:spcBef>
              <a:spcAft>
                <a:spcPts val="0"/>
              </a:spcAft>
              <a:buClr>
                <a:schemeClr val="dk1"/>
              </a:buClr>
              <a:buSzPts val="1100"/>
              <a:buFont typeface="Arial"/>
              <a:buNone/>
            </a:pPr>
            <a:r>
              <a:rPr lang="es" sz="2400"/>
              <a:t>"Todo sistema tiene limitaciones y es importante reconocerlas. Identifico cinco limitaciones principales:"</a:t>
            </a:r>
            <a:endParaRPr sz="2400"/>
          </a:p>
          <a:p>
            <a:pPr indent="0" lvl="0" marL="0" rtl="0" algn="l">
              <a:spcBef>
                <a:spcPts val="0"/>
              </a:spcBef>
              <a:spcAft>
                <a:spcPts val="0"/>
              </a:spcAft>
              <a:buClr>
                <a:schemeClr val="dk1"/>
              </a:buClr>
              <a:buSzPts val="1100"/>
              <a:buFont typeface="Arial"/>
              <a:buNone/>
            </a:pPr>
            <a:r>
              <a:t/>
            </a:r>
            <a:endParaRPr sz="2400"/>
          </a:p>
          <a:p>
            <a:pPr indent="0" lvl="0" marL="0" rtl="0" algn="l">
              <a:spcBef>
                <a:spcPts val="0"/>
              </a:spcBef>
              <a:spcAft>
                <a:spcPts val="0"/>
              </a:spcAft>
              <a:buClr>
                <a:schemeClr val="dk1"/>
              </a:buClr>
              <a:buSzPts val="1100"/>
              <a:buFont typeface="Arial"/>
              <a:buNone/>
            </a:pPr>
            <a:r>
              <a:rPr lang="es" sz="2400"/>
              <a:t>"Primero, el dataset. Solo 764 tenían imágenes válidas y utilizables y además hay un desbalanceo significtivo en la cantidad de prendas.”</a:t>
            </a:r>
            <a:endParaRPr sz="2400"/>
          </a:p>
          <a:p>
            <a:pPr indent="0" lvl="0" marL="0" rtl="0" algn="l">
              <a:spcBef>
                <a:spcPts val="0"/>
              </a:spcBef>
              <a:spcAft>
                <a:spcPts val="0"/>
              </a:spcAft>
              <a:buClr>
                <a:schemeClr val="dk1"/>
              </a:buClr>
              <a:buSzPts val="1100"/>
              <a:buFont typeface="Arial"/>
              <a:buNone/>
            </a:pPr>
            <a:r>
              <a:rPr lang="es" sz="2400"/>
              <a:t>"Segundo, el color. No se entrenó un modelo específico de clasificación de color porque las etiquetas originales eran extremadamente inconsistentes."</a:t>
            </a:r>
            <a:endParaRPr sz="2400"/>
          </a:p>
          <a:p>
            <a:pPr indent="0" lvl="0" marL="0" rtl="0" algn="l">
              <a:spcBef>
                <a:spcPts val="0"/>
              </a:spcBef>
              <a:spcAft>
                <a:spcPts val="0"/>
              </a:spcAft>
              <a:buClr>
                <a:schemeClr val="dk1"/>
              </a:buClr>
              <a:buSzPts val="1100"/>
              <a:buFont typeface="Arial"/>
              <a:buNone/>
            </a:pPr>
            <a:r>
              <a:t/>
            </a:r>
            <a:endParaRPr sz="2400"/>
          </a:p>
          <a:p>
            <a:pPr indent="0" lvl="0" marL="0" rtl="0" algn="l">
              <a:spcBef>
                <a:spcPts val="0"/>
              </a:spcBef>
              <a:spcAft>
                <a:spcPts val="0"/>
              </a:spcAft>
              <a:buClr>
                <a:schemeClr val="dk1"/>
              </a:buClr>
              <a:buSzPts val="1100"/>
              <a:buFont typeface="Arial"/>
              <a:buNone/>
            </a:pPr>
            <a:r>
              <a:rPr lang="es" sz="2400"/>
              <a:t>"Tercero, los embeddings de imagen. Contienen mucho ruido contextual: fondos de estudio, posturas de la modelo, otras prendas en la misma foto. Esto dificulta su uso directo para clasificación supervisada. Por eso decidí usar solo los embeddings de texto bilingüe para CatBoost, que son más limpios y consistentes."</a:t>
            </a:r>
            <a:endParaRPr sz="2400"/>
          </a:p>
          <a:p>
            <a:pPr indent="0" lvl="0" marL="0" rtl="0" algn="l">
              <a:spcBef>
                <a:spcPts val="0"/>
              </a:spcBef>
              <a:spcAft>
                <a:spcPts val="0"/>
              </a:spcAft>
              <a:buClr>
                <a:schemeClr val="dk1"/>
              </a:buClr>
              <a:buSzPts val="1100"/>
              <a:buFont typeface="Arial"/>
              <a:buNone/>
            </a:pPr>
            <a:r>
              <a:t/>
            </a:r>
            <a:endParaRPr sz="2400"/>
          </a:p>
          <a:p>
            <a:pPr indent="0" lvl="0" marL="0" rtl="0" algn="l">
              <a:spcBef>
                <a:spcPts val="0"/>
              </a:spcBef>
              <a:spcAft>
                <a:spcPts val="0"/>
              </a:spcAft>
              <a:buClr>
                <a:schemeClr val="dk1"/>
              </a:buClr>
              <a:buSzPts val="1100"/>
              <a:buFont typeface="Arial"/>
              <a:buNone/>
            </a:pPr>
            <a:r>
              <a:rPr lang="es" sz="2400"/>
              <a:t>"Cuarto, la arquitectura. Hay una fuerte dependencia de LLMs externos, lo que implica costos operacionales continuos y preocupaciones de privacidad.. El modo fallback basado en reglas es funcional pero limitado: no puede entender matices complejos."</a:t>
            </a:r>
            <a:endParaRPr sz="2400"/>
          </a:p>
          <a:p>
            <a:pPr indent="0" lvl="0" marL="0" rtl="0" algn="l">
              <a:spcBef>
                <a:spcPts val="0"/>
              </a:spcBef>
              <a:spcAft>
                <a:spcPts val="0"/>
              </a:spcAft>
              <a:buClr>
                <a:schemeClr val="dk1"/>
              </a:buClr>
              <a:buSzPts val="1100"/>
              <a:buFont typeface="Arial"/>
              <a:buNone/>
            </a:pPr>
            <a:r>
              <a:t/>
            </a:r>
            <a:endParaRPr sz="2400"/>
          </a:p>
          <a:p>
            <a:pPr indent="0" lvl="0" marL="0" rtl="0" algn="l">
              <a:spcBef>
                <a:spcPts val="0"/>
              </a:spcBef>
              <a:spcAft>
                <a:spcPts val="0"/>
              </a:spcAft>
              <a:buNone/>
            </a:pPr>
            <a:r>
              <a:rPr lang="es" sz="2400"/>
              <a:t>"Quinto, personalización. El sistema no considera aún contexto temporal como la estación del año (verano vs invierno) ni características del usuario como edad o preferencias de estilo previas."</a:t>
            </a:r>
            <a:endParaRPr sz="2400"/>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3865867f9cc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3865867f9cc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2400"/>
              <a:t>120 Seg.</a:t>
            </a:r>
            <a:endParaRPr sz="2400"/>
          </a:p>
          <a:p>
            <a:pPr indent="0" lvl="0" marL="0" rtl="0" algn="l">
              <a:spcBef>
                <a:spcPts val="0"/>
              </a:spcBef>
              <a:spcAft>
                <a:spcPts val="0"/>
              </a:spcAft>
              <a:buClr>
                <a:schemeClr val="dk1"/>
              </a:buClr>
              <a:buSzPts val="1100"/>
              <a:buFont typeface="Arial"/>
              <a:buNone/>
            </a:pPr>
            <a:r>
              <a:rPr b="1" lang="es" sz="1500">
                <a:solidFill>
                  <a:srgbClr val="0B5394"/>
                </a:solidFill>
              </a:rPr>
              <a:t>Conclusiones:</a:t>
            </a:r>
            <a:endParaRPr b="1" sz="1500">
              <a:solidFill>
                <a:srgbClr val="0B5394"/>
              </a:solidFill>
            </a:endParaRPr>
          </a:p>
          <a:p>
            <a:pPr indent="0" lvl="0" marL="0" rtl="0" algn="l">
              <a:spcBef>
                <a:spcPts val="0"/>
              </a:spcBef>
              <a:spcAft>
                <a:spcPts val="0"/>
              </a:spcAft>
              <a:buClr>
                <a:schemeClr val="dk1"/>
              </a:buClr>
              <a:buSzPts val="1100"/>
              <a:buFont typeface="Arial"/>
              <a:buNone/>
            </a:pPr>
            <a:r>
              <a:t/>
            </a:r>
            <a:endParaRPr b="1" sz="1500">
              <a:solidFill>
                <a:srgbClr val="0B5394"/>
              </a:solidFill>
            </a:endParaRPr>
          </a:p>
          <a:p>
            <a:pPr indent="-323850" lvl="0" marL="457200" rtl="0" algn="l">
              <a:spcBef>
                <a:spcPts val="0"/>
              </a:spcBef>
              <a:spcAft>
                <a:spcPts val="0"/>
              </a:spcAft>
              <a:buClr>
                <a:srgbClr val="0B5394"/>
              </a:buClr>
              <a:buSzPts val="1500"/>
              <a:buAutoNum type="arabicPeriod"/>
            </a:pPr>
            <a:r>
              <a:rPr lang="es" sz="1500">
                <a:solidFill>
                  <a:srgbClr val="0B5394"/>
                </a:solidFill>
              </a:rPr>
              <a:t>Se logró estandarizar exitosamente 31 taxonomías de tiendas.</a:t>
            </a:r>
            <a:endParaRPr sz="1500">
              <a:solidFill>
                <a:srgbClr val="0B5394"/>
              </a:solidFill>
            </a:endParaRPr>
          </a:p>
          <a:p>
            <a:pPr indent="0" lvl="0" marL="914400" rtl="0" algn="l">
              <a:spcBef>
                <a:spcPts val="0"/>
              </a:spcBef>
              <a:spcAft>
                <a:spcPts val="0"/>
              </a:spcAft>
              <a:buClr>
                <a:schemeClr val="dk1"/>
              </a:buClr>
              <a:buSzPts val="1100"/>
              <a:buFont typeface="Arial"/>
              <a:buNone/>
            </a:pPr>
            <a:r>
              <a:t/>
            </a:r>
            <a:endParaRPr sz="1500">
              <a:solidFill>
                <a:srgbClr val="0B5394"/>
              </a:solidFill>
            </a:endParaRPr>
          </a:p>
          <a:p>
            <a:pPr indent="-323850" lvl="0" marL="457200" rtl="0" algn="l">
              <a:spcBef>
                <a:spcPts val="0"/>
              </a:spcBef>
              <a:spcAft>
                <a:spcPts val="0"/>
              </a:spcAft>
              <a:buClr>
                <a:srgbClr val="0B5394"/>
              </a:buClr>
              <a:buSzPts val="1500"/>
              <a:buAutoNum type="arabicPeriod"/>
            </a:pPr>
            <a:r>
              <a:rPr lang="es" sz="1500">
                <a:solidFill>
                  <a:srgbClr val="0B5394"/>
                </a:solidFill>
              </a:rPr>
              <a:t>Los modelos CatBoost entrenados alcanzaron F1-score de 85% en categoría y 92% en género.</a:t>
            </a:r>
            <a:endParaRPr sz="1500">
              <a:solidFill>
                <a:srgbClr val="0B5394"/>
              </a:solidFill>
            </a:endParaRPr>
          </a:p>
          <a:p>
            <a:pPr indent="0" lvl="0" marL="914400" rtl="0" algn="l">
              <a:spcBef>
                <a:spcPts val="0"/>
              </a:spcBef>
              <a:spcAft>
                <a:spcPts val="0"/>
              </a:spcAft>
              <a:buClr>
                <a:schemeClr val="dk1"/>
              </a:buClr>
              <a:buSzPts val="1100"/>
              <a:buFont typeface="Arial"/>
              <a:buNone/>
            </a:pPr>
            <a:r>
              <a:t/>
            </a:r>
            <a:endParaRPr sz="1500">
              <a:solidFill>
                <a:srgbClr val="0B5394"/>
              </a:solidFill>
            </a:endParaRPr>
          </a:p>
          <a:p>
            <a:pPr indent="-323850" lvl="0" marL="457200" rtl="0" algn="l">
              <a:spcBef>
                <a:spcPts val="0"/>
              </a:spcBef>
              <a:spcAft>
                <a:spcPts val="0"/>
              </a:spcAft>
              <a:buClr>
                <a:srgbClr val="0B5394"/>
              </a:buClr>
              <a:buSzPts val="1500"/>
              <a:buAutoNum type="arabicPeriod"/>
            </a:pPr>
            <a:r>
              <a:rPr lang="es" sz="1500">
                <a:solidFill>
                  <a:srgbClr val="0B5394"/>
                </a:solidFill>
              </a:rPr>
              <a:t>La búsqueda vectorial con pgvector demostró ser eficiente para catálogos de tamaño medio.</a:t>
            </a:r>
            <a:endParaRPr sz="1500">
              <a:solidFill>
                <a:srgbClr val="0B5394"/>
              </a:solidFill>
            </a:endParaRPr>
          </a:p>
          <a:p>
            <a:pPr indent="0" lvl="0" marL="914400" rtl="0" algn="l">
              <a:spcBef>
                <a:spcPts val="0"/>
              </a:spcBef>
              <a:spcAft>
                <a:spcPts val="0"/>
              </a:spcAft>
              <a:buClr>
                <a:schemeClr val="dk1"/>
              </a:buClr>
              <a:buSzPts val="1100"/>
              <a:buFont typeface="Arial"/>
              <a:buNone/>
            </a:pPr>
            <a:r>
              <a:t/>
            </a:r>
            <a:endParaRPr sz="1500">
              <a:solidFill>
                <a:srgbClr val="0B5394"/>
              </a:solidFill>
            </a:endParaRPr>
          </a:p>
          <a:p>
            <a:pPr indent="-323850" lvl="0" marL="457200" rtl="0" algn="l">
              <a:spcBef>
                <a:spcPts val="0"/>
              </a:spcBef>
              <a:spcAft>
                <a:spcPts val="0"/>
              </a:spcAft>
              <a:buClr>
                <a:srgbClr val="0B5394"/>
              </a:buClr>
              <a:buSzPts val="1500"/>
              <a:buAutoNum type="arabicPeriod"/>
            </a:pPr>
            <a:r>
              <a:rPr lang="es" sz="1500">
                <a:solidFill>
                  <a:srgbClr val="0B5394"/>
                </a:solidFill>
              </a:rPr>
              <a:t>La arquitectura multiagente con 8 agentes especializados y coordinador inteligente permite procesar consultas de diferente complejidad de forma escalonada.</a:t>
            </a:r>
            <a:endParaRPr sz="2400"/>
          </a:p>
          <a:p>
            <a:pPr indent="0" lvl="0" marL="0" rtl="0" algn="l">
              <a:spcBef>
                <a:spcPts val="0"/>
              </a:spcBef>
              <a:spcAft>
                <a:spcPts val="0"/>
              </a:spcAft>
              <a:buClr>
                <a:schemeClr val="dk1"/>
              </a:buClr>
              <a:buSzPts val="1100"/>
              <a:buFont typeface="Arial"/>
              <a:buNone/>
            </a:pPr>
            <a:r>
              <a:t/>
            </a:r>
            <a:endParaRPr sz="2400"/>
          </a:p>
          <a:p>
            <a:pPr indent="0" lvl="0" marL="0" rtl="0" algn="l">
              <a:spcBef>
                <a:spcPts val="0"/>
              </a:spcBef>
              <a:spcAft>
                <a:spcPts val="0"/>
              </a:spcAft>
              <a:buClr>
                <a:schemeClr val="dk1"/>
              </a:buClr>
              <a:buSzPts val="1100"/>
              <a:buFont typeface="Arial"/>
              <a:buNone/>
            </a:pPr>
            <a:r>
              <a:rPr b="1" lang="es" sz="1500">
                <a:solidFill>
                  <a:srgbClr val="595959"/>
                </a:solidFill>
              </a:rPr>
              <a:t>Trabajo Futuro:</a:t>
            </a:r>
            <a:endParaRPr b="1" sz="1500">
              <a:solidFill>
                <a:srgbClr val="595959"/>
              </a:solidFill>
            </a:endParaRPr>
          </a:p>
          <a:p>
            <a:pPr indent="0" lvl="0" marL="0" rtl="0" algn="l">
              <a:spcBef>
                <a:spcPts val="0"/>
              </a:spcBef>
              <a:spcAft>
                <a:spcPts val="0"/>
              </a:spcAft>
              <a:buClr>
                <a:schemeClr val="dk1"/>
              </a:buClr>
              <a:buSzPts val="1100"/>
              <a:buFont typeface="Arial"/>
              <a:buNone/>
            </a:pPr>
            <a:r>
              <a:t/>
            </a:r>
            <a:endParaRPr b="1" sz="1500">
              <a:solidFill>
                <a:srgbClr val="595959"/>
              </a:solidFill>
            </a:endParaRPr>
          </a:p>
          <a:p>
            <a:pPr indent="-323850" lvl="0" marL="457200" rtl="0" algn="l">
              <a:spcBef>
                <a:spcPts val="0"/>
              </a:spcBef>
              <a:spcAft>
                <a:spcPts val="0"/>
              </a:spcAft>
              <a:buClr>
                <a:srgbClr val="595959"/>
              </a:buClr>
              <a:buSzPts val="1500"/>
              <a:buAutoNum type="arabicPeriod"/>
            </a:pPr>
            <a:r>
              <a:rPr lang="es" sz="1500">
                <a:solidFill>
                  <a:srgbClr val="595959"/>
                </a:solidFill>
              </a:rPr>
              <a:t>Ampliar el dataset a al menos 5,000 productos. </a:t>
            </a:r>
            <a:endParaRPr sz="1500">
              <a:solidFill>
                <a:srgbClr val="595959"/>
              </a:solidFill>
            </a:endParaRPr>
          </a:p>
          <a:p>
            <a:pPr indent="-323850" lvl="0" marL="457200" rtl="0" algn="l">
              <a:spcBef>
                <a:spcPts val="0"/>
              </a:spcBef>
              <a:spcAft>
                <a:spcPts val="0"/>
              </a:spcAft>
              <a:buClr>
                <a:srgbClr val="595959"/>
              </a:buClr>
              <a:buSzPts val="1500"/>
              <a:buAutoNum type="arabicPeriod"/>
            </a:pPr>
            <a:r>
              <a:rPr lang="es" sz="1500">
                <a:solidFill>
                  <a:srgbClr val="595959"/>
                </a:solidFill>
              </a:rPr>
              <a:t>Implementar A/B testing con usuarios reales.</a:t>
            </a:r>
            <a:endParaRPr sz="1500">
              <a:solidFill>
                <a:srgbClr val="595959"/>
              </a:solidFill>
            </a:endParaRPr>
          </a:p>
          <a:p>
            <a:pPr indent="-323850" lvl="0" marL="457200" rtl="0" algn="l">
              <a:spcBef>
                <a:spcPts val="0"/>
              </a:spcBef>
              <a:spcAft>
                <a:spcPts val="0"/>
              </a:spcAft>
              <a:buClr>
                <a:srgbClr val="595959"/>
              </a:buClr>
              <a:buSzPts val="1500"/>
              <a:buAutoNum type="arabicPeriod"/>
            </a:pPr>
            <a:r>
              <a:rPr lang="es" sz="1500">
                <a:solidFill>
                  <a:srgbClr val="595959"/>
                </a:solidFill>
              </a:rPr>
              <a:t>Incorporar contexto temporal y personal.</a:t>
            </a:r>
            <a:endParaRPr sz="1500">
              <a:solidFill>
                <a:srgbClr val="595959"/>
              </a:solidFill>
            </a:endParaRPr>
          </a:p>
          <a:p>
            <a:pPr indent="-323850" lvl="0" marL="457200" rtl="0" algn="l">
              <a:spcBef>
                <a:spcPts val="0"/>
              </a:spcBef>
              <a:spcAft>
                <a:spcPts val="0"/>
              </a:spcAft>
              <a:buClr>
                <a:srgbClr val="595959"/>
              </a:buClr>
              <a:buSzPts val="1500"/>
              <a:buAutoNum type="arabicPeriod"/>
            </a:pPr>
            <a:r>
              <a:rPr lang="es" sz="1500">
                <a:solidFill>
                  <a:srgbClr val="595959"/>
                </a:solidFill>
              </a:rPr>
              <a:t>Agregar perfil de usuario con preferencias de estilo.</a:t>
            </a:r>
            <a:endParaRPr sz="1500">
              <a:solidFill>
                <a:srgbClr val="595959"/>
              </a:solidFill>
            </a:endParaRPr>
          </a:p>
          <a:p>
            <a:pPr indent="-323850" lvl="0" marL="457200" rtl="0" algn="l">
              <a:spcBef>
                <a:spcPts val="0"/>
              </a:spcBef>
              <a:spcAft>
                <a:spcPts val="0"/>
              </a:spcAft>
              <a:buClr>
                <a:srgbClr val="595959"/>
              </a:buClr>
              <a:buSzPts val="1500"/>
              <a:buAutoNum type="arabicPeriod"/>
            </a:pPr>
            <a:r>
              <a:rPr lang="es" sz="1500">
                <a:solidFill>
                  <a:srgbClr val="595959"/>
                </a:solidFill>
              </a:rPr>
              <a:t>Integrar con APIs de tiendas</a:t>
            </a:r>
            <a:endParaRPr sz="1500">
              <a:solidFill>
                <a:srgbClr val="595959"/>
              </a:solidFill>
            </a:endParaRPr>
          </a:p>
          <a:p>
            <a:pPr indent="-323850" lvl="0" marL="457200" rtl="0" algn="l">
              <a:spcBef>
                <a:spcPts val="0"/>
              </a:spcBef>
              <a:spcAft>
                <a:spcPts val="0"/>
              </a:spcAft>
              <a:buClr>
                <a:srgbClr val="595959"/>
              </a:buClr>
              <a:buSzPts val="1500"/>
              <a:buAutoNum type="arabicPeriod"/>
            </a:pPr>
            <a:r>
              <a:rPr lang="es" sz="1500">
                <a:solidFill>
                  <a:srgbClr val="595959"/>
                </a:solidFill>
              </a:rPr>
              <a:t>Explorar índices HNSW.</a:t>
            </a:r>
            <a:endParaRPr sz="1500">
              <a:solidFill>
                <a:srgbClr val="595959"/>
              </a:solidFill>
            </a:endParaRPr>
          </a:p>
          <a:p>
            <a:pPr indent="-323850" lvl="0" marL="457200" rtl="0" algn="l">
              <a:spcBef>
                <a:spcPts val="0"/>
              </a:spcBef>
              <a:spcAft>
                <a:spcPts val="0"/>
              </a:spcAft>
              <a:buClr>
                <a:srgbClr val="595959"/>
              </a:buClr>
              <a:buSzPts val="1500"/>
              <a:buAutoNum type="arabicPeriod"/>
            </a:pPr>
            <a:r>
              <a:rPr lang="es" sz="1500">
                <a:solidFill>
                  <a:srgbClr val="595959"/>
                </a:solidFill>
              </a:rPr>
              <a:t>Extender el EspecialistaOutfits para generación automática de outfits completos.</a:t>
            </a:r>
            <a:endParaRPr sz="1500">
              <a:solidFill>
                <a:srgbClr val="595959"/>
              </a:solidFill>
            </a:endParaRPr>
          </a:p>
          <a:p>
            <a:pPr indent="-323850" lvl="0" marL="457200" rtl="0" algn="l">
              <a:spcBef>
                <a:spcPts val="0"/>
              </a:spcBef>
              <a:spcAft>
                <a:spcPts val="0"/>
              </a:spcAft>
              <a:buClr>
                <a:srgbClr val="595959"/>
              </a:buClr>
              <a:buSzPts val="1500"/>
              <a:buAutoNum type="arabicPeriod"/>
            </a:pPr>
            <a:r>
              <a:rPr lang="es" sz="1500">
                <a:solidFill>
                  <a:srgbClr val="595959"/>
                </a:solidFill>
              </a:rPr>
              <a:t>Evaluar modelos locales.</a:t>
            </a:r>
            <a:endParaRPr sz="1500">
              <a:solidFill>
                <a:srgbClr val="595959"/>
              </a:solidFill>
            </a:endParaRPr>
          </a:p>
          <a:p>
            <a:pPr indent="-323850" lvl="0" marL="457200" rtl="0" algn="l">
              <a:spcBef>
                <a:spcPts val="0"/>
              </a:spcBef>
              <a:spcAft>
                <a:spcPts val="0"/>
              </a:spcAft>
              <a:buClr>
                <a:srgbClr val="595959"/>
              </a:buClr>
              <a:buSzPts val="1500"/>
              <a:buAutoNum type="arabicPeriod"/>
            </a:pPr>
            <a:r>
              <a:rPr lang="es" sz="1500">
                <a:solidFill>
                  <a:srgbClr val="595959"/>
                </a:solidFill>
              </a:rPr>
              <a:t>Realizar fine-tuning de embeddings con datos propios.</a:t>
            </a:r>
            <a:endParaRPr sz="1500">
              <a:solidFill>
                <a:srgbClr val="595959"/>
              </a:solidFill>
            </a:endParaRPr>
          </a:p>
          <a:p>
            <a:pPr indent="-323850" lvl="0" marL="457200" rtl="0" algn="l">
              <a:spcBef>
                <a:spcPts val="0"/>
              </a:spcBef>
              <a:spcAft>
                <a:spcPts val="0"/>
              </a:spcAft>
              <a:buClr>
                <a:srgbClr val="595959"/>
              </a:buClr>
              <a:buSzPts val="1500"/>
              <a:buAutoNum type="arabicPeriod"/>
            </a:pPr>
            <a:r>
              <a:rPr lang="es" sz="1500">
                <a:solidFill>
                  <a:srgbClr val="595959"/>
                </a:solidFill>
              </a:rPr>
              <a:t>Desarrollar un sistema de feedback explícito</a:t>
            </a:r>
            <a:endParaRPr sz="2400"/>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3865867f9cc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3865867f9cc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2400"/>
              <a:t>30 Seg.</a:t>
            </a:r>
            <a:endParaRPr sz="2400"/>
          </a:p>
          <a:p>
            <a:pPr indent="0" lvl="0" marL="0" rtl="0" algn="l">
              <a:spcBef>
                <a:spcPts val="0"/>
              </a:spcBef>
              <a:spcAft>
                <a:spcPts val="0"/>
              </a:spcAft>
              <a:buClr>
                <a:schemeClr val="dk1"/>
              </a:buClr>
              <a:buSzPts val="1100"/>
              <a:buFont typeface="Arial"/>
              <a:buNone/>
            </a:pPr>
            <a:r>
              <a:rPr lang="es" sz="2400"/>
              <a:t>"Para finalizar, quiero agradecer a varias personas e instituciones que hicieron posible este trabajo:"</a:t>
            </a:r>
            <a:endParaRPr sz="2400"/>
          </a:p>
          <a:p>
            <a:pPr indent="0" lvl="0" marL="0" rtl="0" algn="l">
              <a:spcBef>
                <a:spcPts val="0"/>
              </a:spcBef>
              <a:spcAft>
                <a:spcPts val="0"/>
              </a:spcAft>
              <a:buClr>
                <a:schemeClr val="dk1"/>
              </a:buClr>
              <a:buSzPts val="1100"/>
              <a:buFont typeface="Arial"/>
              <a:buNone/>
            </a:pPr>
            <a:r>
              <a:t/>
            </a:r>
            <a:endParaRPr sz="2400"/>
          </a:p>
          <a:p>
            <a:pPr indent="0" lvl="0" marL="0" rtl="0" algn="l">
              <a:spcBef>
                <a:spcPts val="0"/>
              </a:spcBef>
              <a:spcAft>
                <a:spcPts val="0"/>
              </a:spcAft>
              <a:buClr>
                <a:schemeClr val="dk1"/>
              </a:buClr>
              <a:buSzPts val="1100"/>
              <a:buFont typeface="Arial"/>
              <a:buNone/>
            </a:pPr>
            <a:r>
              <a:rPr lang="es" sz="2400"/>
              <a:t>"A mi tutor, el Lic. Martín Fernández, por su orientación académica constante y su visión estratégica del proyecto."</a:t>
            </a:r>
            <a:endParaRPr sz="2400"/>
          </a:p>
          <a:p>
            <a:pPr indent="0" lvl="0" marL="0" rtl="0" algn="l">
              <a:spcBef>
                <a:spcPts val="0"/>
              </a:spcBef>
              <a:spcAft>
                <a:spcPts val="0"/>
              </a:spcAft>
              <a:buClr>
                <a:schemeClr val="dk1"/>
              </a:buClr>
              <a:buSzPts val="1100"/>
              <a:buFont typeface="Arial"/>
              <a:buNone/>
            </a:pPr>
            <a:r>
              <a:t/>
            </a:r>
            <a:endParaRPr sz="2400"/>
          </a:p>
          <a:p>
            <a:pPr indent="0" lvl="0" marL="0" rtl="0" algn="l">
              <a:spcBef>
                <a:spcPts val="0"/>
              </a:spcBef>
              <a:spcAft>
                <a:spcPts val="0"/>
              </a:spcAft>
              <a:buClr>
                <a:schemeClr val="dk1"/>
              </a:buClr>
              <a:buSzPts val="1100"/>
              <a:buFont typeface="Arial"/>
              <a:buNone/>
            </a:pPr>
            <a:r>
              <a:rPr lang="es" sz="2400"/>
              <a:t>"A Styles Designer, que me proporcionó acceso a datos reales y contexto de negocio del sector e-commerce de moda en Uruguay."</a:t>
            </a:r>
            <a:endParaRPr sz="2400"/>
          </a:p>
          <a:p>
            <a:pPr indent="0" lvl="0" marL="0" rtl="0" algn="l">
              <a:spcBef>
                <a:spcPts val="0"/>
              </a:spcBef>
              <a:spcAft>
                <a:spcPts val="0"/>
              </a:spcAft>
              <a:buClr>
                <a:schemeClr val="dk1"/>
              </a:buClr>
              <a:buSzPts val="1100"/>
              <a:buFont typeface="Arial"/>
              <a:buNone/>
            </a:pPr>
            <a:r>
              <a:t/>
            </a:r>
            <a:endParaRPr sz="2400"/>
          </a:p>
          <a:p>
            <a:pPr indent="0" lvl="0" marL="0" rtl="0" algn="l">
              <a:spcBef>
                <a:spcPts val="0"/>
              </a:spcBef>
              <a:spcAft>
                <a:spcPts val="0"/>
              </a:spcAft>
              <a:buClr>
                <a:schemeClr val="dk1"/>
              </a:buClr>
              <a:buSzPts val="1100"/>
              <a:buFont typeface="Arial"/>
              <a:buNone/>
            </a:pPr>
            <a:r>
              <a:rPr lang="es" sz="2400"/>
              <a:t>"A UTEC y al Tecnológico de Monterrey por la formación integral en Ciencia de Datos e Inteligencia Artificial a lo largo de este diploma."</a:t>
            </a:r>
            <a:endParaRPr sz="2400"/>
          </a:p>
          <a:p>
            <a:pPr indent="0" lvl="0" marL="0" rtl="0" algn="l">
              <a:spcBef>
                <a:spcPts val="0"/>
              </a:spcBef>
              <a:spcAft>
                <a:spcPts val="0"/>
              </a:spcAft>
              <a:buClr>
                <a:schemeClr val="dk1"/>
              </a:buClr>
              <a:buSzPts val="1100"/>
              <a:buFont typeface="Arial"/>
              <a:buNone/>
            </a:pPr>
            <a:r>
              <a:t/>
            </a:r>
            <a:endParaRPr sz="2400"/>
          </a:p>
          <a:p>
            <a:pPr indent="0" lvl="0" marL="0" rtl="0" algn="l">
              <a:spcBef>
                <a:spcPts val="0"/>
              </a:spcBef>
              <a:spcAft>
                <a:spcPts val="0"/>
              </a:spcAft>
              <a:buClr>
                <a:schemeClr val="dk1"/>
              </a:buClr>
              <a:buSzPts val="1100"/>
              <a:buFont typeface="Arial"/>
              <a:buNone/>
            </a:pPr>
            <a:r>
              <a:rPr lang="es" sz="2400"/>
              <a:t>"Y por supuesto, a mi familia y amigos por el apoyo incondicional durante estos meses intensos."</a:t>
            </a:r>
            <a:endParaRPr sz="2400"/>
          </a:p>
          <a:p>
            <a:pPr indent="0" lvl="0" marL="0" rtl="0" algn="l">
              <a:spcBef>
                <a:spcPts val="0"/>
              </a:spcBef>
              <a:spcAft>
                <a:spcPts val="0"/>
              </a:spcAft>
              <a:buClr>
                <a:schemeClr val="dk1"/>
              </a:buClr>
              <a:buSzPts val="1100"/>
              <a:buFont typeface="Arial"/>
              <a:buNone/>
            </a:pPr>
            <a:r>
              <a:t/>
            </a:r>
            <a:endParaRPr sz="2400"/>
          </a:p>
          <a:p>
            <a:pPr indent="0" lvl="0" marL="0" rtl="0" algn="l">
              <a:spcBef>
                <a:spcPts val="0"/>
              </a:spcBef>
              <a:spcAft>
                <a:spcPts val="0"/>
              </a:spcAft>
              <a:buNone/>
            </a:pPr>
            <a:r>
              <a:rPr lang="es" sz="2400"/>
              <a:t>"Muchas gracias por su atención."</a:t>
            </a:r>
            <a:endParaRPr sz="240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8.png"/><Relationship Id="rId4" Type="http://schemas.openxmlformats.org/officeDocument/2006/relationships/image" Target="../media/image20.png"/><Relationship Id="rId5" Type="http://schemas.openxmlformats.org/officeDocument/2006/relationships/image" Target="../media/image12.png"/><Relationship Id="rId6" Type="http://schemas.openxmlformats.org/officeDocument/2006/relationships/image" Target="../media/image7.png"/><Relationship Id="rId7" Type="http://schemas.openxmlformats.org/officeDocument/2006/relationships/image" Target="../media/image1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hyperlink" Target="https://scikit-learn.org/stable/modules/generated/sklearn.utils.class_weight.compute_class_weight.html" TargetMode="External"/><Relationship Id="rId4" Type="http://schemas.openxmlformats.org/officeDocument/2006/relationships/image" Target="../media/image5.png"/><Relationship Id="rId5"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30.png"/><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0.png"/><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2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9.png"/><Relationship Id="rId4" Type="http://schemas.openxmlformats.org/officeDocument/2006/relationships/image" Target="../media/image21.png"/><Relationship Id="rId5" Type="http://schemas.openxmlformats.org/officeDocument/2006/relationships/image" Target="../media/image29.png"/><Relationship Id="rId6" Type="http://schemas.openxmlformats.org/officeDocument/2006/relationships/image" Target="../media/image2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22.png"/><Relationship Id="rId4" Type="http://schemas.openxmlformats.org/officeDocument/2006/relationships/image" Target="../media/image28.png"/><Relationship Id="rId5" Type="http://schemas.openxmlformats.org/officeDocument/2006/relationships/image" Target="../media/image23.png"/><Relationship Id="rId6" Type="http://schemas.openxmlformats.org/officeDocument/2006/relationships/image" Target="../media/image2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535800" y="1025700"/>
            <a:ext cx="8072400" cy="30921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es" sz="3380">
                <a:solidFill>
                  <a:srgbClr val="4A86E8"/>
                </a:solidFill>
              </a:rPr>
              <a:t>Aplicación de modelos de inteligencia</a:t>
            </a:r>
            <a:endParaRPr b="1" sz="3380">
              <a:solidFill>
                <a:srgbClr val="4A86E8"/>
              </a:solidFill>
            </a:endParaRPr>
          </a:p>
          <a:p>
            <a:pPr indent="0" lvl="0" marL="0" rtl="0" algn="ctr">
              <a:spcBef>
                <a:spcPts val="0"/>
              </a:spcBef>
              <a:spcAft>
                <a:spcPts val="0"/>
              </a:spcAft>
              <a:buClr>
                <a:schemeClr val="dk1"/>
              </a:buClr>
              <a:buSzPts val="1100"/>
              <a:buFont typeface="Arial"/>
              <a:buNone/>
            </a:pPr>
            <a:r>
              <a:rPr b="1" lang="es" sz="3380">
                <a:solidFill>
                  <a:srgbClr val="4A86E8"/>
                </a:solidFill>
              </a:rPr>
              <a:t>artificial para la clasificación y el análisis de</a:t>
            </a:r>
            <a:endParaRPr b="1" sz="3380">
              <a:solidFill>
                <a:srgbClr val="4A86E8"/>
              </a:solidFill>
            </a:endParaRPr>
          </a:p>
          <a:p>
            <a:pPr indent="0" lvl="0" marL="0" rtl="0" algn="ctr">
              <a:spcBef>
                <a:spcPts val="0"/>
              </a:spcBef>
              <a:spcAft>
                <a:spcPts val="0"/>
              </a:spcAft>
              <a:buSzPts val="990"/>
              <a:buNone/>
            </a:pPr>
            <a:r>
              <a:rPr b="1" lang="es" sz="3380">
                <a:solidFill>
                  <a:srgbClr val="4A86E8"/>
                </a:solidFill>
              </a:rPr>
              <a:t>catálogos de tiendas</a:t>
            </a:r>
            <a:endParaRPr b="1" sz="1200">
              <a:solidFill>
                <a:srgbClr val="666666"/>
              </a:solidFill>
            </a:endParaRPr>
          </a:p>
          <a:p>
            <a:pPr indent="0" lvl="0" marL="0" rtl="0" algn="l">
              <a:spcBef>
                <a:spcPts val="0"/>
              </a:spcBef>
              <a:spcAft>
                <a:spcPts val="0"/>
              </a:spcAft>
              <a:buSzPts val="990"/>
              <a:buNone/>
            </a:pPr>
            <a:r>
              <a:t/>
            </a:r>
            <a:endParaRPr sz="1000"/>
          </a:p>
          <a:p>
            <a:pPr indent="0" lvl="0" marL="0" rtl="0" algn="ctr">
              <a:spcBef>
                <a:spcPts val="0"/>
              </a:spcBef>
              <a:spcAft>
                <a:spcPts val="0"/>
              </a:spcAft>
              <a:buSzPts val="990"/>
              <a:buNone/>
            </a:pPr>
            <a:r>
              <a:t/>
            </a:r>
            <a:endParaRPr sz="2280">
              <a:solidFill>
                <a:srgbClr val="666666"/>
              </a:solidFill>
            </a:endParaRPr>
          </a:p>
        </p:txBody>
      </p:sp>
      <p:sp>
        <p:nvSpPr>
          <p:cNvPr id="55" name="Google Shape;55;p13"/>
          <p:cNvSpPr txBox="1"/>
          <p:nvPr>
            <p:ph idx="1" type="subTitle"/>
          </p:nvPr>
        </p:nvSpPr>
        <p:spPr>
          <a:xfrm>
            <a:off x="2247000" y="4117800"/>
            <a:ext cx="4650000" cy="1025700"/>
          </a:xfrm>
          <a:prstGeom prst="rect">
            <a:avLst/>
          </a:prstGeom>
        </p:spPr>
        <p:txBody>
          <a:bodyPr anchorCtr="0" anchor="t" bIns="91425" lIns="91425" spcFirstLastPara="1" rIns="91425" wrap="square" tIns="91425">
            <a:normAutofit/>
          </a:bodyPr>
          <a:lstStyle/>
          <a:p>
            <a:pPr indent="0" lvl="0" marL="0" rtl="0" algn="ctr">
              <a:lnSpc>
                <a:spcPct val="90000"/>
              </a:lnSpc>
              <a:spcBef>
                <a:spcPts val="0"/>
              </a:spcBef>
              <a:spcAft>
                <a:spcPts val="0"/>
              </a:spcAft>
              <a:buSzPts val="935"/>
              <a:buNone/>
            </a:pPr>
            <a:r>
              <a:rPr b="1" lang="es" sz="1080">
                <a:solidFill>
                  <a:srgbClr val="999999"/>
                </a:solidFill>
              </a:rPr>
              <a:t>Diploma Ciencia de Datos e Inteligencia Artificial Aplicada</a:t>
            </a:r>
            <a:endParaRPr b="1" sz="1080">
              <a:solidFill>
                <a:srgbClr val="999999"/>
              </a:solidFill>
            </a:endParaRPr>
          </a:p>
          <a:p>
            <a:pPr indent="0" lvl="0" marL="0" rtl="0" algn="ctr">
              <a:lnSpc>
                <a:spcPct val="90000"/>
              </a:lnSpc>
              <a:spcBef>
                <a:spcPts val="0"/>
              </a:spcBef>
              <a:spcAft>
                <a:spcPts val="0"/>
              </a:spcAft>
              <a:buSzPts val="935"/>
              <a:buNone/>
            </a:pPr>
            <a:r>
              <a:rPr b="1" lang="es" sz="1080">
                <a:solidFill>
                  <a:srgbClr val="999999"/>
                </a:solidFill>
              </a:rPr>
              <a:t>Gustavo Daniel Gago Hernández</a:t>
            </a:r>
            <a:endParaRPr b="1" sz="1080">
              <a:solidFill>
                <a:srgbClr val="999999"/>
              </a:solidFill>
            </a:endParaRPr>
          </a:p>
          <a:p>
            <a:pPr indent="0" lvl="0" marL="0" rtl="0" algn="ctr">
              <a:lnSpc>
                <a:spcPct val="90000"/>
              </a:lnSpc>
              <a:spcBef>
                <a:spcPts val="0"/>
              </a:spcBef>
              <a:spcAft>
                <a:spcPts val="0"/>
              </a:spcAft>
              <a:buSzPts val="935"/>
              <a:buNone/>
            </a:pPr>
            <a:r>
              <a:rPr b="1" lang="es" sz="1080">
                <a:solidFill>
                  <a:srgbClr val="999999"/>
                </a:solidFill>
              </a:rPr>
              <a:t>UTEC (Uruguay) + Tecnológico de Monterrey (México)</a:t>
            </a:r>
            <a:endParaRPr b="1" sz="1080">
              <a:solidFill>
                <a:srgbClr val="999999"/>
              </a:solidFill>
            </a:endParaRPr>
          </a:p>
          <a:p>
            <a:pPr indent="0" lvl="0" marL="0" rtl="0" algn="ctr">
              <a:lnSpc>
                <a:spcPct val="90000"/>
              </a:lnSpc>
              <a:spcBef>
                <a:spcPts val="0"/>
              </a:spcBef>
              <a:spcAft>
                <a:spcPts val="0"/>
              </a:spcAft>
              <a:buSzPts val="935"/>
              <a:buNone/>
            </a:pPr>
            <a:r>
              <a:rPr b="1" lang="es" sz="1080">
                <a:solidFill>
                  <a:srgbClr val="999999"/>
                </a:solidFill>
              </a:rPr>
              <a:t>Tutor: Lic. Martín Fernández</a:t>
            </a:r>
            <a:endParaRPr b="1" sz="1080">
              <a:solidFill>
                <a:srgbClr val="999999"/>
              </a:solidFill>
            </a:endParaRPr>
          </a:p>
          <a:p>
            <a:pPr indent="0" lvl="0" marL="0" rtl="0" algn="ctr">
              <a:lnSpc>
                <a:spcPct val="90000"/>
              </a:lnSpc>
              <a:spcBef>
                <a:spcPts val="0"/>
              </a:spcBef>
              <a:spcAft>
                <a:spcPts val="0"/>
              </a:spcAft>
              <a:buSzPts val="935"/>
              <a:buNone/>
            </a:pPr>
            <a:r>
              <a:rPr b="1" lang="es" sz="1080">
                <a:solidFill>
                  <a:srgbClr val="999999"/>
                </a:solidFill>
              </a:rPr>
              <a:t>Fecha: Diciembre 2025</a:t>
            </a:r>
            <a:endParaRPr b="1" sz="1080">
              <a:solidFill>
                <a:srgbClr val="999999"/>
              </a:solidFill>
            </a:endParaRPr>
          </a:p>
        </p:txBody>
      </p:sp>
      <p:pic>
        <p:nvPicPr>
          <p:cNvPr id="56" name="Google Shape;56;p13"/>
          <p:cNvPicPr preferRelativeResize="0"/>
          <p:nvPr/>
        </p:nvPicPr>
        <p:blipFill>
          <a:blip r:embed="rId3">
            <a:alphaModFix/>
          </a:blip>
          <a:stretch>
            <a:fillRect/>
          </a:stretch>
        </p:blipFill>
        <p:spPr>
          <a:xfrm>
            <a:off x="0" y="3"/>
            <a:ext cx="4607458" cy="5133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 presetSubtype="0">
                                  <p:stCondLst>
                                    <p:cond delay="0"/>
                                  </p:stCondLst>
                                  <p:childTnLst>
                                    <p:set>
                                      <p:cBhvr>
                                        <p:cTn dur="1" fill="hold">
                                          <p:stCondLst>
                                            <p:cond delay="0"/>
                                          </p:stCondLst>
                                        </p:cTn>
                                        <p:tgtEl>
                                          <p:spTgt spid="5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4"/>
          <p:cNvSpPr txBox="1"/>
          <p:nvPr>
            <p:ph idx="1" type="subTitle"/>
          </p:nvPr>
        </p:nvSpPr>
        <p:spPr>
          <a:xfrm>
            <a:off x="311700" y="769350"/>
            <a:ext cx="8268000" cy="491700"/>
          </a:xfrm>
          <a:prstGeom prst="rect">
            <a:avLst/>
          </a:prstGeom>
        </p:spPr>
        <p:txBody>
          <a:bodyPr anchorCtr="0" anchor="ctr" bIns="91425" lIns="91425" spcFirstLastPara="1" rIns="91425" wrap="square" tIns="91425">
            <a:normAutofit/>
          </a:bodyPr>
          <a:lstStyle/>
          <a:p>
            <a:pPr indent="0" lvl="0" marL="0" rtl="0" algn="l">
              <a:lnSpc>
                <a:spcPct val="115000"/>
              </a:lnSpc>
              <a:spcBef>
                <a:spcPts val="0"/>
              </a:spcBef>
              <a:spcAft>
                <a:spcPts val="1200"/>
              </a:spcAft>
              <a:buNone/>
            </a:pPr>
            <a:r>
              <a:rPr b="1" lang="es" sz="1500">
                <a:solidFill>
                  <a:srgbClr val="0B5394"/>
                </a:solidFill>
              </a:rPr>
              <a:t>Dataset de 1</a:t>
            </a:r>
            <a:r>
              <a:rPr b="1" lang="es" sz="1500">
                <a:solidFill>
                  <a:srgbClr val="0B5394"/>
                </a:solidFill>
              </a:rPr>
              <a:t>6,660</a:t>
            </a:r>
            <a:r>
              <a:rPr b="1" lang="es" sz="1500">
                <a:solidFill>
                  <a:srgbClr val="0B5394"/>
                </a:solidFill>
              </a:rPr>
              <a:t> productos distribuidos en 31 tiendas</a:t>
            </a:r>
            <a:endParaRPr b="1" sz="1500">
              <a:solidFill>
                <a:srgbClr val="4A86E8"/>
              </a:solidFill>
            </a:endParaRPr>
          </a:p>
        </p:txBody>
      </p:sp>
      <p:sp>
        <p:nvSpPr>
          <p:cNvPr id="62" name="Google Shape;62;p14"/>
          <p:cNvSpPr txBox="1"/>
          <p:nvPr>
            <p:ph type="ctrTitle"/>
          </p:nvPr>
        </p:nvSpPr>
        <p:spPr>
          <a:xfrm>
            <a:off x="311700" y="194550"/>
            <a:ext cx="8520600" cy="574800"/>
          </a:xfrm>
          <a:prstGeom prst="rect">
            <a:avLst/>
          </a:prstGeom>
          <a:noFill/>
        </p:spPr>
        <p:txBody>
          <a:bodyPr anchorCtr="0" anchor="b" bIns="91425" lIns="91425" spcFirstLastPara="1" rIns="91425" wrap="square" tIns="91425">
            <a:noAutofit/>
          </a:bodyPr>
          <a:lstStyle/>
          <a:p>
            <a:pPr indent="0" lvl="0" marL="0" rtl="0" algn="ctr">
              <a:spcBef>
                <a:spcPts val="0"/>
              </a:spcBef>
              <a:spcAft>
                <a:spcPts val="0"/>
              </a:spcAft>
              <a:buClr>
                <a:schemeClr val="dk1"/>
              </a:buClr>
              <a:buSzPts val="891"/>
              <a:buFont typeface="Arial"/>
              <a:buNone/>
            </a:pPr>
            <a:r>
              <a:rPr b="1" lang="es" sz="2118">
                <a:solidFill>
                  <a:srgbClr val="1C4587"/>
                </a:solidFill>
              </a:rPr>
              <a:t>CONTEXTO Y MOTIVACIÓN</a:t>
            </a:r>
            <a:endParaRPr b="1" sz="4080"/>
          </a:p>
        </p:txBody>
      </p:sp>
      <p:pic>
        <p:nvPicPr>
          <p:cNvPr id="63" name="Google Shape;63;p14"/>
          <p:cNvPicPr preferRelativeResize="0"/>
          <p:nvPr/>
        </p:nvPicPr>
        <p:blipFill>
          <a:blip r:embed="rId3">
            <a:alphaModFix/>
          </a:blip>
          <a:stretch>
            <a:fillRect/>
          </a:stretch>
        </p:blipFill>
        <p:spPr>
          <a:xfrm>
            <a:off x="2312100" y="1261050"/>
            <a:ext cx="4267201" cy="34879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61"/>
                                        </p:tgtEl>
                                        <p:attrNameLst>
                                          <p:attrName>style.visibility</p:attrName>
                                        </p:attrNameLst>
                                      </p:cBhvr>
                                      <p:to>
                                        <p:strVal val="visible"/>
                                      </p:to>
                                    </p:set>
                                    <p:animEffect filter="fade" transition="in">
                                      <p:cBhvr>
                                        <p:cTn dur="1000"/>
                                        <p:tgtEl>
                                          <p:spTgt spid="61"/>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63"/>
                                        </p:tgtEl>
                                        <p:attrNameLst>
                                          <p:attrName>style.visibility</p:attrName>
                                        </p:attrNameLst>
                                      </p:cBhvr>
                                      <p:to>
                                        <p:strVal val="visible"/>
                                      </p:to>
                                    </p:set>
                                    <p:animEffect filter="fade" transition="in">
                                      <p:cBhvr>
                                        <p:cTn dur="1000"/>
                                        <p:tgtEl>
                                          <p:spTgt spid="6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5"/>
          <p:cNvSpPr txBox="1"/>
          <p:nvPr>
            <p:ph type="ctrTitle"/>
          </p:nvPr>
        </p:nvSpPr>
        <p:spPr>
          <a:xfrm>
            <a:off x="311700" y="194550"/>
            <a:ext cx="8520600" cy="574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Clr>
                <a:schemeClr val="dk1"/>
              </a:buClr>
              <a:buSzPts val="891"/>
              <a:buFont typeface="Arial"/>
              <a:buNone/>
            </a:pPr>
            <a:r>
              <a:rPr b="1" lang="es" sz="2500">
                <a:solidFill>
                  <a:srgbClr val="1C4587"/>
                </a:solidFill>
              </a:rPr>
              <a:t>TRABAJOS RELACIONADOS</a:t>
            </a:r>
            <a:endParaRPr b="1" sz="2500"/>
          </a:p>
        </p:txBody>
      </p:sp>
      <p:sp>
        <p:nvSpPr>
          <p:cNvPr id="69" name="Google Shape;69;p15"/>
          <p:cNvSpPr txBox="1"/>
          <p:nvPr/>
        </p:nvSpPr>
        <p:spPr>
          <a:xfrm>
            <a:off x="359925" y="857250"/>
            <a:ext cx="7021500" cy="45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500">
                <a:solidFill>
                  <a:srgbClr val="0B5394"/>
                </a:solidFill>
              </a:rPr>
              <a:t>Comparativa Estado del Arte en Fashion AI</a:t>
            </a:r>
            <a:endParaRPr b="1" sz="1500">
              <a:solidFill>
                <a:srgbClr val="0B5394"/>
              </a:solidFill>
            </a:endParaRPr>
          </a:p>
        </p:txBody>
      </p:sp>
      <p:pic>
        <p:nvPicPr>
          <p:cNvPr id="70" name="Google Shape;70;p15"/>
          <p:cNvPicPr preferRelativeResize="0"/>
          <p:nvPr/>
        </p:nvPicPr>
        <p:blipFill>
          <a:blip r:embed="rId3">
            <a:alphaModFix/>
          </a:blip>
          <a:stretch>
            <a:fillRect/>
          </a:stretch>
        </p:blipFill>
        <p:spPr>
          <a:xfrm>
            <a:off x="152400" y="1488175"/>
            <a:ext cx="8839200" cy="216715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69"/>
                                        </p:tgtEl>
                                        <p:attrNameLst>
                                          <p:attrName>style.visibility</p:attrName>
                                        </p:attrNameLst>
                                      </p:cBhvr>
                                      <p:to>
                                        <p:strVal val="visible"/>
                                      </p:to>
                                    </p:set>
                                    <p:animEffect filter="fade" transition="in">
                                      <p:cBhvr>
                                        <p:cTn dur="1"/>
                                        <p:tgtEl>
                                          <p:spTgt spid="69"/>
                                        </p:tgtEl>
                                      </p:cBhvr>
                                    </p:animEffect>
                                  </p:childTnLst>
                                </p:cTn>
                              </p:par>
                            </p:childTnLst>
                          </p:cTn>
                        </p:par>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70"/>
                                        </p:tgtEl>
                                        <p:attrNameLst>
                                          <p:attrName>style.visibility</p:attrName>
                                        </p:attrNameLst>
                                      </p:cBhvr>
                                      <p:to>
                                        <p:strVal val="visible"/>
                                      </p:to>
                                    </p:set>
                                    <p:animEffect filter="fade" transition="in">
                                      <p:cBhvr>
                                        <p:cTn dur="1000"/>
                                        <p:tgtEl>
                                          <p:spTgt spid="7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6"/>
          <p:cNvSpPr txBox="1"/>
          <p:nvPr>
            <p:ph type="ctrTitle"/>
          </p:nvPr>
        </p:nvSpPr>
        <p:spPr>
          <a:xfrm>
            <a:off x="311700" y="194550"/>
            <a:ext cx="8520600" cy="574800"/>
          </a:xfrm>
          <a:prstGeom prst="rect">
            <a:avLst/>
          </a:prstGeom>
          <a:noFill/>
        </p:spPr>
        <p:txBody>
          <a:bodyPr anchorCtr="0" anchor="b" bIns="91425" lIns="91425" spcFirstLastPara="1" rIns="91425" wrap="square" tIns="91425">
            <a:noAutofit/>
          </a:bodyPr>
          <a:lstStyle/>
          <a:p>
            <a:pPr indent="0" lvl="0" marL="0" rtl="0" algn="ctr">
              <a:spcBef>
                <a:spcPts val="0"/>
              </a:spcBef>
              <a:spcAft>
                <a:spcPts val="0"/>
              </a:spcAft>
              <a:buClr>
                <a:schemeClr val="dk1"/>
              </a:buClr>
              <a:buSzPts val="891"/>
              <a:buFont typeface="Arial"/>
              <a:buNone/>
            </a:pPr>
            <a:r>
              <a:rPr b="1" lang="es" sz="2500">
                <a:solidFill>
                  <a:srgbClr val="1C4587"/>
                </a:solidFill>
              </a:rPr>
              <a:t>OBJETIVO GENERAL Y ESPECÍFICOS</a:t>
            </a:r>
            <a:endParaRPr b="1" sz="2500"/>
          </a:p>
        </p:txBody>
      </p:sp>
      <p:sp>
        <p:nvSpPr>
          <p:cNvPr id="76" name="Google Shape;76;p16"/>
          <p:cNvSpPr txBox="1"/>
          <p:nvPr>
            <p:ph idx="1" type="subTitle"/>
          </p:nvPr>
        </p:nvSpPr>
        <p:spPr>
          <a:xfrm>
            <a:off x="311700" y="1054725"/>
            <a:ext cx="8520600" cy="11154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0"/>
              </a:spcAft>
              <a:buNone/>
            </a:pPr>
            <a:r>
              <a:rPr b="1" lang="es" sz="1500">
                <a:solidFill>
                  <a:srgbClr val="0B5394"/>
                </a:solidFill>
              </a:rPr>
              <a:t>OBJETIVO GENERAL</a:t>
            </a:r>
            <a:endParaRPr b="1" sz="1500">
              <a:solidFill>
                <a:srgbClr val="0B5394"/>
              </a:solidFill>
            </a:endParaRPr>
          </a:p>
          <a:p>
            <a:pPr indent="-311150" lvl="0" marL="457200" rtl="0" algn="l">
              <a:lnSpc>
                <a:spcPct val="115000"/>
              </a:lnSpc>
              <a:spcBef>
                <a:spcPts val="1200"/>
              </a:spcBef>
              <a:spcAft>
                <a:spcPts val="0"/>
              </a:spcAft>
              <a:buClr>
                <a:srgbClr val="0B5394"/>
              </a:buClr>
              <a:buSzPts val="1300"/>
              <a:buChar char="●"/>
            </a:pPr>
            <a:r>
              <a:rPr b="1" lang="es" sz="1300">
                <a:solidFill>
                  <a:srgbClr val="0B5394"/>
                </a:solidFill>
              </a:rPr>
              <a:t>Desarrollar un sistema de recomendación de moda basado en catálogos reales de tiendas uruguayas utilizando inteligencia artificial y búsqueda vectorial.</a:t>
            </a:r>
            <a:endParaRPr b="1" sz="1300">
              <a:solidFill>
                <a:srgbClr val="0B5394"/>
              </a:solidFill>
            </a:endParaRPr>
          </a:p>
        </p:txBody>
      </p:sp>
      <p:sp>
        <p:nvSpPr>
          <p:cNvPr id="77" name="Google Shape;77;p16"/>
          <p:cNvSpPr txBox="1"/>
          <p:nvPr/>
        </p:nvSpPr>
        <p:spPr>
          <a:xfrm>
            <a:off x="311700" y="2170125"/>
            <a:ext cx="8520600" cy="246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500">
                <a:solidFill>
                  <a:schemeClr val="dk2"/>
                </a:solidFill>
              </a:rPr>
              <a:t>OBJETIVOS ESPECÍFICOS</a:t>
            </a:r>
            <a:endParaRPr b="1" sz="1500">
              <a:solidFill>
                <a:schemeClr val="dk2"/>
              </a:solidFill>
            </a:endParaRPr>
          </a:p>
          <a:p>
            <a:pPr indent="0" lvl="0" marL="0" rtl="0" algn="l">
              <a:spcBef>
                <a:spcPts val="0"/>
              </a:spcBef>
              <a:spcAft>
                <a:spcPts val="0"/>
              </a:spcAft>
              <a:buNone/>
            </a:pPr>
            <a:r>
              <a:t/>
            </a:r>
            <a:endParaRPr sz="1000">
              <a:solidFill>
                <a:schemeClr val="dk2"/>
              </a:solidFill>
            </a:endParaRPr>
          </a:p>
          <a:p>
            <a:pPr indent="-311150" lvl="0" marL="457200" rtl="0" algn="l">
              <a:spcBef>
                <a:spcPts val="0"/>
              </a:spcBef>
              <a:spcAft>
                <a:spcPts val="0"/>
              </a:spcAft>
              <a:buClr>
                <a:schemeClr val="dk2"/>
              </a:buClr>
              <a:buSzPts val="1300"/>
              <a:buAutoNum type="arabicPeriod"/>
            </a:pPr>
            <a:r>
              <a:rPr b="1" lang="es" sz="1300">
                <a:solidFill>
                  <a:schemeClr val="dk2"/>
                </a:solidFill>
              </a:rPr>
              <a:t>Limpieza y estandarización de datos</a:t>
            </a:r>
            <a:r>
              <a:rPr lang="es" sz="1300">
                <a:solidFill>
                  <a:schemeClr val="dk2"/>
                </a:solidFill>
              </a:rPr>
              <a:t>: normalizar categorías, géneros y atributos bajo una taxonomía común.</a:t>
            </a:r>
            <a:endParaRPr sz="1300">
              <a:solidFill>
                <a:schemeClr val="dk2"/>
              </a:solidFill>
            </a:endParaRPr>
          </a:p>
          <a:p>
            <a:pPr indent="-311150" lvl="0" marL="457200" rtl="0" algn="l">
              <a:spcBef>
                <a:spcPts val="0"/>
              </a:spcBef>
              <a:spcAft>
                <a:spcPts val="0"/>
              </a:spcAft>
              <a:buClr>
                <a:schemeClr val="dk2"/>
              </a:buClr>
              <a:buSzPts val="1300"/>
              <a:buAutoNum type="arabicPeriod"/>
            </a:pPr>
            <a:r>
              <a:rPr b="1" lang="es" sz="1300">
                <a:solidFill>
                  <a:schemeClr val="dk2"/>
                </a:solidFill>
              </a:rPr>
              <a:t>Generación de embeddings multimodales</a:t>
            </a:r>
            <a:r>
              <a:rPr lang="es" sz="1300">
                <a:solidFill>
                  <a:schemeClr val="dk2"/>
                </a:solidFill>
              </a:rPr>
              <a:t>: representaciones vectoriales de 512 dimensiones tanto para texto como para imágenes de las prendas.</a:t>
            </a:r>
            <a:endParaRPr sz="1300">
              <a:solidFill>
                <a:schemeClr val="dk2"/>
              </a:solidFill>
            </a:endParaRPr>
          </a:p>
          <a:p>
            <a:pPr indent="-311150" lvl="0" marL="457200" rtl="0" algn="l">
              <a:spcBef>
                <a:spcPts val="0"/>
              </a:spcBef>
              <a:spcAft>
                <a:spcPts val="0"/>
              </a:spcAft>
              <a:buClr>
                <a:schemeClr val="dk2"/>
              </a:buClr>
              <a:buSzPts val="1300"/>
              <a:buAutoNum type="arabicPeriod"/>
            </a:pPr>
            <a:r>
              <a:rPr b="1" lang="es" sz="1300">
                <a:solidFill>
                  <a:schemeClr val="dk2"/>
                </a:solidFill>
              </a:rPr>
              <a:t>Entrenar modelos supervisados con CatBoost</a:t>
            </a:r>
            <a:r>
              <a:rPr lang="es" sz="1300">
                <a:solidFill>
                  <a:schemeClr val="dk2"/>
                </a:solidFill>
              </a:rPr>
              <a:t> para clasificar automáticamente categoría y género sin depender de LLMs costosos.</a:t>
            </a:r>
            <a:endParaRPr sz="1300">
              <a:solidFill>
                <a:schemeClr val="dk2"/>
              </a:solidFill>
            </a:endParaRPr>
          </a:p>
          <a:p>
            <a:pPr indent="-311150" lvl="0" marL="457200" rtl="0" algn="l">
              <a:spcBef>
                <a:spcPts val="0"/>
              </a:spcBef>
              <a:spcAft>
                <a:spcPts val="0"/>
              </a:spcAft>
              <a:buClr>
                <a:schemeClr val="dk2"/>
              </a:buClr>
              <a:buSzPts val="1300"/>
              <a:buAutoNum type="arabicPeriod"/>
            </a:pPr>
            <a:r>
              <a:rPr b="1" lang="es" sz="1300">
                <a:solidFill>
                  <a:schemeClr val="dk2"/>
                </a:solidFill>
              </a:rPr>
              <a:t>Implementar búsqueda vectorial</a:t>
            </a:r>
            <a:r>
              <a:rPr lang="es" sz="1300">
                <a:solidFill>
                  <a:schemeClr val="dk2"/>
                </a:solidFill>
              </a:rPr>
              <a:t> con PostgreSQL y la extensión pgvector, soportando búsquedas por texto, imagen e híbridas.</a:t>
            </a:r>
            <a:endParaRPr sz="1300">
              <a:solidFill>
                <a:schemeClr val="dk2"/>
              </a:solidFill>
            </a:endParaRPr>
          </a:p>
          <a:p>
            <a:pPr indent="-311150" lvl="0" marL="457200" rtl="0" algn="l">
              <a:spcBef>
                <a:spcPts val="0"/>
              </a:spcBef>
              <a:spcAft>
                <a:spcPts val="0"/>
              </a:spcAft>
              <a:buClr>
                <a:schemeClr val="dk2"/>
              </a:buClr>
              <a:buSzPts val="1300"/>
              <a:buAutoNum type="arabicPeriod"/>
            </a:pPr>
            <a:r>
              <a:rPr b="1" lang="es" sz="1300">
                <a:solidFill>
                  <a:schemeClr val="dk2"/>
                </a:solidFill>
              </a:rPr>
              <a:t>Diseñar un sistema multiagente</a:t>
            </a:r>
            <a:r>
              <a:rPr lang="es" sz="1300">
                <a:solidFill>
                  <a:schemeClr val="dk2"/>
                </a:solidFill>
              </a:rPr>
              <a:t> coordinado con LLMs que permita </a:t>
            </a:r>
            <a:r>
              <a:rPr lang="es" sz="1300">
                <a:solidFill>
                  <a:schemeClr val="dk2"/>
                </a:solidFill>
              </a:rPr>
              <a:t>interacción</a:t>
            </a:r>
            <a:r>
              <a:rPr lang="es" sz="1300">
                <a:solidFill>
                  <a:schemeClr val="dk2"/>
                </a:solidFill>
              </a:rPr>
              <a:t> conversacional natural y recomendaciones contextuales.</a:t>
            </a:r>
            <a:endParaRPr sz="1300">
              <a:solidFill>
                <a:schemeClr val="dk2"/>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76"/>
                                        </p:tgtEl>
                                        <p:attrNameLst>
                                          <p:attrName>style.visibility</p:attrName>
                                        </p:attrNameLst>
                                      </p:cBhvr>
                                      <p:to>
                                        <p:strVal val="visible"/>
                                      </p:to>
                                    </p:set>
                                    <p:animEffect filter="fade" transition="in">
                                      <p:cBhvr>
                                        <p:cTn dur="1000"/>
                                        <p:tgtEl>
                                          <p:spTgt spid="76"/>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77"/>
                                        </p:tgtEl>
                                        <p:attrNameLst>
                                          <p:attrName>style.visibility</p:attrName>
                                        </p:attrNameLst>
                                      </p:cBhvr>
                                      <p:to>
                                        <p:strVal val="visible"/>
                                      </p:to>
                                    </p:set>
                                    <p:animEffect filter="fade" transition="in">
                                      <p:cBhvr>
                                        <p:cTn dur="1000"/>
                                        <p:tgtEl>
                                          <p:spTgt spid="7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7"/>
          <p:cNvSpPr txBox="1"/>
          <p:nvPr>
            <p:ph type="ctrTitle"/>
          </p:nvPr>
        </p:nvSpPr>
        <p:spPr>
          <a:xfrm>
            <a:off x="311700" y="194550"/>
            <a:ext cx="8520600" cy="574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Clr>
                <a:schemeClr val="dk1"/>
              </a:buClr>
              <a:buSzPts val="891"/>
              <a:buFont typeface="Arial"/>
              <a:buNone/>
            </a:pPr>
            <a:r>
              <a:rPr b="1" lang="es" sz="2500">
                <a:solidFill>
                  <a:srgbClr val="1C4587"/>
                </a:solidFill>
              </a:rPr>
              <a:t>Metodología</a:t>
            </a:r>
            <a:endParaRPr b="1" sz="2500"/>
          </a:p>
        </p:txBody>
      </p:sp>
      <p:sp>
        <p:nvSpPr>
          <p:cNvPr id="83" name="Google Shape;83;p17"/>
          <p:cNvSpPr txBox="1"/>
          <p:nvPr/>
        </p:nvSpPr>
        <p:spPr>
          <a:xfrm>
            <a:off x="359925" y="857250"/>
            <a:ext cx="7021500" cy="45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500">
                <a:solidFill>
                  <a:srgbClr val="0B5394"/>
                </a:solidFill>
              </a:rPr>
              <a:t>Pipeline de 3 etapas</a:t>
            </a:r>
            <a:endParaRPr b="1" sz="1500">
              <a:solidFill>
                <a:srgbClr val="0B5394"/>
              </a:solidFill>
            </a:endParaRPr>
          </a:p>
        </p:txBody>
      </p:sp>
      <p:pic>
        <p:nvPicPr>
          <p:cNvPr id="84" name="Google Shape;84;p17"/>
          <p:cNvPicPr preferRelativeResize="0"/>
          <p:nvPr/>
        </p:nvPicPr>
        <p:blipFill>
          <a:blip r:embed="rId3">
            <a:alphaModFix/>
          </a:blip>
          <a:stretch>
            <a:fillRect/>
          </a:stretch>
        </p:blipFill>
        <p:spPr>
          <a:xfrm>
            <a:off x="428575" y="1992925"/>
            <a:ext cx="8286852" cy="11576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83"/>
                                        </p:tgtEl>
                                        <p:attrNameLst>
                                          <p:attrName>style.visibility</p:attrName>
                                        </p:attrNameLst>
                                      </p:cBhvr>
                                      <p:to>
                                        <p:strVal val="visible"/>
                                      </p:to>
                                    </p:set>
                                    <p:animEffect filter="fade" transition="in">
                                      <p:cBhvr>
                                        <p:cTn dur="1"/>
                                        <p:tgtEl>
                                          <p:spTgt spid="83"/>
                                        </p:tgtEl>
                                      </p:cBhvr>
                                    </p:animEffect>
                                  </p:childTnLst>
                                </p:cTn>
                              </p:par>
                            </p:childTnLst>
                          </p:cTn>
                        </p:par>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84"/>
                                        </p:tgtEl>
                                        <p:attrNameLst>
                                          <p:attrName>style.visibility</p:attrName>
                                        </p:attrNameLst>
                                      </p:cBhvr>
                                      <p:to>
                                        <p:strVal val="visible"/>
                                      </p:to>
                                    </p:set>
                                    <p:animEffect filter="fade" transition="in">
                                      <p:cBhvr>
                                        <p:cTn dur="1000"/>
                                        <p:tgtEl>
                                          <p:spTgt spid="8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pic>
        <p:nvPicPr>
          <p:cNvPr id="89" name="Google Shape;89;p18"/>
          <p:cNvPicPr preferRelativeResize="0"/>
          <p:nvPr/>
        </p:nvPicPr>
        <p:blipFill>
          <a:blip r:embed="rId3">
            <a:alphaModFix/>
          </a:blip>
          <a:stretch>
            <a:fillRect/>
          </a:stretch>
        </p:blipFill>
        <p:spPr>
          <a:xfrm>
            <a:off x="537388" y="1690750"/>
            <a:ext cx="8069225" cy="1762000"/>
          </a:xfrm>
          <a:prstGeom prst="rect">
            <a:avLst/>
          </a:prstGeom>
          <a:noFill/>
          <a:ln>
            <a:noFill/>
          </a:ln>
        </p:spPr>
      </p:pic>
      <p:pic>
        <p:nvPicPr>
          <p:cNvPr id="90" name="Google Shape;90;p18"/>
          <p:cNvPicPr preferRelativeResize="0"/>
          <p:nvPr/>
        </p:nvPicPr>
        <p:blipFill>
          <a:blip r:embed="rId4">
            <a:alphaModFix/>
          </a:blip>
          <a:stretch>
            <a:fillRect/>
          </a:stretch>
        </p:blipFill>
        <p:spPr>
          <a:xfrm>
            <a:off x="311702" y="769350"/>
            <a:ext cx="8520598" cy="4257823"/>
          </a:xfrm>
          <a:prstGeom prst="rect">
            <a:avLst/>
          </a:prstGeom>
          <a:noFill/>
          <a:ln>
            <a:noFill/>
          </a:ln>
        </p:spPr>
      </p:pic>
      <p:sp>
        <p:nvSpPr>
          <p:cNvPr id="91" name="Google Shape;91;p18"/>
          <p:cNvSpPr txBox="1"/>
          <p:nvPr>
            <p:ph type="ctrTitle"/>
          </p:nvPr>
        </p:nvSpPr>
        <p:spPr>
          <a:xfrm>
            <a:off x="311700" y="194550"/>
            <a:ext cx="8520600" cy="574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Clr>
                <a:schemeClr val="dk1"/>
              </a:buClr>
              <a:buSzPts val="891"/>
              <a:buFont typeface="Arial"/>
              <a:buNone/>
            </a:pPr>
            <a:r>
              <a:rPr b="1" lang="es" sz="2500">
                <a:solidFill>
                  <a:srgbClr val="1C4587"/>
                </a:solidFill>
              </a:rPr>
              <a:t>DATASET Y PROBLEMAS INICIALES</a:t>
            </a:r>
            <a:endParaRPr sz="2500"/>
          </a:p>
        </p:txBody>
      </p:sp>
      <p:pic>
        <p:nvPicPr>
          <p:cNvPr id="92" name="Google Shape;92;p18"/>
          <p:cNvPicPr preferRelativeResize="0"/>
          <p:nvPr/>
        </p:nvPicPr>
        <p:blipFill>
          <a:blip r:embed="rId5">
            <a:alphaModFix/>
          </a:blip>
          <a:stretch>
            <a:fillRect/>
          </a:stretch>
        </p:blipFill>
        <p:spPr>
          <a:xfrm>
            <a:off x="311713" y="760699"/>
            <a:ext cx="8520598" cy="4275143"/>
          </a:xfrm>
          <a:prstGeom prst="rect">
            <a:avLst/>
          </a:prstGeom>
          <a:noFill/>
          <a:ln>
            <a:noFill/>
          </a:ln>
        </p:spPr>
      </p:pic>
      <p:pic>
        <p:nvPicPr>
          <p:cNvPr id="93" name="Google Shape;93;p18"/>
          <p:cNvPicPr preferRelativeResize="0"/>
          <p:nvPr/>
        </p:nvPicPr>
        <p:blipFill>
          <a:blip r:embed="rId6">
            <a:alphaModFix/>
          </a:blip>
          <a:stretch>
            <a:fillRect/>
          </a:stretch>
        </p:blipFill>
        <p:spPr>
          <a:xfrm>
            <a:off x="311713" y="769350"/>
            <a:ext cx="8520600" cy="4257825"/>
          </a:xfrm>
          <a:prstGeom prst="rect">
            <a:avLst/>
          </a:prstGeom>
          <a:noFill/>
          <a:ln>
            <a:noFill/>
          </a:ln>
        </p:spPr>
      </p:pic>
      <p:pic>
        <p:nvPicPr>
          <p:cNvPr id="94" name="Google Shape;94;p18"/>
          <p:cNvPicPr preferRelativeResize="0"/>
          <p:nvPr/>
        </p:nvPicPr>
        <p:blipFill>
          <a:blip r:embed="rId7">
            <a:alphaModFix/>
          </a:blip>
          <a:stretch>
            <a:fillRect/>
          </a:stretch>
        </p:blipFill>
        <p:spPr>
          <a:xfrm>
            <a:off x="311713" y="760675"/>
            <a:ext cx="8520598" cy="4275151"/>
          </a:xfrm>
          <a:prstGeom prst="rect">
            <a:avLst/>
          </a:prstGeom>
          <a:noFill/>
          <a:ln>
            <a:noFill/>
          </a:ln>
        </p:spPr>
      </p:pic>
      <p:sp>
        <p:nvSpPr>
          <p:cNvPr id="95" name="Google Shape;95;p18"/>
          <p:cNvSpPr/>
          <p:nvPr/>
        </p:nvSpPr>
        <p:spPr>
          <a:xfrm>
            <a:off x="311713" y="751875"/>
            <a:ext cx="8520600" cy="42753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xit" presetID="10" presetSubtype="0">
                                  <p:stCondLst>
                                    <p:cond delay="0"/>
                                  </p:stCondLst>
                                  <p:childTnLst>
                                    <p:animEffect filter="fade" transition="out">
                                      <p:cBhvr>
                                        <p:cTn dur="1000"/>
                                        <p:tgtEl>
                                          <p:spTgt spid="95"/>
                                        </p:tgtEl>
                                      </p:cBhvr>
                                    </p:animEffect>
                                    <p:set>
                                      <p:cBhvr>
                                        <p:cTn dur="1" fill="hold">
                                          <p:stCondLst>
                                            <p:cond delay="1000"/>
                                          </p:stCondLst>
                                        </p:cTn>
                                        <p:tgtEl>
                                          <p:spTgt spid="95"/>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1000"/>
                                        <p:tgtEl>
                                          <p:spTgt spid="94"/>
                                        </p:tgtEl>
                                      </p:cBhvr>
                                    </p:animEffect>
                                    <p:set>
                                      <p:cBhvr>
                                        <p:cTn dur="1" fill="hold">
                                          <p:stCondLst>
                                            <p:cond delay="1000"/>
                                          </p:stCondLst>
                                        </p:cTn>
                                        <p:tgtEl>
                                          <p:spTgt spid="94"/>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1000"/>
                                        <p:tgtEl>
                                          <p:spTgt spid="93"/>
                                        </p:tgtEl>
                                      </p:cBhvr>
                                    </p:animEffect>
                                    <p:set>
                                      <p:cBhvr>
                                        <p:cTn dur="1" fill="hold">
                                          <p:stCondLst>
                                            <p:cond delay="1000"/>
                                          </p:stCondLst>
                                        </p:cTn>
                                        <p:tgtEl>
                                          <p:spTgt spid="93"/>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1000"/>
                                        <p:tgtEl>
                                          <p:spTgt spid="92"/>
                                        </p:tgtEl>
                                      </p:cBhvr>
                                    </p:animEffect>
                                    <p:set>
                                      <p:cBhvr>
                                        <p:cTn dur="1" fill="hold">
                                          <p:stCondLst>
                                            <p:cond delay="1000"/>
                                          </p:stCondLst>
                                        </p:cTn>
                                        <p:tgtEl>
                                          <p:spTgt spid="92"/>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1000"/>
                                        <p:tgtEl>
                                          <p:spTgt spid="90"/>
                                        </p:tgtEl>
                                      </p:cBhvr>
                                    </p:animEffect>
                                    <p:set>
                                      <p:cBhvr>
                                        <p:cTn dur="1" fill="hold">
                                          <p:stCondLst>
                                            <p:cond delay="1000"/>
                                          </p:stCondLst>
                                        </p:cTn>
                                        <p:tgtEl>
                                          <p:spTgt spid="90"/>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9"/>
          <p:cNvSpPr txBox="1"/>
          <p:nvPr>
            <p:ph type="ctrTitle"/>
          </p:nvPr>
        </p:nvSpPr>
        <p:spPr>
          <a:xfrm>
            <a:off x="311700" y="194550"/>
            <a:ext cx="8520600" cy="574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Clr>
                <a:schemeClr val="dk1"/>
              </a:buClr>
              <a:buSzPts val="891"/>
              <a:buFont typeface="Arial"/>
              <a:buNone/>
            </a:pPr>
            <a:r>
              <a:rPr b="1" lang="es" sz="2500">
                <a:solidFill>
                  <a:srgbClr val="1C4587"/>
                </a:solidFill>
              </a:rPr>
              <a:t>LIMPIEZA Y ESTANDARIZACIÓN</a:t>
            </a:r>
            <a:endParaRPr sz="2500"/>
          </a:p>
        </p:txBody>
      </p:sp>
      <p:pic>
        <p:nvPicPr>
          <p:cNvPr id="101" name="Google Shape;101;p19"/>
          <p:cNvPicPr preferRelativeResize="0"/>
          <p:nvPr/>
        </p:nvPicPr>
        <p:blipFill>
          <a:blip r:embed="rId3">
            <a:alphaModFix/>
          </a:blip>
          <a:stretch>
            <a:fillRect/>
          </a:stretch>
        </p:blipFill>
        <p:spPr>
          <a:xfrm>
            <a:off x="152400" y="1586475"/>
            <a:ext cx="8839202" cy="2745412"/>
          </a:xfrm>
          <a:prstGeom prst="rect">
            <a:avLst/>
          </a:prstGeom>
          <a:noFill/>
          <a:ln>
            <a:noFill/>
          </a:ln>
        </p:spPr>
      </p:pic>
      <p:sp>
        <p:nvSpPr>
          <p:cNvPr id="102" name="Google Shape;102;p19"/>
          <p:cNvSpPr txBox="1"/>
          <p:nvPr/>
        </p:nvSpPr>
        <p:spPr>
          <a:xfrm>
            <a:off x="311800" y="928500"/>
            <a:ext cx="8520600" cy="57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500">
                <a:solidFill>
                  <a:srgbClr val="0B5394"/>
                </a:solidFill>
              </a:rPr>
              <a:t>Estandarización de Catálogos Heterogéneos mediante LLM: Pipeline Completo</a:t>
            </a:r>
            <a:endParaRPr b="1" sz="1500">
              <a:solidFill>
                <a:srgbClr val="0B5394"/>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102"/>
                                        </p:tgtEl>
                                        <p:attrNameLst>
                                          <p:attrName>style.visibility</p:attrName>
                                        </p:attrNameLst>
                                      </p:cBhvr>
                                      <p:to>
                                        <p:strVal val="visible"/>
                                      </p:to>
                                    </p:set>
                                    <p:animEffect filter="fade" transition="in">
                                      <p:cBhvr>
                                        <p:cTn dur="1"/>
                                        <p:tgtEl>
                                          <p:spTgt spid="102"/>
                                        </p:tgtEl>
                                      </p:cBhvr>
                                    </p:animEffect>
                                  </p:childTnLst>
                                </p:cTn>
                              </p:par>
                            </p:childTnLst>
                          </p:cTn>
                        </p:par>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101"/>
                                        </p:tgtEl>
                                        <p:attrNameLst>
                                          <p:attrName>style.visibility</p:attrName>
                                        </p:attrNameLst>
                                      </p:cBhvr>
                                      <p:to>
                                        <p:strVal val="visible"/>
                                      </p:to>
                                    </p:set>
                                    <p:animEffect filter="fade" transition="in">
                                      <p:cBhvr>
                                        <p:cTn dur="1000"/>
                                        <p:tgtEl>
                                          <p:spTgt spid="10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20"/>
          <p:cNvSpPr txBox="1"/>
          <p:nvPr>
            <p:ph type="ctrTitle"/>
          </p:nvPr>
        </p:nvSpPr>
        <p:spPr>
          <a:xfrm>
            <a:off x="311700" y="194550"/>
            <a:ext cx="8520600" cy="574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Clr>
                <a:schemeClr val="dk1"/>
              </a:buClr>
              <a:buSzPts val="891"/>
              <a:buFont typeface="Arial"/>
              <a:buNone/>
            </a:pPr>
            <a:r>
              <a:rPr b="1" lang="es" sz="2500">
                <a:solidFill>
                  <a:srgbClr val="1C4587"/>
                </a:solidFill>
              </a:rPr>
              <a:t>LIMPIEZA Y ESTANDARIZACIÓN</a:t>
            </a:r>
            <a:endParaRPr sz="2500"/>
          </a:p>
        </p:txBody>
      </p:sp>
      <p:sp>
        <p:nvSpPr>
          <p:cNvPr id="108" name="Google Shape;108;p20"/>
          <p:cNvSpPr txBox="1"/>
          <p:nvPr/>
        </p:nvSpPr>
        <p:spPr>
          <a:xfrm>
            <a:off x="311800" y="928500"/>
            <a:ext cx="8520600" cy="57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500">
                <a:solidFill>
                  <a:srgbClr val="0B5394"/>
                </a:solidFill>
              </a:rPr>
              <a:t>Resultado de la Estandarización </a:t>
            </a:r>
            <a:r>
              <a:rPr b="1" lang="es" sz="1500">
                <a:solidFill>
                  <a:srgbClr val="0B5394"/>
                </a:solidFill>
              </a:rPr>
              <a:t>de Catálogos</a:t>
            </a:r>
            <a:endParaRPr b="1" sz="1500">
              <a:solidFill>
                <a:srgbClr val="0B5394"/>
              </a:solidFill>
            </a:endParaRPr>
          </a:p>
        </p:txBody>
      </p:sp>
      <p:pic>
        <p:nvPicPr>
          <p:cNvPr id="109" name="Google Shape;109;p20"/>
          <p:cNvPicPr preferRelativeResize="0"/>
          <p:nvPr/>
        </p:nvPicPr>
        <p:blipFill>
          <a:blip r:embed="rId3">
            <a:alphaModFix/>
          </a:blip>
          <a:stretch>
            <a:fillRect/>
          </a:stretch>
        </p:blipFill>
        <p:spPr>
          <a:xfrm>
            <a:off x="311800" y="2028271"/>
            <a:ext cx="5973200" cy="2351467"/>
          </a:xfrm>
          <a:prstGeom prst="rect">
            <a:avLst/>
          </a:prstGeom>
          <a:noFill/>
          <a:ln>
            <a:noFill/>
          </a:ln>
        </p:spPr>
      </p:pic>
      <p:sp>
        <p:nvSpPr>
          <p:cNvPr id="110" name="Google Shape;110;p20"/>
          <p:cNvSpPr txBox="1"/>
          <p:nvPr/>
        </p:nvSpPr>
        <p:spPr>
          <a:xfrm>
            <a:off x="6284900" y="1799850"/>
            <a:ext cx="2511600" cy="2808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s" sz="1100">
                <a:solidFill>
                  <a:srgbClr val="0B5394"/>
                </a:solidFill>
              </a:rPr>
              <a:t>Prompt usado para estandarizar:</a:t>
            </a:r>
            <a:endParaRPr b="1" sz="1100">
              <a:solidFill>
                <a:srgbClr val="0B5394"/>
              </a:solidFill>
            </a:endParaRPr>
          </a:p>
          <a:p>
            <a:pPr indent="0" lvl="0" marL="381000" marR="381000" rtl="0" algn="l">
              <a:lnSpc>
                <a:spcPct val="115000"/>
              </a:lnSpc>
              <a:spcBef>
                <a:spcPts val="1200"/>
              </a:spcBef>
              <a:spcAft>
                <a:spcPts val="0"/>
              </a:spcAft>
              <a:buClr>
                <a:schemeClr val="dk1"/>
              </a:buClr>
              <a:buSzPts val="1100"/>
              <a:buFont typeface="Arial"/>
              <a:buNone/>
            </a:pPr>
            <a:r>
              <a:rPr lang="es" sz="1100">
                <a:solidFill>
                  <a:srgbClr val="0B5394"/>
                </a:solidFill>
              </a:rPr>
              <a:t>“Actúa como experto en moda. Dado el texto de un producto, clasifica género y categoría.</a:t>
            </a:r>
            <a:br>
              <a:rPr lang="es" sz="1100">
                <a:solidFill>
                  <a:srgbClr val="0B5394"/>
                </a:solidFill>
              </a:rPr>
            </a:br>
            <a:r>
              <a:rPr lang="es" sz="1100">
                <a:solidFill>
                  <a:srgbClr val="0B5394"/>
                </a:solidFill>
              </a:rPr>
              <a:t> Género permitido: Dama, Caballero, Niño, Bebé.</a:t>
            </a:r>
            <a:br>
              <a:rPr lang="es" sz="1100">
                <a:solidFill>
                  <a:srgbClr val="0B5394"/>
                </a:solidFill>
              </a:rPr>
            </a:br>
            <a:r>
              <a:rPr lang="es" sz="1100">
                <a:solidFill>
                  <a:srgbClr val="0B5394"/>
                </a:solidFill>
              </a:rPr>
              <a:t> Categorías permitidas: Tops, Pantalones, Calzado, Accesorios, etc.”</a:t>
            </a:r>
            <a:endParaRPr sz="1100">
              <a:solidFill>
                <a:srgbClr val="0B5394"/>
              </a:solidFill>
            </a:endParaRPr>
          </a:p>
          <a:p>
            <a:pPr indent="0" lvl="0" marL="0" rtl="0" algn="l">
              <a:spcBef>
                <a:spcPts val="1200"/>
              </a:spcBef>
              <a:spcAft>
                <a:spcPts val="1200"/>
              </a:spcAft>
              <a:buClr>
                <a:schemeClr val="dk1"/>
              </a:buClr>
              <a:buSzPts val="1100"/>
              <a:buFont typeface="Arial"/>
              <a:buNone/>
            </a:pPr>
            <a:r>
              <a:t/>
            </a:r>
            <a:endParaRPr sz="800">
              <a:solidFill>
                <a:srgbClr val="073763"/>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108"/>
                                        </p:tgtEl>
                                        <p:attrNameLst>
                                          <p:attrName>style.visibility</p:attrName>
                                        </p:attrNameLst>
                                      </p:cBhvr>
                                      <p:to>
                                        <p:strVal val="visible"/>
                                      </p:to>
                                    </p:set>
                                    <p:animEffect filter="fade" transition="in">
                                      <p:cBhvr>
                                        <p:cTn dur="1000"/>
                                        <p:tgtEl>
                                          <p:spTgt spid="108"/>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09"/>
                                        </p:tgtEl>
                                        <p:attrNameLst>
                                          <p:attrName>style.visibility</p:attrName>
                                        </p:attrNameLst>
                                      </p:cBhvr>
                                      <p:to>
                                        <p:strVal val="visible"/>
                                      </p:to>
                                    </p:set>
                                    <p:animEffect filter="fade" transition="in">
                                      <p:cBhvr>
                                        <p:cTn dur="1000"/>
                                        <p:tgtEl>
                                          <p:spTgt spid="109"/>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110"/>
                                        </p:tgtEl>
                                        <p:attrNameLst>
                                          <p:attrName>style.visibility</p:attrName>
                                        </p:attrNameLst>
                                      </p:cBhvr>
                                      <p:to>
                                        <p:strVal val="visible"/>
                                      </p:to>
                                    </p:set>
                                    <p:animEffect filter="fade" transition="in">
                                      <p:cBhvr>
                                        <p:cTn dur="1000"/>
                                        <p:tgtEl>
                                          <p:spTgt spid="11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21"/>
          <p:cNvSpPr txBox="1"/>
          <p:nvPr>
            <p:ph type="ctrTitle"/>
          </p:nvPr>
        </p:nvSpPr>
        <p:spPr>
          <a:xfrm>
            <a:off x="311700" y="194550"/>
            <a:ext cx="8520600" cy="5748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Clr>
                <a:schemeClr val="dk1"/>
              </a:buClr>
              <a:buSzPts val="990"/>
              <a:buFont typeface="Arial"/>
              <a:buNone/>
            </a:pPr>
            <a:r>
              <a:rPr b="1" lang="es" sz="2500">
                <a:solidFill>
                  <a:srgbClr val="1C4587"/>
                </a:solidFill>
              </a:rPr>
              <a:t>EMBEDDINGS MULTIMODALES</a:t>
            </a:r>
            <a:endParaRPr sz="2500"/>
          </a:p>
        </p:txBody>
      </p:sp>
      <p:sp>
        <p:nvSpPr>
          <p:cNvPr id="116" name="Google Shape;116;p21"/>
          <p:cNvSpPr txBox="1"/>
          <p:nvPr>
            <p:ph idx="1" type="subTitle"/>
          </p:nvPr>
        </p:nvSpPr>
        <p:spPr>
          <a:xfrm>
            <a:off x="311700" y="769350"/>
            <a:ext cx="8520600" cy="618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es" sz="1500">
                <a:solidFill>
                  <a:srgbClr val="0B5394"/>
                </a:solidFill>
              </a:rPr>
              <a:t>Diagrama de flujo </a:t>
            </a:r>
            <a:endParaRPr/>
          </a:p>
        </p:txBody>
      </p:sp>
      <p:pic>
        <p:nvPicPr>
          <p:cNvPr id="117" name="Google Shape;117;p21"/>
          <p:cNvPicPr preferRelativeResize="0"/>
          <p:nvPr/>
        </p:nvPicPr>
        <p:blipFill>
          <a:blip r:embed="rId3">
            <a:alphaModFix/>
          </a:blip>
          <a:stretch>
            <a:fillRect/>
          </a:stretch>
        </p:blipFill>
        <p:spPr>
          <a:xfrm>
            <a:off x="152400" y="1539750"/>
            <a:ext cx="8839197" cy="209511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116"/>
                                        </p:tgtEl>
                                        <p:attrNameLst>
                                          <p:attrName>style.visibility</p:attrName>
                                        </p:attrNameLst>
                                      </p:cBhvr>
                                      <p:to>
                                        <p:strVal val="visible"/>
                                      </p:to>
                                    </p:set>
                                    <p:animEffect filter="fade" transition="in">
                                      <p:cBhvr>
                                        <p:cTn dur="1000"/>
                                        <p:tgtEl>
                                          <p:spTgt spid="116"/>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17"/>
                                        </p:tgtEl>
                                        <p:attrNameLst>
                                          <p:attrName>style.visibility</p:attrName>
                                        </p:attrNameLst>
                                      </p:cBhvr>
                                      <p:to>
                                        <p:strVal val="visible"/>
                                      </p:to>
                                    </p:set>
                                    <p:animEffect filter="fade" transition="in">
                                      <p:cBhvr>
                                        <p:cTn dur="1000"/>
                                        <p:tgtEl>
                                          <p:spTgt spid="11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22"/>
          <p:cNvSpPr txBox="1"/>
          <p:nvPr>
            <p:ph type="ctrTitle"/>
          </p:nvPr>
        </p:nvSpPr>
        <p:spPr>
          <a:xfrm>
            <a:off x="311700" y="194550"/>
            <a:ext cx="8520600" cy="574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Clr>
                <a:schemeClr val="dk1"/>
              </a:buClr>
              <a:buSzPts val="891"/>
              <a:buFont typeface="Arial"/>
              <a:buNone/>
            </a:pPr>
            <a:r>
              <a:rPr b="1" lang="es" sz="2500">
                <a:solidFill>
                  <a:srgbClr val="1C4587"/>
                </a:solidFill>
              </a:rPr>
              <a:t>MODELOS DE CLASIFICACIÓN (CATBOOST)</a:t>
            </a:r>
            <a:endParaRPr sz="2500"/>
          </a:p>
        </p:txBody>
      </p:sp>
      <p:sp>
        <p:nvSpPr>
          <p:cNvPr id="123" name="Google Shape;123;p22"/>
          <p:cNvSpPr txBox="1"/>
          <p:nvPr>
            <p:ph idx="1" type="subTitle"/>
          </p:nvPr>
        </p:nvSpPr>
        <p:spPr>
          <a:xfrm>
            <a:off x="311700" y="769350"/>
            <a:ext cx="8520600" cy="465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s" sz="1500">
                <a:solidFill>
                  <a:srgbClr val="0B5394"/>
                </a:solidFill>
              </a:rPr>
              <a:t>Desbalanceo de clases tratado con </a:t>
            </a:r>
            <a:r>
              <a:rPr b="1" lang="es" sz="1500" u="sng">
                <a:solidFill>
                  <a:schemeClr val="hlink"/>
                </a:solidFill>
                <a:hlinkClick r:id="rId3"/>
              </a:rPr>
              <a:t>class_weight</a:t>
            </a:r>
            <a:endParaRPr/>
          </a:p>
        </p:txBody>
      </p:sp>
      <p:pic>
        <p:nvPicPr>
          <p:cNvPr id="124" name="Google Shape;124;p22"/>
          <p:cNvPicPr preferRelativeResize="0"/>
          <p:nvPr/>
        </p:nvPicPr>
        <p:blipFill>
          <a:blip r:embed="rId4">
            <a:alphaModFix/>
          </a:blip>
          <a:stretch>
            <a:fillRect/>
          </a:stretch>
        </p:blipFill>
        <p:spPr>
          <a:xfrm>
            <a:off x="607550" y="3273125"/>
            <a:ext cx="3241650" cy="1741025"/>
          </a:xfrm>
          <a:prstGeom prst="rect">
            <a:avLst/>
          </a:prstGeom>
          <a:noFill/>
          <a:ln>
            <a:noFill/>
          </a:ln>
        </p:spPr>
      </p:pic>
      <p:graphicFrame>
        <p:nvGraphicFramePr>
          <p:cNvPr id="125" name="Google Shape;125;p22"/>
          <p:cNvGraphicFramePr/>
          <p:nvPr/>
        </p:nvGraphicFramePr>
        <p:xfrm>
          <a:off x="5185325" y="3041638"/>
          <a:ext cx="3000000" cy="3000000"/>
        </p:xfrm>
        <a:graphic>
          <a:graphicData uri="http://schemas.openxmlformats.org/drawingml/2006/table">
            <a:tbl>
              <a:tblPr>
                <a:noFill/>
                <a:tableStyleId>{D413C966-241D-4A71-B9AA-B556D43ACBE1}</a:tableStyleId>
              </a:tblPr>
              <a:tblGrid>
                <a:gridCol w="972575"/>
                <a:gridCol w="972575"/>
                <a:gridCol w="972575"/>
              </a:tblGrid>
              <a:tr h="372775">
                <a:tc>
                  <a:txBody>
                    <a:bodyPr/>
                    <a:lstStyle/>
                    <a:p>
                      <a:pPr indent="0" lvl="0" marL="0" rtl="0" algn="l">
                        <a:spcBef>
                          <a:spcPts val="0"/>
                        </a:spcBef>
                        <a:spcAft>
                          <a:spcPts val="0"/>
                        </a:spcAft>
                        <a:buNone/>
                      </a:pPr>
                      <a:r>
                        <a:rPr b="1" lang="es" sz="800">
                          <a:solidFill>
                            <a:srgbClr val="0B5394"/>
                          </a:solidFill>
                        </a:rPr>
                        <a:t>Métrica</a:t>
                      </a:r>
                      <a:endParaRPr b="1" sz="800">
                        <a:solidFill>
                          <a:srgbClr val="0B5394"/>
                        </a:solidFill>
                      </a:endParaRPr>
                    </a:p>
                  </a:txBody>
                  <a:tcPr marT="91425" marB="91425" marR="91425" marL="91425">
                    <a:solidFill>
                      <a:srgbClr val="F2F2F2"/>
                    </a:solidFill>
                  </a:tcPr>
                </a:tc>
                <a:tc>
                  <a:txBody>
                    <a:bodyPr/>
                    <a:lstStyle/>
                    <a:p>
                      <a:pPr indent="0" lvl="0" marL="0" rtl="0" algn="ctr">
                        <a:spcBef>
                          <a:spcPts val="0"/>
                        </a:spcBef>
                        <a:spcAft>
                          <a:spcPts val="0"/>
                        </a:spcAft>
                        <a:buNone/>
                      </a:pPr>
                      <a:r>
                        <a:rPr b="1" lang="es" sz="800">
                          <a:solidFill>
                            <a:srgbClr val="0B5394"/>
                          </a:solidFill>
                        </a:rPr>
                        <a:t>Categoría</a:t>
                      </a:r>
                      <a:endParaRPr b="1" sz="800">
                        <a:solidFill>
                          <a:srgbClr val="0B5394"/>
                        </a:solidFill>
                      </a:endParaRPr>
                    </a:p>
                  </a:txBody>
                  <a:tcPr marT="91425" marB="91425" marR="91425" marL="91425">
                    <a:solidFill>
                      <a:srgbClr val="F2F2F2"/>
                    </a:solidFill>
                  </a:tcPr>
                </a:tc>
                <a:tc>
                  <a:txBody>
                    <a:bodyPr/>
                    <a:lstStyle/>
                    <a:p>
                      <a:pPr indent="0" lvl="0" marL="0" rtl="0" algn="ctr">
                        <a:spcBef>
                          <a:spcPts val="0"/>
                        </a:spcBef>
                        <a:spcAft>
                          <a:spcPts val="0"/>
                        </a:spcAft>
                        <a:buNone/>
                      </a:pPr>
                      <a:r>
                        <a:rPr b="1" lang="es" sz="800">
                          <a:solidFill>
                            <a:srgbClr val="0B5394"/>
                          </a:solidFill>
                        </a:rPr>
                        <a:t>Género</a:t>
                      </a:r>
                      <a:endParaRPr b="1" sz="800">
                        <a:solidFill>
                          <a:srgbClr val="0B5394"/>
                        </a:solidFill>
                      </a:endParaRPr>
                    </a:p>
                  </a:txBody>
                  <a:tcPr marT="91425" marB="91425" marR="91425" marL="91425">
                    <a:solidFill>
                      <a:srgbClr val="F2F2F2"/>
                    </a:solidFill>
                  </a:tcPr>
                </a:tc>
              </a:tr>
              <a:tr h="372775">
                <a:tc>
                  <a:txBody>
                    <a:bodyPr/>
                    <a:lstStyle/>
                    <a:p>
                      <a:pPr indent="0" lvl="0" marL="0" rtl="0" algn="l">
                        <a:spcBef>
                          <a:spcPts val="0"/>
                        </a:spcBef>
                        <a:spcAft>
                          <a:spcPts val="0"/>
                        </a:spcAft>
                        <a:buNone/>
                      </a:pPr>
                      <a:r>
                        <a:rPr b="1" lang="es" sz="800">
                          <a:solidFill>
                            <a:srgbClr val="0B5394"/>
                          </a:solidFill>
                        </a:rPr>
                        <a:t>Accuracy</a:t>
                      </a:r>
                      <a:endParaRPr b="1" sz="800">
                        <a:solidFill>
                          <a:srgbClr val="0B5394"/>
                        </a:solidFill>
                      </a:endParaRPr>
                    </a:p>
                  </a:txBody>
                  <a:tcPr marT="91425" marB="91425" marR="91425" marL="91425">
                    <a:solidFill>
                      <a:srgbClr val="F2F2F2"/>
                    </a:solidFill>
                  </a:tcPr>
                </a:tc>
                <a:tc>
                  <a:txBody>
                    <a:bodyPr/>
                    <a:lstStyle/>
                    <a:p>
                      <a:pPr indent="0" lvl="0" marL="0" rtl="0" algn="l">
                        <a:spcBef>
                          <a:spcPts val="0"/>
                        </a:spcBef>
                        <a:spcAft>
                          <a:spcPts val="0"/>
                        </a:spcAft>
                        <a:buNone/>
                      </a:pPr>
                      <a:r>
                        <a:rPr lang="es" sz="800">
                          <a:solidFill>
                            <a:srgbClr val="0B5394"/>
                          </a:solidFill>
                        </a:rPr>
                        <a:t>0.8733</a:t>
                      </a:r>
                      <a:endParaRPr sz="800">
                        <a:solidFill>
                          <a:srgbClr val="0B5394"/>
                        </a:solidFill>
                      </a:endParaRPr>
                    </a:p>
                  </a:txBody>
                  <a:tcPr marT="91425" marB="91425" marR="91425" marL="91425">
                    <a:solidFill>
                      <a:srgbClr val="F2F2F2"/>
                    </a:solidFill>
                  </a:tcPr>
                </a:tc>
                <a:tc>
                  <a:txBody>
                    <a:bodyPr/>
                    <a:lstStyle/>
                    <a:p>
                      <a:pPr indent="0" lvl="0" marL="0" rtl="0" algn="l">
                        <a:spcBef>
                          <a:spcPts val="0"/>
                        </a:spcBef>
                        <a:spcAft>
                          <a:spcPts val="0"/>
                        </a:spcAft>
                        <a:buNone/>
                      </a:pPr>
                      <a:r>
                        <a:rPr lang="es" sz="800">
                          <a:solidFill>
                            <a:srgbClr val="0B5394"/>
                          </a:solidFill>
                        </a:rPr>
                        <a:t>0.9267</a:t>
                      </a:r>
                      <a:endParaRPr sz="800">
                        <a:solidFill>
                          <a:srgbClr val="0B5394"/>
                        </a:solidFill>
                      </a:endParaRPr>
                    </a:p>
                  </a:txBody>
                  <a:tcPr marT="91425" marB="91425" marR="91425" marL="91425">
                    <a:solidFill>
                      <a:srgbClr val="F2F2F2"/>
                    </a:solidFill>
                  </a:tcPr>
                </a:tc>
              </a:tr>
              <a:tr h="372775">
                <a:tc>
                  <a:txBody>
                    <a:bodyPr/>
                    <a:lstStyle/>
                    <a:p>
                      <a:pPr indent="0" lvl="0" marL="0" rtl="0" algn="l">
                        <a:spcBef>
                          <a:spcPts val="0"/>
                        </a:spcBef>
                        <a:spcAft>
                          <a:spcPts val="0"/>
                        </a:spcAft>
                        <a:buNone/>
                      </a:pPr>
                      <a:r>
                        <a:rPr b="1" lang="es" sz="800">
                          <a:solidFill>
                            <a:srgbClr val="0B5394"/>
                          </a:solidFill>
                        </a:rPr>
                        <a:t>Precision</a:t>
                      </a:r>
                      <a:endParaRPr b="1" sz="800">
                        <a:solidFill>
                          <a:srgbClr val="0B5394"/>
                        </a:solidFill>
                      </a:endParaRPr>
                    </a:p>
                  </a:txBody>
                  <a:tcPr marT="91425" marB="91425" marR="91425" marL="91425">
                    <a:solidFill>
                      <a:srgbClr val="F2F2F2"/>
                    </a:solidFill>
                  </a:tcPr>
                </a:tc>
                <a:tc>
                  <a:txBody>
                    <a:bodyPr/>
                    <a:lstStyle/>
                    <a:p>
                      <a:pPr indent="0" lvl="0" marL="0" rtl="0" algn="l">
                        <a:spcBef>
                          <a:spcPts val="0"/>
                        </a:spcBef>
                        <a:spcAft>
                          <a:spcPts val="0"/>
                        </a:spcAft>
                        <a:buNone/>
                      </a:pPr>
                      <a:r>
                        <a:rPr lang="es" sz="800">
                          <a:solidFill>
                            <a:srgbClr val="0B5394"/>
                          </a:solidFill>
                        </a:rPr>
                        <a:t>0.8684</a:t>
                      </a:r>
                      <a:endParaRPr sz="800">
                        <a:solidFill>
                          <a:srgbClr val="0B5394"/>
                        </a:solidFill>
                      </a:endParaRPr>
                    </a:p>
                  </a:txBody>
                  <a:tcPr marT="91425" marB="91425" marR="91425" marL="91425">
                    <a:solidFill>
                      <a:srgbClr val="F2F2F2"/>
                    </a:solidFill>
                  </a:tcPr>
                </a:tc>
                <a:tc>
                  <a:txBody>
                    <a:bodyPr/>
                    <a:lstStyle/>
                    <a:p>
                      <a:pPr indent="0" lvl="0" marL="0" rtl="0" algn="l">
                        <a:spcBef>
                          <a:spcPts val="0"/>
                        </a:spcBef>
                        <a:spcAft>
                          <a:spcPts val="0"/>
                        </a:spcAft>
                        <a:buNone/>
                      </a:pPr>
                      <a:r>
                        <a:rPr lang="es" sz="800">
                          <a:solidFill>
                            <a:srgbClr val="0B5394"/>
                          </a:solidFill>
                        </a:rPr>
                        <a:t>0.9271</a:t>
                      </a:r>
                      <a:endParaRPr sz="800">
                        <a:solidFill>
                          <a:srgbClr val="0B5394"/>
                        </a:solidFill>
                      </a:endParaRPr>
                    </a:p>
                  </a:txBody>
                  <a:tcPr marT="91425" marB="91425" marR="91425" marL="91425">
                    <a:solidFill>
                      <a:srgbClr val="F2F2F2"/>
                    </a:solidFill>
                  </a:tcPr>
                </a:tc>
              </a:tr>
              <a:tr h="372775">
                <a:tc>
                  <a:txBody>
                    <a:bodyPr/>
                    <a:lstStyle/>
                    <a:p>
                      <a:pPr indent="0" lvl="0" marL="0" rtl="0" algn="l">
                        <a:spcBef>
                          <a:spcPts val="0"/>
                        </a:spcBef>
                        <a:spcAft>
                          <a:spcPts val="0"/>
                        </a:spcAft>
                        <a:buNone/>
                      </a:pPr>
                      <a:r>
                        <a:rPr b="1" lang="es" sz="800">
                          <a:solidFill>
                            <a:srgbClr val="0B5394"/>
                          </a:solidFill>
                        </a:rPr>
                        <a:t>Recall</a:t>
                      </a:r>
                      <a:endParaRPr b="1" sz="800">
                        <a:solidFill>
                          <a:srgbClr val="0B5394"/>
                        </a:solidFill>
                      </a:endParaRPr>
                    </a:p>
                  </a:txBody>
                  <a:tcPr marT="91425" marB="91425" marR="91425" marL="91425">
                    <a:solidFill>
                      <a:srgbClr val="F2F2F2"/>
                    </a:solidFill>
                  </a:tcPr>
                </a:tc>
                <a:tc>
                  <a:txBody>
                    <a:bodyPr/>
                    <a:lstStyle/>
                    <a:p>
                      <a:pPr indent="0" lvl="0" marL="0" rtl="0" algn="l">
                        <a:spcBef>
                          <a:spcPts val="0"/>
                        </a:spcBef>
                        <a:spcAft>
                          <a:spcPts val="0"/>
                        </a:spcAft>
                        <a:buNone/>
                      </a:pPr>
                      <a:r>
                        <a:rPr lang="es" sz="800">
                          <a:solidFill>
                            <a:srgbClr val="0B5394"/>
                          </a:solidFill>
                        </a:rPr>
                        <a:t>0.8733</a:t>
                      </a:r>
                      <a:endParaRPr sz="800">
                        <a:solidFill>
                          <a:srgbClr val="0B5394"/>
                        </a:solidFill>
                      </a:endParaRPr>
                    </a:p>
                  </a:txBody>
                  <a:tcPr marT="91425" marB="91425" marR="91425" marL="91425">
                    <a:solidFill>
                      <a:srgbClr val="F2F2F2"/>
                    </a:solidFill>
                  </a:tcPr>
                </a:tc>
                <a:tc>
                  <a:txBody>
                    <a:bodyPr/>
                    <a:lstStyle/>
                    <a:p>
                      <a:pPr indent="0" lvl="0" marL="0" rtl="0" algn="l">
                        <a:spcBef>
                          <a:spcPts val="0"/>
                        </a:spcBef>
                        <a:spcAft>
                          <a:spcPts val="0"/>
                        </a:spcAft>
                        <a:buNone/>
                      </a:pPr>
                      <a:r>
                        <a:rPr lang="es" sz="800">
                          <a:solidFill>
                            <a:srgbClr val="0B5394"/>
                          </a:solidFill>
                        </a:rPr>
                        <a:t>0.9267</a:t>
                      </a:r>
                      <a:endParaRPr sz="800">
                        <a:solidFill>
                          <a:srgbClr val="0B5394"/>
                        </a:solidFill>
                      </a:endParaRPr>
                    </a:p>
                  </a:txBody>
                  <a:tcPr marT="91425" marB="91425" marR="91425" marL="91425">
                    <a:solidFill>
                      <a:srgbClr val="F2F2F2"/>
                    </a:solidFill>
                  </a:tcPr>
                </a:tc>
              </a:tr>
              <a:tr h="372775">
                <a:tc>
                  <a:txBody>
                    <a:bodyPr/>
                    <a:lstStyle/>
                    <a:p>
                      <a:pPr indent="0" lvl="0" marL="0" rtl="0" algn="l">
                        <a:spcBef>
                          <a:spcPts val="0"/>
                        </a:spcBef>
                        <a:spcAft>
                          <a:spcPts val="0"/>
                        </a:spcAft>
                        <a:buNone/>
                      </a:pPr>
                      <a:r>
                        <a:rPr b="1" lang="es" sz="800">
                          <a:solidFill>
                            <a:srgbClr val="0B5394"/>
                          </a:solidFill>
                        </a:rPr>
                        <a:t>F1-Score</a:t>
                      </a:r>
                      <a:endParaRPr b="1" sz="800">
                        <a:solidFill>
                          <a:srgbClr val="0B5394"/>
                        </a:solidFill>
                      </a:endParaRPr>
                    </a:p>
                  </a:txBody>
                  <a:tcPr marT="91425" marB="91425" marR="91425" marL="91425">
                    <a:solidFill>
                      <a:srgbClr val="F2F2F2"/>
                    </a:solidFill>
                  </a:tcPr>
                </a:tc>
                <a:tc>
                  <a:txBody>
                    <a:bodyPr/>
                    <a:lstStyle/>
                    <a:p>
                      <a:pPr indent="0" lvl="0" marL="0" rtl="0" algn="l">
                        <a:spcBef>
                          <a:spcPts val="0"/>
                        </a:spcBef>
                        <a:spcAft>
                          <a:spcPts val="0"/>
                        </a:spcAft>
                        <a:buNone/>
                      </a:pPr>
                      <a:r>
                        <a:rPr lang="es" sz="800">
                          <a:solidFill>
                            <a:srgbClr val="0B5394"/>
                          </a:solidFill>
                        </a:rPr>
                        <a:t>0.8521</a:t>
                      </a:r>
                      <a:endParaRPr sz="800">
                        <a:solidFill>
                          <a:srgbClr val="0B5394"/>
                        </a:solidFill>
                      </a:endParaRPr>
                    </a:p>
                  </a:txBody>
                  <a:tcPr marT="91425" marB="91425" marR="91425" marL="91425">
                    <a:solidFill>
                      <a:srgbClr val="F2F2F2"/>
                    </a:solidFill>
                  </a:tcPr>
                </a:tc>
                <a:tc>
                  <a:txBody>
                    <a:bodyPr/>
                    <a:lstStyle/>
                    <a:p>
                      <a:pPr indent="0" lvl="0" marL="0" rtl="0" algn="l">
                        <a:spcBef>
                          <a:spcPts val="0"/>
                        </a:spcBef>
                        <a:spcAft>
                          <a:spcPts val="0"/>
                        </a:spcAft>
                        <a:buNone/>
                      </a:pPr>
                      <a:r>
                        <a:rPr lang="es" sz="800">
                          <a:solidFill>
                            <a:srgbClr val="0B5394"/>
                          </a:solidFill>
                        </a:rPr>
                        <a:t>0.9230</a:t>
                      </a:r>
                      <a:endParaRPr sz="800">
                        <a:solidFill>
                          <a:srgbClr val="0B5394"/>
                        </a:solidFill>
                      </a:endParaRPr>
                    </a:p>
                  </a:txBody>
                  <a:tcPr marT="91425" marB="91425" marR="91425" marL="91425">
                    <a:solidFill>
                      <a:srgbClr val="F2F2F2"/>
                    </a:solidFill>
                  </a:tcPr>
                </a:tc>
              </a:tr>
            </a:tbl>
          </a:graphicData>
        </a:graphic>
      </p:graphicFrame>
      <p:sp>
        <p:nvSpPr>
          <p:cNvPr id="126" name="Google Shape;126;p22"/>
          <p:cNvSpPr txBox="1"/>
          <p:nvPr/>
        </p:nvSpPr>
        <p:spPr>
          <a:xfrm>
            <a:off x="5170725" y="1353900"/>
            <a:ext cx="3241500" cy="1353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s" sz="1000">
                <a:solidFill>
                  <a:srgbClr val="0B5394"/>
                </a:solidFill>
              </a:rPr>
              <a:t>Valores:</a:t>
            </a:r>
            <a:endParaRPr b="1" sz="1000">
              <a:solidFill>
                <a:srgbClr val="0B5394"/>
              </a:solidFill>
            </a:endParaRPr>
          </a:p>
          <a:p>
            <a:pPr indent="-292100" lvl="0" marL="457200" rtl="0" algn="l">
              <a:spcBef>
                <a:spcPts val="0"/>
              </a:spcBef>
              <a:spcAft>
                <a:spcPts val="0"/>
              </a:spcAft>
              <a:buClr>
                <a:srgbClr val="0B5394"/>
              </a:buClr>
              <a:buSzPts val="1000"/>
              <a:buChar char="●"/>
            </a:pPr>
            <a:r>
              <a:rPr b="1" lang="es" sz="1000">
                <a:solidFill>
                  <a:srgbClr val="0B5394"/>
                </a:solidFill>
              </a:rPr>
              <a:t>Iteracciones</a:t>
            </a:r>
            <a:r>
              <a:rPr b="1" lang="es" sz="1000">
                <a:solidFill>
                  <a:srgbClr val="0B5394"/>
                </a:solidFill>
              </a:rPr>
              <a:t>:1000</a:t>
            </a:r>
            <a:endParaRPr b="1" sz="1000">
              <a:solidFill>
                <a:srgbClr val="0B5394"/>
              </a:solidFill>
            </a:endParaRPr>
          </a:p>
          <a:p>
            <a:pPr indent="-292100" lvl="0" marL="457200" rtl="0" algn="l">
              <a:spcBef>
                <a:spcPts val="0"/>
              </a:spcBef>
              <a:spcAft>
                <a:spcPts val="0"/>
              </a:spcAft>
              <a:buClr>
                <a:srgbClr val="0B5394"/>
              </a:buClr>
              <a:buSzPts val="1000"/>
              <a:buChar char="●"/>
            </a:pPr>
            <a:r>
              <a:rPr b="1" lang="es" sz="1000">
                <a:solidFill>
                  <a:srgbClr val="0B5394"/>
                </a:solidFill>
              </a:rPr>
              <a:t>Learning rate: 0.1</a:t>
            </a:r>
            <a:endParaRPr b="1" sz="1000">
              <a:solidFill>
                <a:srgbClr val="0B5394"/>
              </a:solidFill>
            </a:endParaRPr>
          </a:p>
          <a:p>
            <a:pPr indent="-292100" lvl="0" marL="457200" rtl="0" algn="l">
              <a:spcBef>
                <a:spcPts val="0"/>
              </a:spcBef>
              <a:spcAft>
                <a:spcPts val="0"/>
              </a:spcAft>
              <a:buClr>
                <a:srgbClr val="0B5394"/>
              </a:buClr>
              <a:buSzPts val="1000"/>
              <a:buChar char="●"/>
            </a:pPr>
            <a:r>
              <a:rPr b="1" lang="es" sz="1000">
                <a:solidFill>
                  <a:srgbClr val="0B5394"/>
                </a:solidFill>
              </a:rPr>
              <a:t>Profundidad: 6</a:t>
            </a:r>
            <a:endParaRPr b="1" sz="1000">
              <a:solidFill>
                <a:srgbClr val="0B5394"/>
              </a:solidFill>
            </a:endParaRPr>
          </a:p>
          <a:p>
            <a:pPr indent="-292100" lvl="0" marL="457200" rtl="0" algn="l">
              <a:spcBef>
                <a:spcPts val="0"/>
              </a:spcBef>
              <a:spcAft>
                <a:spcPts val="0"/>
              </a:spcAft>
              <a:buClr>
                <a:srgbClr val="0B5394"/>
              </a:buClr>
              <a:buSzPts val="1000"/>
              <a:buChar char="●"/>
            </a:pPr>
            <a:r>
              <a:rPr b="1" lang="es" sz="1000">
                <a:solidFill>
                  <a:srgbClr val="0B5394"/>
                </a:solidFill>
              </a:rPr>
              <a:t>Función de pérdida: MultiClass</a:t>
            </a:r>
            <a:endParaRPr b="1" sz="1000">
              <a:solidFill>
                <a:srgbClr val="0B5394"/>
              </a:solidFill>
            </a:endParaRPr>
          </a:p>
          <a:p>
            <a:pPr indent="-292100" lvl="0" marL="457200" rtl="0" algn="l">
              <a:spcBef>
                <a:spcPts val="0"/>
              </a:spcBef>
              <a:spcAft>
                <a:spcPts val="0"/>
              </a:spcAft>
              <a:buClr>
                <a:srgbClr val="0B5394"/>
              </a:buClr>
              <a:buSzPts val="1000"/>
              <a:buChar char="●"/>
            </a:pPr>
            <a:r>
              <a:rPr b="1" lang="es" sz="1000">
                <a:solidFill>
                  <a:srgbClr val="0B5394"/>
                </a:solidFill>
              </a:rPr>
              <a:t>Random State: 42</a:t>
            </a:r>
            <a:endParaRPr b="1" sz="1000">
              <a:solidFill>
                <a:srgbClr val="0B5394"/>
              </a:solidFill>
            </a:endParaRPr>
          </a:p>
          <a:p>
            <a:pPr indent="-292100" lvl="0" marL="457200" rtl="0" algn="l">
              <a:spcBef>
                <a:spcPts val="0"/>
              </a:spcBef>
              <a:spcAft>
                <a:spcPts val="0"/>
              </a:spcAft>
              <a:buClr>
                <a:srgbClr val="0B5394"/>
              </a:buClr>
              <a:buSzPts val="1000"/>
              <a:buChar char="●"/>
            </a:pPr>
            <a:r>
              <a:rPr b="1" lang="es" sz="1000">
                <a:solidFill>
                  <a:srgbClr val="0B5394"/>
                </a:solidFill>
              </a:rPr>
              <a:t>Verbose: 100</a:t>
            </a:r>
            <a:endParaRPr b="1" sz="1000">
              <a:solidFill>
                <a:srgbClr val="0B5394"/>
              </a:solidFill>
            </a:endParaRPr>
          </a:p>
          <a:p>
            <a:pPr indent="-292100" lvl="0" marL="457200" rtl="0" algn="l">
              <a:spcBef>
                <a:spcPts val="0"/>
              </a:spcBef>
              <a:spcAft>
                <a:spcPts val="0"/>
              </a:spcAft>
              <a:buClr>
                <a:srgbClr val="0B5394"/>
              </a:buClr>
              <a:buSzPts val="1000"/>
              <a:buChar char="●"/>
            </a:pPr>
            <a:r>
              <a:rPr b="1" lang="es" sz="1000">
                <a:solidFill>
                  <a:srgbClr val="0B5394"/>
                </a:solidFill>
              </a:rPr>
              <a:t>Early Stopping Rounds: 50</a:t>
            </a:r>
            <a:endParaRPr b="1" sz="1000">
              <a:solidFill>
                <a:srgbClr val="0B5394"/>
              </a:solidFill>
            </a:endParaRPr>
          </a:p>
          <a:p>
            <a:pPr indent="0" lvl="0" marL="0" rtl="0" algn="l">
              <a:spcBef>
                <a:spcPts val="0"/>
              </a:spcBef>
              <a:spcAft>
                <a:spcPts val="0"/>
              </a:spcAft>
              <a:buClr>
                <a:schemeClr val="dk1"/>
              </a:buClr>
              <a:buSzPts val="1100"/>
              <a:buFont typeface="Arial"/>
              <a:buNone/>
            </a:pPr>
            <a:r>
              <a:t/>
            </a:r>
            <a:endParaRPr sz="1000">
              <a:solidFill>
                <a:schemeClr val="dk2"/>
              </a:solidFill>
            </a:endParaRPr>
          </a:p>
          <a:p>
            <a:pPr indent="0" lvl="0" marL="0" rtl="0" algn="l">
              <a:spcBef>
                <a:spcPts val="0"/>
              </a:spcBef>
              <a:spcAft>
                <a:spcPts val="0"/>
              </a:spcAft>
              <a:buNone/>
            </a:pPr>
            <a:r>
              <a:t/>
            </a:r>
            <a:endParaRPr sz="1000">
              <a:solidFill>
                <a:schemeClr val="dk2"/>
              </a:solidFill>
            </a:endParaRPr>
          </a:p>
        </p:txBody>
      </p:sp>
      <p:pic>
        <p:nvPicPr>
          <p:cNvPr id="127" name="Google Shape;127;p22"/>
          <p:cNvPicPr preferRelativeResize="0"/>
          <p:nvPr/>
        </p:nvPicPr>
        <p:blipFill>
          <a:blip r:embed="rId5">
            <a:alphaModFix/>
          </a:blip>
          <a:stretch>
            <a:fillRect/>
          </a:stretch>
        </p:blipFill>
        <p:spPr>
          <a:xfrm>
            <a:off x="607550" y="1234950"/>
            <a:ext cx="3241650" cy="199342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123"/>
                                        </p:tgtEl>
                                        <p:attrNameLst>
                                          <p:attrName>style.visibility</p:attrName>
                                        </p:attrNameLst>
                                      </p:cBhvr>
                                      <p:to>
                                        <p:strVal val="visible"/>
                                      </p:to>
                                    </p:set>
                                    <p:animEffect filter="fade" transition="in">
                                      <p:cBhvr>
                                        <p:cTn dur="1000"/>
                                        <p:tgtEl>
                                          <p:spTgt spid="123"/>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27"/>
                                        </p:tgtEl>
                                        <p:attrNameLst>
                                          <p:attrName>style.visibility</p:attrName>
                                        </p:attrNameLst>
                                      </p:cBhvr>
                                      <p:to>
                                        <p:strVal val="visible"/>
                                      </p:to>
                                    </p:set>
                                    <p:animEffect filter="fade" transition="in">
                                      <p:cBhvr>
                                        <p:cTn dur="1000"/>
                                        <p:tgtEl>
                                          <p:spTgt spid="127"/>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124"/>
                                        </p:tgtEl>
                                        <p:attrNameLst>
                                          <p:attrName>style.visibility</p:attrName>
                                        </p:attrNameLst>
                                      </p:cBhvr>
                                      <p:to>
                                        <p:strVal val="visible"/>
                                      </p:to>
                                    </p:set>
                                    <p:animEffect filter="fade" transition="in">
                                      <p:cBhvr>
                                        <p:cTn dur="1000"/>
                                        <p:tgtEl>
                                          <p:spTgt spid="124"/>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126"/>
                                        </p:tgtEl>
                                        <p:attrNameLst>
                                          <p:attrName>style.visibility</p:attrName>
                                        </p:attrNameLst>
                                      </p:cBhvr>
                                      <p:to>
                                        <p:strVal val="visible"/>
                                      </p:to>
                                    </p:set>
                                    <p:animEffect filter="fade" transition="in">
                                      <p:cBhvr>
                                        <p:cTn dur="1"/>
                                        <p:tgtEl>
                                          <p:spTgt spid="126"/>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125"/>
                                        </p:tgtEl>
                                        <p:attrNameLst>
                                          <p:attrName>style.visibility</p:attrName>
                                        </p:attrNameLst>
                                      </p:cBhvr>
                                      <p:to>
                                        <p:strVal val="visible"/>
                                      </p:to>
                                    </p:set>
                                    <p:animEffect filter="fade" transition="in">
                                      <p:cBhvr>
                                        <p:cTn dur="1000"/>
                                        <p:tgtEl>
                                          <p:spTgt spid="12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3"/>
          <p:cNvSpPr txBox="1"/>
          <p:nvPr>
            <p:ph type="ctrTitle"/>
          </p:nvPr>
        </p:nvSpPr>
        <p:spPr>
          <a:xfrm>
            <a:off x="311700" y="194550"/>
            <a:ext cx="8520600" cy="574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Clr>
                <a:schemeClr val="dk1"/>
              </a:buClr>
              <a:buSzPts val="891"/>
              <a:buFont typeface="Arial"/>
              <a:buNone/>
            </a:pPr>
            <a:r>
              <a:rPr b="1" lang="es" sz="2500">
                <a:solidFill>
                  <a:srgbClr val="1C4587"/>
                </a:solidFill>
              </a:rPr>
              <a:t>MODELOS DE CLASIFICACIÓN (CATBOOST)</a:t>
            </a:r>
            <a:endParaRPr sz="2500"/>
          </a:p>
        </p:txBody>
      </p:sp>
      <p:sp>
        <p:nvSpPr>
          <p:cNvPr id="133" name="Google Shape;133;p23"/>
          <p:cNvSpPr txBox="1"/>
          <p:nvPr>
            <p:ph idx="1" type="subTitle"/>
          </p:nvPr>
        </p:nvSpPr>
        <p:spPr>
          <a:xfrm>
            <a:off x="311700" y="769350"/>
            <a:ext cx="8520600" cy="465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s" sz="1500">
                <a:solidFill>
                  <a:srgbClr val="0B5394"/>
                </a:solidFill>
              </a:rPr>
              <a:t>Observaciones en la Matriz de Confusión</a:t>
            </a:r>
            <a:endParaRPr/>
          </a:p>
        </p:txBody>
      </p:sp>
      <p:pic>
        <p:nvPicPr>
          <p:cNvPr id="134" name="Google Shape;134;p23"/>
          <p:cNvPicPr preferRelativeResize="0"/>
          <p:nvPr/>
        </p:nvPicPr>
        <p:blipFill>
          <a:blip r:embed="rId3">
            <a:alphaModFix/>
          </a:blip>
          <a:stretch>
            <a:fillRect/>
          </a:stretch>
        </p:blipFill>
        <p:spPr>
          <a:xfrm>
            <a:off x="152400" y="1387350"/>
            <a:ext cx="4462921" cy="3603749"/>
          </a:xfrm>
          <a:prstGeom prst="rect">
            <a:avLst/>
          </a:prstGeom>
          <a:noFill/>
          <a:ln>
            <a:noFill/>
          </a:ln>
        </p:spPr>
      </p:pic>
      <p:pic>
        <p:nvPicPr>
          <p:cNvPr id="135" name="Google Shape;135;p23"/>
          <p:cNvPicPr preferRelativeResize="0"/>
          <p:nvPr/>
        </p:nvPicPr>
        <p:blipFill>
          <a:blip r:embed="rId4">
            <a:alphaModFix/>
          </a:blip>
          <a:stretch>
            <a:fillRect/>
          </a:stretch>
        </p:blipFill>
        <p:spPr>
          <a:xfrm>
            <a:off x="4767721" y="1387350"/>
            <a:ext cx="4223878" cy="3360688"/>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133"/>
                                        </p:tgtEl>
                                        <p:attrNameLst>
                                          <p:attrName>style.visibility</p:attrName>
                                        </p:attrNameLst>
                                      </p:cBhvr>
                                      <p:to>
                                        <p:strVal val="visible"/>
                                      </p:to>
                                    </p:set>
                                    <p:animEffect filter="fade" transition="in">
                                      <p:cBhvr>
                                        <p:cTn dur="1000"/>
                                        <p:tgtEl>
                                          <p:spTgt spid="133"/>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34"/>
                                        </p:tgtEl>
                                        <p:attrNameLst>
                                          <p:attrName>style.visibility</p:attrName>
                                        </p:attrNameLst>
                                      </p:cBhvr>
                                      <p:to>
                                        <p:strVal val="visible"/>
                                      </p:to>
                                    </p:set>
                                    <p:animEffect filter="fade" transition="in">
                                      <p:cBhvr>
                                        <p:cTn dur="1000"/>
                                        <p:tgtEl>
                                          <p:spTgt spid="134"/>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135"/>
                                        </p:tgtEl>
                                        <p:attrNameLst>
                                          <p:attrName>style.visibility</p:attrName>
                                        </p:attrNameLst>
                                      </p:cBhvr>
                                      <p:to>
                                        <p:strVal val="visible"/>
                                      </p:to>
                                    </p:set>
                                    <p:animEffect filter="fade" transition="in">
                                      <p:cBhvr>
                                        <p:cTn dur="1000"/>
                                        <p:tgtEl>
                                          <p:spTgt spid="13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39" name="Shape 139"/>
        <p:cNvGrpSpPr/>
        <p:nvPr/>
      </p:nvGrpSpPr>
      <p:grpSpPr>
        <a:xfrm>
          <a:off x="0" y="0"/>
          <a:ext cx="0" cy="0"/>
          <a:chOff x="0" y="0"/>
          <a:chExt cx="0" cy="0"/>
        </a:xfrm>
      </p:grpSpPr>
      <p:sp>
        <p:nvSpPr>
          <p:cNvPr id="140" name="Google Shape;140;p24"/>
          <p:cNvSpPr txBox="1"/>
          <p:nvPr>
            <p:ph type="ctrTitle"/>
          </p:nvPr>
        </p:nvSpPr>
        <p:spPr>
          <a:xfrm>
            <a:off x="311700" y="194550"/>
            <a:ext cx="8520600" cy="574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Clr>
                <a:schemeClr val="dk1"/>
              </a:buClr>
              <a:buSzPts val="891"/>
              <a:buFont typeface="Arial"/>
              <a:buNone/>
            </a:pPr>
            <a:r>
              <a:rPr b="1" lang="es" sz="2500">
                <a:solidFill>
                  <a:srgbClr val="1C4587"/>
                </a:solidFill>
              </a:rPr>
              <a:t>MODELOS DE CLASIFICACIÓN (CATBOOST)</a:t>
            </a:r>
            <a:endParaRPr sz="2500"/>
          </a:p>
        </p:txBody>
      </p:sp>
      <p:sp>
        <p:nvSpPr>
          <p:cNvPr id="141" name="Google Shape;141;p24"/>
          <p:cNvSpPr txBox="1"/>
          <p:nvPr>
            <p:ph idx="1" type="subTitle"/>
          </p:nvPr>
        </p:nvSpPr>
        <p:spPr>
          <a:xfrm>
            <a:off x="311700" y="769350"/>
            <a:ext cx="8520600" cy="465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s" sz="1500">
                <a:solidFill>
                  <a:srgbClr val="0B5394"/>
                </a:solidFill>
              </a:rPr>
              <a:t>Segundo entrenamiento: Agregando categorías y aumentando las iteracciones</a:t>
            </a:r>
            <a:endParaRPr/>
          </a:p>
        </p:txBody>
      </p:sp>
      <p:graphicFrame>
        <p:nvGraphicFramePr>
          <p:cNvPr id="142" name="Google Shape;142;p24"/>
          <p:cNvGraphicFramePr/>
          <p:nvPr/>
        </p:nvGraphicFramePr>
        <p:xfrm>
          <a:off x="6332850" y="3390213"/>
          <a:ext cx="3000000" cy="3000000"/>
        </p:xfrm>
        <a:graphic>
          <a:graphicData uri="http://schemas.openxmlformats.org/drawingml/2006/table">
            <a:tbl>
              <a:tblPr>
                <a:noFill/>
                <a:tableStyleId>{D413C966-241D-4A71-B9AA-B556D43ACBE1}</a:tableStyleId>
              </a:tblPr>
              <a:tblGrid>
                <a:gridCol w="833150"/>
                <a:gridCol w="833150"/>
                <a:gridCol w="833150"/>
              </a:tblGrid>
              <a:tr h="299950">
                <a:tc>
                  <a:txBody>
                    <a:bodyPr/>
                    <a:lstStyle/>
                    <a:p>
                      <a:pPr indent="0" lvl="0" marL="0" rtl="0" algn="l">
                        <a:spcBef>
                          <a:spcPts val="0"/>
                        </a:spcBef>
                        <a:spcAft>
                          <a:spcPts val="0"/>
                        </a:spcAft>
                        <a:buNone/>
                      </a:pPr>
                      <a:r>
                        <a:rPr b="1" lang="es" sz="800">
                          <a:solidFill>
                            <a:srgbClr val="0B5394"/>
                          </a:solidFill>
                        </a:rPr>
                        <a:t>Métrica</a:t>
                      </a:r>
                      <a:endParaRPr b="1" sz="800">
                        <a:solidFill>
                          <a:srgbClr val="0B5394"/>
                        </a:solidFill>
                      </a:endParaRPr>
                    </a:p>
                  </a:txBody>
                  <a:tcPr marT="91425" marB="91425" marR="91425" marL="91425">
                    <a:solidFill>
                      <a:srgbClr val="F2F2F2"/>
                    </a:solidFill>
                  </a:tcPr>
                </a:tc>
                <a:tc>
                  <a:txBody>
                    <a:bodyPr/>
                    <a:lstStyle/>
                    <a:p>
                      <a:pPr indent="0" lvl="0" marL="0" rtl="0" algn="ctr">
                        <a:spcBef>
                          <a:spcPts val="0"/>
                        </a:spcBef>
                        <a:spcAft>
                          <a:spcPts val="0"/>
                        </a:spcAft>
                        <a:buNone/>
                      </a:pPr>
                      <a:r>
                        <a:rPr b="1" lang="es" sz="800">
                          <a:solidFill>
                            <a:srgbClr val="0B5394"/>
                          </a:solidFill>
                        </a:rPr>
                        <a:t>Categoría</a:t>
                      </a:r>
                      <a:endParaRPr b="1" sz="800">
                        <a:solidFill>
                          <a:srgbClr val="0B5394"/>
                        </a:solidFill>
                      </a:endParaRPr>
                    </a:p>
                  </a:txBody>
                  <a:tcPr marT="91425" marB="91425" marR="91425" marL="91425">
                    <a:solidFill>
                      <a:srgbClr val="F2F2F2"/>
                    </a:solidFill>
                  </a:tcPr>
                </a:tc>
                <a:tc>
                  <a:txBody>
                    <a:bodyPr/>
                    <a:lstStyle/>
                    <a:p>
                      <a:pPr indent="0" lvl="0" marL="0" rtl="0" algn="ctr">
                        <a:spcBef>
                          <a:spcPts val="0"/>
                        </a:spcBef>
                        <a:spcAft>
                          <a:spcPts val="0"/>
                        </a:spcAft>
                        <a:buNone/>
                      </a:pPr>
                      <a:r>
                        <a:rPr b="1" lang="es" sz="800">
                          <a:solidFill>
                            <a:srgbClr val="0B5394"/>
                          </a:solidFill>
                        </a:rPr>
                        <a:t>Género</a:t>
                      </a:r>
                      <a:endParaRPr b="1" sz="800">
                        <a:solidFill>
                          <a:srgbClr val="0B5394"/>
                        </a:solidFill>
                      </a:endParaRPr>
                    </a:p>
                  </a:txBody>
                  <a:tcPr marT="91425" marB="91425" marR="91425" marL="91425">
                    <a:solidFill>
                      <a:srgbClr val="F2F2F2"/>
                    </a:solidFill>
                  </a:tcPr>
                </a:tc>
              </a:tr>
              <a:tr h="299950">
                <a:tc>
                  <a:txBody>
                    <a:bodyPr/>
                    <a:lstStyle/>
                    <a:p>
                      <a:pPr indent="0" lvl="0" marL="0" rtl="0" algn="l">
                        <a:spcBef>
                          <a:spcPts val="0"/>
                        </a:spcBef>
                        <a:spcAft>
                          <a:spcPts val="0"/>
                        </a:spcAft>
                        <a:buNone/>
                      </a:pPr>
                      <a:r>
                        <a:rPr b="1" lang="es" sz="800">
                          <a:solidFill>
                            <a:srgbClr val="0B5394"/>
                          </a:solidFill>
                        </a:rPr>
                        <a:t>Accuracy</a:t>
                      </a:r>
                      <a:endParaRPr b="1" sz="800">
                        <a:solidFill>
                          <a:srgbClr val="0B5394"/>
                        </a:solidFill>
                      </a:endParaRPr>
                    </a:p>
                  </a:txBody>
                  <a:tcPr marT="91425" marB="91425" marR="91425" marL="91425">
                    <a:solidFill>
                      <a:srgbClr val="F2F2F2"/>
                    </a:solidFill>
                  </a:tcPr>
                </a:tc>
                <a:tc>
                  <a:txBody>
                    <a:bodyPr/>
                    <a:lstStyle/>
                    <a:p>
                      <a:pPr indent="0" lvl="0" marL="0" rtl="0" algn="l">
                        <a:spcBef>
                          <a:spcPts val="0"/>
                        </a:spcBef>
                        <a:spcAft>
                          <a:spcPts val="0"/>
                        </a:spcAft>
                        <a:buNone/>
                      </a:pPr>
                      <a:r>
                        <a:rPr lang="es" sz="800">
                          <a:solidFill>
                            <a:srgbClr val="0B5394"/>
                          </a:solidFill>
                        </a:rPr>
                        <a:t>0.8026</a:t>
                      </a:r>
                      <a:endParaRPr sz="800">
                        <a:solidFill>
                          <a:srgbClr val="0B5394"/>
                        </a:solidFill>
                      </a:endParaRPr>
                    </a:p>
                  </a:txBody>
                  <a:tcPr marT="91425" marB="91425" marR="91425" marL="91425">
                    <a:solidFill>
                      <a:srgbClr val="F2F2F2"/>
                    </a:solidFill>
                  </a:tcPr>
                </a:tc>
                <a:tc>
                  <a:txBody>
                    <a:bodyPr/>
                    <a:lstStyle/>
                    <a:p>
                      <a:pPr indent="0" lvl="0" marL="0" rtl="0" algn="l">
                        <a:spcBef>
                          <a:spcPts val="0"/>
                        </a:spcBef>
                        <a:spcAft>
                          <a:spcPts val="0"/>
                        </a:spcAft>
                        <a:buNone/>
                      </a:pPr>
                      <a:r>
                        <a:rPr lang="es" sz="800">
                          <a:solidFill>
                            <a:srgbClr val="0B5394"/>
                          </a:solidFill>
                        </a:rPr>
                        <a:t>0.9079</a:t>
                      </a:r>
                      <a:endParaRPr sz="800">
                        <a:solidFill>
                          <a:srgbClr val="0B5394"/>
                        </a:solidFill>
                      </a:endParaRPr>
                    </a:p>
                  </a:txBody>
                  <a:tcPr marT="91425" marB="91425" marR="91425" marL="91425">
                    <a:solidFill>
                      <a:srgbClr val="F2F2F2"/>
                    </a:solidFill>
                  </a:tcPr>
                </a:tc>
              </a:tr>
              <a:tr h="299950">
                <a:tc>
                  <a:txBody>
                    <a:bodyPr/>
                    <a:lstStyle/>
                    <a:p>
                      <a:pPr indent="0" lvl="0" marL="0" rtl="0" algn="l">
                        <a:spcBef>
                          <a:spcPts val="0"/>
                        </a:spcBef>
                        <a:spcAft>
                          <a:spcPts val="0"/>
                        </a:spcAft>
                        <a:buNone/>
                      </a:pPr>
                      <a:r>
                        <a:rPr b="1" lang="es" sz="800">
                          <a:solidFill>
                            <a:srgbClr val="0B5394"/>
                          </a:solidFill>
                        </a:rPr>
                        <a:t>Precision</a:t>
                      </a:r>
                      <a:endParaRPr b="1" sz="800">
                        <a:solidFill>
                          <a:srgbClr val="0B5394"/>
                        </a:solidFill>
                      </a:endParaRPr>
                    </a:p>
                  </a:txBody>
                  <a:tcPr marT="91425" marB="91425" marR="91425" marL="91425">
                    <a:solidFill>
                      <a:srgbClr val="F2F2F2"/>
                    </a:solidFill>
                  </a:tcPr>
                </a:tc>
                <a:tc>
                  <a:txBody>
                    <a:bodyPr/>
                    <a:lstStyle/>
                    <a:p>
                      <a:pPr indent="0" lvl="0" marL="0" rtl="0" algn="l">
                        <a:spcBef>
                          <a:spcPts val="0"/>
                        </a:spcBef>
                        <a:spcAft>
                          <a:spcPts val="0"/>
                        </a:spcAft>
                        <a:buNone/>
                      </a:pPr>
                      <a:r>
                        <a:rPr lang="es" sz="800">
                          <a:solidFill>
                            <a:srgbClr val="0B5394"/>
                          </a:solidFill>
                        </a:rPr>
                        <a:t>0.7690</a:t>
                      </a:r>
                      <a:endParaRPr sz="800">
                        <a:solidFill>
                          <a:srgbClr val="0B5394"/>
                        </a:solidFill>
                      </a:endParaRPr>
                    </a:p>
                  </a:txBody>
                  <a:tcPr marT="91425" marB="91425" marR="91425" marL="91425">
                    <a:solidFill>
                      <a:srgbClr val="F2F2F2"/>
                    </a:solidFill>
                  </a:tcPr>
                </a:tc>
                <a:tc>
                  <a:txBody>
                    <a:bodyPr/>
                    <a:lstStyle/>
                    <a:p>
                      <a:pPr indent="0" lvl="0" marL="0" rtl="0" algn="l">
                        <a:spcBef>
                          <a:spcPts val="0"/>
                        </a:spcBef>
                        <a:spcAft>
                          <a:spcPts val="0"/>
                        </a:spcAft>
                        <a:buNone/>
                      </a:pPr>
                      <a:r>
                        <a:rPr lang="es" sz="800">
                          <a:solidFill>
                            <a:srgbClr val="0B5394"/>
                          </a:solidFill>
                        </a:rPr>
                        <a:t>0.9131</a:t>
                      </a:r>
                      <a:endParaRPr sz="800">
                        <a:solidFill>
                          <a:srgbClr val="0B5394"/>
                        </a:solidFill>
                      </a:endParaRPr>
                    </a:p>
                  </a:txBody>
                  <a:tcPr marT="91425" marB="91425" marR="91425" marL="91425">
                    <a:solidFill>
                      <a:srgbClr val="F2F2F2"/>
                    </a:solidFill>
                  </a:tcPr>
                </a:tc>
              </a:tr>
              <a:tr h="299950">
                <a:tc>
                  <a:txBody>
                    <a:bodyPr/>
                    <a:lstStyle/>
                    <a:p>
                      <a:pPr indent="0" lvl="0" marL="0" rtl="0" algn="l">
                        <a:spcBef>
                          <a:spcPts val="0"/>
                        </a:spcBef>
                        <a:spcAft>
                          <a:spcPts val="0"/>
                        </a:spcAft>
                        <a:buNone/>
                      </a:pPr>
                      <a:r>
                        <a:rPr b="1" lang="es" sz="800">
                          <a:solidFill>
                            <a:srgbClr val="0B5394"/>
                          </a:solidFill>
                        </a:rPr>
                        <a:t>Recall</a:t>
                      </a:r>
                      <a:endParaRPr b="1" sz="800">
                        <a:solidFill>
                          <a:srgbClr val="0B5394"/>
                        </a:solidFill>
                      </a:endParaRPr>
                    </a:p>
                  </a:txBody>
                  <a:tcPr marT="91425" marB="91425" marR="91425" marL="91425">
                    <a:solidFill>
                      <a:srgbClr val="F2F2F2"/>
                    </a:solidFill>
                  </a:tcPr>
                </a:tc>
                <a:tc>
                  <a:txBody>
                    <a:bodyPr/>
                    <a:lstStyle/>
                    <a:p>
                      <a:pPr indent="0" lvl="0" marL="0" rtl="0" algn="l">
                        <a:spcBef>
                          <a:spcPts val="0"/>
                        </a:spcBef>
                        <a:spcAft>
                          <a:spcPts val="0"/>
                        </a:spcAft>
                        <a:buNone/>
                      </a:pPr>
                      <a:r>
                        <a:rPr lang="es" sz="800">
                          <a:solidFill>
                            <a:srgbClr val="0B5394"/>
                          </a:solidFill>
                        </a:rPr>
                        <a:t>0.8026</a:t>
                      </a:r>
                      <a:endParaRPr sz="800">
                        <a:solidFill>
                          <a:srgbClr val="0B5394"/>
                        </a:solidFill>
                      </a:endParaRPr>
                    </a:p>
                  </a:txBody>
                  <a:tcPr marT="91425" marB="91425" marR="91425" marL="91425">
                    <a:solidFill>
                      <a:srgbClr val="F2F2F2"/>
                    </a:solidFill>
                  </a:tcPr>
                </a:tc>
                <a:tc>
                  <a:txBody>
                    <a:bodyPr/>
                    <a:lstStyle/>
                    <a:p>
                      <a:pPr indent="0" lvl="0" marL="0" rtl="0" algn="l">
                        <a:spcBef>
                          <a:spcPts val="0"/>
                        </a:spcBef>
                        <a:spcAft>
                          <a:spcPts val="0"/>
                        </a:spcAft>
                        <a:buNone/>
                      </a:pPr>
                      <a:r>
                        <a:rPr lang="es" sz="800">
                          <a:solidFill>
                            <a:srgbClr val="0B5394"/>
                          </a:solidFill>
                        </a:rPr>
                        <a:t>0.9079</a:t>
                      </a:r>
                      <a:endParaRPr sz="800">
                        <a:solidFill>
                          <a:srgbClr val="0B5394"/>
                        </a:solidFill>
                      </a:endParaRPr>
                    </a:p>
                  </a:txBody>
                  <a:tcPr marT="91425" marB="91425" marR="91425" marL="91425">
                    <a:solidFill>
                      <a:srgbClr val="F2F2F2"/>
                    </a:solidFill>
                  </a:tcPr>
                </a:tc>
              </a:tr>
              <a:tr h="299950">
                <a:tc>
                  <a:txBody>
                    <a:bodyPr/>
                    <a:lstStyle/>
                    <a:p>
                      <a:pPr indent="0" lvl="0" marL="0" rtl="0" algn="l">
                        <a:spcBef>
                          <a:spcPts val="0"/>
                        </a:spcBef>
                        <a:spcAft>
                          <a:spcPts val="0"/>
                        </a:spcAft>
                        <a:buNone/>
                      </a:pPr>
                      <a:r>
                        <a:rPr b="1" lang="es" sz="800">
                          <a:solidFill>
                            <a:srgbClr val="0B5394"/>
                          </a:solidFill>
                        </a:rPr>
                        <a:t>F1-Score</a:t>
                      </a:r>
                      <a:endParaRPr b="1" sz="800">
                        <a:solidFill>
                          <a:srgbClr val="0B5394"/>
                        </a:solidFill>
                      </a:endParaRPr>
                    </a:p>
                  </a:txBody>
                  <a:tcPr marT="91425" marB="91425" marR="91425" marL="91425">
                    <a:solidFill>
                      <a:srgbClr val="F2F2F2"/>
                    </a:solidFill>
                  </a:tcPr>
                </a:tc>
                <a:tc>
                  <a:txBody>
                    <a:bodyPr/>
                    <a:lstStyle/>
                    <a:p>
                      <a:pPr indent="0" lvl="0" marL="0" rtl="0" algn="l">
                        <a:spcBef>
                          <a:spcPts val="0"/>
                        </a:spcBef>
                        <a:spcAft>
                          <a:spcPts val="0"/>
                        </a:spcAft>
                        <a:buNone/>
                      </a:pPr>
                      <a:r>
                        <a:rPr lang="es" sz="800">
                          <a:solidFill>
                            <a:srgbClr val="0B5394"/>
                          </a:solidFill>
                        </a:rPr>
                        <a:t>0.7726</a:t>
                      </a:r>
                      <a:endParaRPr sz="800">
                        <a:solidFill>
                          <a:srgbClr val="0B5394"/>
                        </a:solidFill>
                      </a:endParaRPr>
                    </a:p>
                  </a:txBody>
                  <a:tcPr marT="91425" marB="91425" marR="91425" marL="91425">
                    <a:solidFill>
                      <a:srgbClr val="F2F2F2"/>
                    </a:solidFill>
                  </a:tcPr>
                </a:tc>
                <a:tc>
                  <a:txBody>
                    <a:bodyPr/>
                    <a:lstStyle/>
                    <a:p>
                      <a:pPr indent="0" lvl="0" marL="0" rtl="0" algn="l">
                        <a:spcBef>
                          <a:spcPts val="0"/>
                        </a:spcBef>
                        <a:spcAft>
                          <a:spcPts val="0"/>
                        </a:spcAft>
                        <a:buNone/>
                      </a:pPr>
                      <a:r>
                        <a:rPr lang="es" sz="800">
                          <a:solidFill>
                            <a:srgbClr val="0B5394"/>
                          </a:solidFill>
                        </a:rPr>
                        <a:t>0.8987</a:t>
                      </a:r>
                      <a:endParaRPr sz="800">
                        <a:solidFill>
                          <a:srgbClr val="0B5394"/>
                        </a:solidFill>
                      </a:endParaRPr>
                    </a:p>
                  </a:txBody>
                  <a:tcPr marT="91425" marB="91425" marR="91425" marL="91425">
                    <a:solidFill>
                      <a:srgbClr val="F2F2F2"/>
                    </a:solidFill>
                  </a:tcPr>
                </a:tc>
              </a:tr>
            </a:tbl>
          </a:graphicData>
        </a:graphic>
      </p:graphicFrame>
      <p:sp>
        <p:nvSpPr>
          <p:cNvPr id="143" name="Google Shape;143;p24"/>
          <p:cNvSpPr txBox="1"/>
          <p:nvPr/>
        </p:nvSpPr>
        <p:spPr>
          <a:xfrm>
            <a:off x="6039900" y="1635638"/>
            <a:ext cx="2792400" cy="1353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s" sz="1000">
                <a:solidFill>
                  <a:srgbClr val="0B5394"/>
                </a:solidFill>
              </a:rPr>
              <a:t>Valores:</a:t>
            </a:r>
            <a:endParaRPr b="1" sz="1000">
              <a:solidFill>
                <a:srgbClr val="0B5394"/>
              </a:solidFill>
            </a:endParaRPr>
          </a:p>
          <a:p>
            <a:pPr indent="-292100" lvl="0" marL="457200" rtl="0" algn="l">
              <a:spcBef>
                <a:spcPts val="0"/>
              </a:spcBef>
              <a:spcAft>
                <a:spcPts val="0"/>
              </a:spcAft>
              <a:buClr>
                <a:srgbClr val="0B5394"/>
              </a:buClr>
              <a:buSzPts val="1000"/>
              <a:buChar char="●"/>
            </a:pPr>
            <a:r>
              <a:rPr b="1" lang="es" sz="1000">
                <a:solidFill>
                  <a:srgbClr val="0B5394"/>
                </a:solidFill>
              </a:rPr>
              <a:t>Iteracciones:2000</a:t>
            </a:r>
            <a:endParaRPr b="1" sz="1000">
              <a:solidFill>
                <a:srgbClr val="0B5394"/>
              </a:solidFill>
            </a:endParaRPr>
          </a:p>
          <a:p>
            <a:pPr indent="-292100" lvl="0" marL="457200" rtl="0" algn="l">
              <a:spcBef>
                <a:spcPts val="0"/>
              </a:spcBef>
              <a:spcAft>
                <a:spcPts val="0"/>
              </a:spcAft>
              <a:buClr>
                <a:srgbClr val="0B5394"/>
              </a:buClr>
              <a:buSzPts val="1000"/>
              <a:buChar char="●"/>
            </a:pPr>
            <a:r>
              <a:rPr b="1" lang="es" sz="1000">
                <a:solidFill>
                  <a:srgbClr val="0B5394"/>
                </a:solidFill>
              </a:rPr>
              <a:t>Learning rate: 0.1</a:t>
            </a:r>
            <a:endParaRPr b="1" sz="1000">
              <a:solidFill>
                <a:srgbClr val="0B5394"/>
              </a:solidFill>
            </a:endParaRPr>
          </a:p>
          <a:p>
            <a:pPr indent="-292100" lvl="0" marL="457200" rtl="0" algn="l">
              <a:spcBef>
                <a:spcPts val="0"/>
              </a:spcBef>
              <a:spcAft>
                <a:spcPts val="0"/>
              </a:spcAft>
              <a:buClr>
                <a:srgbClr val="0B5394"/>
              </a:buClr>
              <a:buSzPts val="1000"/>
              <a:buChar char="●"/>
            </a:pPr>
            <a:r>
              <a:rPr b="1" lang="es" sz="1000">
                <a:solidFill>
                  <a:srgbClr val="0B5394"/>
                </a:solidFill>
              </a:rPr>
              <a:t>Profundidad: 6</a:t>
            </a:r>
            <a:endParaRPr b="1" sz="1000">
              <a:solidFill>
                <a:srgbClr val="0B5394"/>
              </a:solidFill>
            </a:endParaRPr>
          </a:p>
          <a:p>
            <a:pPr indent="-292100" lvl="0" marL="457200" rtl="0" algn="l">
              <a:spcBef>
                <a:spcPts val="0"/>
              </a:spcBef>
              <a:spcAft>
                <a:spcPts val="0"/>
              </a:spcAft>
              <a:buClr>
                <a:srgbClr val="0B5394"/>
              </a:buClr>
              <a:buSzPts val="1000"/>
              <a:buChar char="●"/>
            </a:pPr>
            <a:r>
              <a:rPr b="1" lang="es" sz="1000">
                <a:solidFill>
                  <a:srgbClr val="0B5394"/>
                </a:solidFill>
              </a:rPr>
              <a:t>Función de pérdida: MultiClass</a:t>
            </a:r>
            <a:endParaRPr b="1" sz="1000">
              <a:solidFill>
                <a:srgbClr val="0B5394"/>
              </a:solidFill>
            </a:endParaRPr>
          </a:p>
          <a:p>
            <a:pPr indent="-292100" lvl="0" marL="457200" rtl="0" algn="l">
              <a:spcBef>
                <a:spcPts val="0"/>
              </a:spcBef>
              <a:spcAft>
                <a:spcPts val="0"/>
              </a:spcAft>
              <a:buClr>
                <a:srgbClr val="0B5394"/>
              </a:buClr>
              <a:buSzPts val="1000"/>
              <a:buChar char="●"/>
            </a:pPr>
            <a:r>
              <a:rPr b="1" lang="es" sz="1000">
                <a:solidFill>
                  <a:srgbClr val="0B5394"/>
                </a:solidFill>
              </a:rPr>
              <a:t>Random State: 42</a:t>
            </a:r>
            <a:endParaRPr b="1" sz="1000">
              <a:solidFill>
                <a:srgbClr val="0B5394"/>
              </a:solidFill>
            </a:endParaRPr>
          </a:p>
          <a:p>
            <a:pPr indent="-292100" lvl="0" marL="457200" rtl="0" algn="l">
              <a:spcBef>
                <a:spcPts val="0"/>
              </a:spcBef>
              <a:spcAft>
                <a:spcPts val="0"/>
              </a:spcAft>
              <a:buClr>
                <a:srgbClr val="0B5394"/>
              </a:buClr>
              <a:buSzPts val="1000"/>
              <a:buChar char="●"/>
            </a:pPr>
            <a:r>
              <a:rPr b="1" lang="es" sz="1000">
                <a:solidFill>
                  <a:srgbClr val="0B5394"/>
                </a:solidFill>
              </a:rPr>
              <a:t>Verbose: 100</a:t>
            </a:r>
            <a:endParaRPr b="1" sz="1000">
              <a:solidFill>
                <a:srgbClr val="0B5394"/>
              </a:solidFill>
            </a:endParaRPr>
          </a:p>
          <a:p>
            <a:pPr indent="-292100" lvl="0" marL="457200" rtl="0" algn="l">
              <a:spcBef>
                <a:spcPts val="0"/>
              </a:spcBef>
              <a:spcAft>
                <a:spcPts val="0"/>
              </a:spcAft>
              <a:buClr>
                <a:srgbClr val="0B5394"/>
              </a:buClr>
              <a:buSzPts val="1000"/>
              <a:buChar char="●"/>
            </a:pPr>
            <a:r>
              <a:rPr b="1" lang="es" sz="1000">
                <a:solidFill>
                  <a:srgbClr val="0B5394"/>
                </a:solidFill>
              </a:rPr>
              <a:t>Early Stopping Rounds: 50</a:t>
            </a:r>
            <a:endParaRPr b="1" sz="1000">
              <a:solidFill>
                <a:srgbClr val="0B5394"/>
              </a:solidFill>
            </a:endParaRPr>
          </a:p>
          <a:p>
            <a:pPr indent="0" lvl="0" marL="0" rtl="0" algn="l">
              <a:spcBef>
                <a:spcPts val="0"/>
              </a:spcBef>
              <a:spcAft>
                <a:spcPts val="0"/>
              </a:spcAft>
              <a:buClr>
                <a:schemeClr val="dk1"/>
              </a:buClr>
              <a:buSzPts val="1100"/>
              <a:buFont typeface="Arial"/>
              <a:buNone/>
            </a:pPr>
            <a:r>
              <a:t/>
            </a:r>
            <a:endParaRPr sz="1000">
              <a:solidFill>
                <a:schemeClr val="dk2"/>
              </a:solidFill>
            </a:endParaRPr>
          </a:p>
          <a:p>
            <a:pPr indent="0" lvl="0" marL="0" rtl="0" algn="l">
              <a:spcBef>
                <a:spcPts val="0"/>
              </a:spcBef>
              <a:spcAft>
                <a:spcPts val="0"/>
              </a:spcAft>
              <a:buNone/>
            </a:pPr>
            <a:r>
              <a:t/>
            </a:r>
            <a:endParaRPr sz="1000">
              <a:solidFill>
                <a:schemeClr val="dk2"/>
              </a:solidFill>
            </a:endParaRPr>
          </a:p>
        </p:txBody>
      </p:sp>
      <p:pic>
        <p:nvPicPr>
          <p:cNvPr id="144" name="Google Shape;144;p24"/>
          <p:cNvPicPr preferRelativeResize="0"/>
          <p:nvPr/>
        </p:nvPicPr>
        <p:blipFill>
          <a:blip r:embed="rId3">
            <a:alphaModFix/>
          </a:blip>
          <a:stretch>
            <a:fillRect/>
          </a:stretch>
        </p:blipFill>
        <p:spPr>
          <a:xfrm>
            <a:off x="311700" y="1757765"/>
            <a:ext cx="5728201" cy="285146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141"/>
                                        </p:tgtEl>
                                        <p:attrNameLst>
                                          <p:attrName>style.visibility</p:attrName>
                                        </p:attrNameLst>
                                      </p:cBhvr>
                                      <p:to>
                                        <p:strVal val="visible"/>
                                      </p:to>
                                    </p:set>
                                    <p:animEffect filter="fade" transition="in">
                                      <p:cBhvr>
                                        <p:cTn dur="1000"/>
                                        <p:tgtEl>
                                          <p:spTgt spid="141"/>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44"/>
                                        </p:tgtEl>
                                        <p:attrNameLst>
                                          <p:attrName>style.visibility</p:attrName>
                                        </p:attrNameLst>
                                      </p:cBhvr>
                                      <p:to>
                                        <p:strVal val="visible"/>
                                      </p:to>
                                    </p:set>
                                    <p:animEffect filter="fade" transition="in">
                                      <p:cBhvr>
                                        <p:cTn dur="1000"/>
                                        <p:tgtEl>
                                          <p:spTgt spid="144"/>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143"/>
                                        </p:tgtEl>
                                        <p:attrNameLst>
                                          <p:attrName>style.visibility</p:attrName>
                                        </p:attrNameLst>
                                      </p:cBhvr>
                                      <p:to>
                                        <p:strVal val="visible"/>
                                      </p:to>
                                    </p:set>
                                    <p:animEffect filter="fade" transition="in">
                                      <p:cBhvr>
                                        <p:cTn dur="1"/>
                                        <p:tgtEl>
                                          <p:spTgt spid="143"/>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142"/>
                                        </p:tgtEl>
                                        <p:attrNameLst>
                                          <p:attrName>style.visibility</p:attrName>
                                        </p:attrNameLst>
                                      </p:cBhvr>
                                      <p:to>
                                        <p:strVal val="visible"/>
                                      </p:to>
                                    </p:set>
                                    <p:animEffect filter="fade" transition="in">
                                      <p:cBhvr>
                                        <p:cTn dur="1000"/>
                                        <p:tgtEl>
                                          <p:spTgt spid="14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48" name="Shape 148"/>
        <p:cNvGrpSpPr/>
        <p:nvPr/>
      </p:nvGrpSpPr>
      <p:grpSpPr>
        <a:xfrm>
          <a:off x="0" y="0"/>
          <a:ext cx="0" cy="0"/>
          <a:chOff x="0" y="0"/>
          <a:chExt cx="0" cy="0"/>
        </a:xfrm>
      </p:grpSpPr>
      <p:sp>
        <p:nvSpPr>
          <p:cNvPr id="149" name="Google Shape;149;p25"/>
          <p:cNvSpPr txBox="1"/>
          <p:nvPr>
            <p:ph type="ctrTitle"/>
          </p:nvPr>
        </p:nvSpPr>
        <p:spPr>
          <a:xfrm>
            <a:off x="311700" y="194550"/>
            <a:ext cx="8520600" cy="574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Clr>
                <a:schemeClr val="dk1"/>
              </a:buClr>
              <a:buSzPts val="891"/>
              <a:buFont typeface="Arial"/>
              <a:buNone/>
            </a:pPr>
            <a:r>
              <a:rPr b="1" lang="es" sz="2500">
                <a:solidFill>
                  <a:srgbClr val="1C4587"/>
                </a:solidFill>
              </a:rPr>
              <a:t>MODELOS DE CLASIFICACIÓN (CATBOOST)</a:t>
            </a:r>
            <a:endParaRPr sz="2500"/>
          </a:p>
        </p:txBody>
      </p:sp>
      <p:sp>
        <p:nvSpPr>
          <p:cNvPr id="150" name="Google Shape;150;p25"/>
          <p:cNvSpPr txBox="1"/>
          <p:nvPr>
            <p:ph idx="1" type="subTitle"/>
          </p:nvPr>
        </p:nvSpPr>
        <p:spPr>
          <a:xfrm>
            <a:off x="311700" y="769350"/>
            <a:ext cx="8520600" cy="465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s" sz="1500">
                <a:solidFill>
                  <a:srgbClr val="0B5394"/>
                </a:solidFill>
              </a:rPr>
              <a:t>Segundo entrenamiento Agregando categorías y aumentando las iteracciones</a:t>
            </a:r>
            <a:endParaRPr/>
          </a:p>
        </p:txBody>
      </p:sp>
      <p:pic>
        <p:nvPicPr>
          <p:cNvPr id="151" name="Google Shape;151;p25"/>
          <p:cNvPicPr preferRelativeResize="0"/>
          <p:nvPr/>
        </p:nvPicPr>
        <p:blipFill>
          <a:blip r:embed="rId3">
            <a:alphaModFix/>
          </a:blip>
          <a:stretch>
            <a:fillRect/>
          </a:stretch>
        </p:blipFill>
        <p:spPr>
          <a:xfrm>
            <a:off x="152400" y="1525650"/>
            <a:ext cx="8839202" cy="290685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150"/>
                                        </p:tgtEl>
                                        <p:attrNameLst>
                                          <p:attrName>style.visibility</p:attrName>
                                        </p:attrNameLst>
                                      </p:cBhvr>
                                      <p:to>
                                        <p:strVal val="visible"/>
                                      </p:to>
                                    </p:set>
                                    <p:animEffect filter="fade" transition="in">
                                      <p:cBhvr>
                                        <p:cTn dur="1000"/>
                                        <p:tgtEl>
                                          <p:spTgt spid="150"/>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51"/>
                                        </p:tgtEl>
                                        <p:attrNameLst>
                                          <p:attrName>style.visibility</p:attrName>
                                        </p:attrNameLst>
                                      </p:cBhvr>
                                      <p:to>
                                        <p:strVal val="visible"/>
                                      </p:to>
                                    </p:set>
                                    <p:animEffect filter="fade" transition="in">
                                      <p:cBhvr>
                                        <p:cTn dur="1000"/>
                                        <p:tgtEl>
                                          <p:spTgt spid="15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55" name="Shape 155"/>
        <p:cNvGrpSpPr/>
        <p:nvPr/>
      </p:nvGrpSpPr>
      <p:grpSpPr>
        <a:xfrm>
          <a:off x="0" y="0"/>
          <a:ext cx="0" cy="0"/>
          <a:chOff x="0" y="0"/>
          <a:chExt cx="0" cy="0"/>
        </a:xfrm>
      </p:grpSpPr>
      <p:sp>
        <p:nvSpPr>
          <p:cNvPr id="156" name="Google Shape;156;p26"/>
          <p:cNvSpPr txBox="1"/>
          <p:nvPr>
            <p:ph type="ctrTitle"/>
          </p:nvPr>
        </p:nvSpPr>
        <p:spPr>
          <a:xfrm>
            <a:off x="311700" y="194550"/>
            <a:ext cx="8520600" cy="574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Clr>
                <a:schemeClr val="dk1"/>
              </a:buClr>
              <a:buSzPts val="891"/>
              <a:buFont typeface="Arial"/>
              <a:buNone/>
            </a:pPr>
            <a:r>
              <a:rPr b="1" lang="es" sz="2500">
                <a:solidFill>
                  <a:srgbClr val="1C4587"/>
                </a:solidFill>
              </a:rPr>
              <a:t>MODELOS DE CLASIFICACIÓN (CATBOOST)</a:t>
            </a:r>
            <a:endParaRPr sz="2500"/>
          </a:p>
        </p:txBody>
      </p:sp>
      <p:sp>
        <p:nvSpPr>
          <p:cNvPr id="157" name="Google Shape;157;p26"/>
          <p:cNvSpPr txBox="1"/>
          <p:nvPr>
            <p:ph idx="1" type="subTitle"/>
          </p:nvPr>
        </p:nvSpPr>
        <p:spPr>
          <a:xfrm>
            <a:off x="311700" y="769350"/>
            <a:ext cx="8520600" cy="465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s" sz="1500">
                <a:solidFill>
                  <a:srgbClr val="0B5394"/>
                </a:solidFill>
              </a:rPr>
              <a:t>Segundo entrenamiento </a:t>
            </a:r>
            <a:r>
              <a:rPr b="1" lang="es" sz="1500">
                <a:solidFill>
                  <a:srgbClr val="0B5394"/>
                </a:solidFill>
              </a:rPr>
              <a:t>Observaciones en la Matriz de Confusión</a:t>
            </a:r>
            <a:endParaRPr/>
          </a:p>
        </p:txBody>
      </p:sp>
      <p:pic>
        <p:nvPicPr>
          <p:cNvPr id="158" name="Google Shape;158;p26"/>
          <p:cNvPicPr preferRelativeResize="0"/>
          <p:nvPr/>
        </p:nvPicPr>
        <p:blipFill>
          <a:blip r:embed="rId3">
            <a:alphaModFix/>
          </a:blip>
          <a:stretch>
            <a:fillRect/>
          </a:stretch>
        </p:blipFill>
        <p:spPr>
          <a:xfrm>
            <a:off x="152400" y="1387350"/>
            <a:ext cx="4210458" cy="3603751"/>
          </a:xfrm>
          <a:prstGeom prst="rect">
            <a:avLst/>
          </a:prstGeom>
          <a:noFill/>
          <a:ln>
            <a:noFill/>
          </a:ln>
        </p:spPr>
      </p:pic>
      <p:pic>
        <p:nvPicPr>
          <p:cNvPr id="159" name="Google Shape;159;p26"/>
          <p:cNvPicPr preferRelativeResize="0"/>
          <p:nvPr/>
        </p:nvPicPr>
        <p:blipFill>
          <a:blip r:embed="rId4">
            <a:alphaModFix/>
          </a:blip>
          <a:stretch>
            <a:fillRect/>
          </a:stretch>
        </p:blipFill>
        <p:spPr>
          <a:xfrm>
            <a:off x="4515258" y="1387350"/>
            <a:ext cx="4476343" cy="360305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157"/>
                                        </p:tgtEl>
                                        <p:attrNameLst>
                                          <p:attrName>style.visibility</p:attrName>
                                        </p:attrNameLst>
                                      </p:cBhvr>
                                      <p:to>
                                        <p:strVal val="visible"/>
                                      </p:to>
                                    </p:set>
                                    <p:animEffect filter="fade" transition="in">
                                      <p:cBhvr>
                                        <p:cTn dur="1000"/>
                                        <p:tgtEl>
                                          <p:spTgt spid="157"/>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58"/>
                                        </p:tgtEl>
                                        <p:attrNameLst>
                                          <p:attrName>style.visibility</p:attrName>
                                        </p:attrNameLst>
                                      </p:cBhvr>
                                      <p:to>
                                        <p:strVal val="visible"/>
                                      </p:to>
                                    </p:set>
                                    <p:animEffect filter="fade" transition="in">
                                      <p:cBhvr>
                                        <p:cTn dur="1000"/>
                                        <p:tgtEl>
                                          <p:spTgt spid="158"/>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159"/>
                                        </p:tgtEl>
                                        <p:attrNameLst>
                                          <p:attrName>style.visibility</p:attrName>
                                        </p:attrNameLst>
                                      </p:cBhvr>
                                      <p:to>
                                        <p:strVal val="visible"/>
                                      </p:to>
                                    </p:set>
                                    <p:animEffect filter="fade" transition="in">
                                      <p:cBhvr>
                                        <p:cTn dur="1000"/>
                                        <p:tgtEl>
                                          <p:spTgt spid="15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7"/>
          <p:cNvSpPr txBox="1"/>
          <p:nvPr>
            <p:ph type="ctrTitle"/>
          </p:nvPr>
        </p:nvSpPr>
        <p:spPr>
          <a:xfrm>
            <a:off x="311700" y="194550"/>
            <a:ext cx="8520600" cy="5748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Clr>
                <a:schemeClr val="dk1"/>
              </a:buClr>
              <a:buSzPts val="990"/>
              <a:buFont typeface="Arial"/>
              <a:buNone/>
            </a:pPr>
            <a:r>
              <a:rPr b="1" lang="es" sz="2500">
                <a:solidFill>
                  <a:srgbClr val="1C4587"/>
                </a:solidFill>
              </a:rPr>
              <a:t>BÚSQUEDA VECTORIAL CON PGVECTOR</a:t>
            </a:r>
            <a:endParaRPr sz="2500"/>
          </a:p>
        </p:txBody>
      </p:sp>
      <p:sp>
        <p:nvSpPr>
          <p:cNvPr id="165" name="Google Shape;165;p27"/>
          <p:cNvSpPr txBox="1"/>
          <p:nvPr>
            <p:ph idx="1" type="subTitle"/>
          </p:nvPr>
        </p:nvSpPr>
        <p:spPr>
          <a:xfrm>
            <a:off x="311700" y="769350"/>
            <a:ext cx="8520600" cy="459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es" sz="1500">
                <a:solidFill>
                  <a:srgbClr val="0B5394"/>
                </a:solidFill>
              </a:rPr>
              <a:t>Diagrama de Arquitectura</a:t>
            </a:r>
            <a:endParaRPr sz="1500"/>
          </a:p>
        </p:txBody>
      </p:sp>
      <p:pic>
        <p:nvPicPr>
          <p:cNvPr id="166" name="Google Shape;166;p27"/>
          <p:cNvPicPr preferRelativeResize="0"/>
          <p:nvPr/>
        </p:nvPicPr>
        <p:blipFill>
          <a:blip r:embed="rId3">
            <a:alphaModFix/>
          </a:blip>
          <a:stretch>
            <a:fillRect/>
          </a:stretch>
        </p:blipFill>
        <p:spPr>
          <a:xfrm>
            <a:off x="393925" y="1331625"/>
            <a:ext cx="8470120" cy="360974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165"/>
                                        </p:tgtEl>
                                        <p:attrNameLst>
                                          <p:attrName>style.visibility</p:attrName>
                                        </p:attrNameLst>
                                      </p:cBhvr>
                                      <p:to>
                                        <p:strVal val="visible"/>
                                      </p:to>
                                    </p:set>
                                    <p:animEffect filter="fade" transition="in">
                                      <p:cBhvr>
                                        <p:cTn dur="1000"/>
                                        <p:tgtEl>
                                          <p:spTgt spid="165"/>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66"/>
                                        </p:tgtEl>
                                        <p:attrNameLst>
                                          <p:attrName>style.visibility</p:attrName>
                                        </p:attrNameLst>
                                      </p:cBhvr>
                                      <p:to>
                                        <p:strVal val="visible"/>
                                      </p:to>
                                    </p:set>
                                    <p:animEffect filter="fade" transition="in">
                                      <p:cBhvr>
                                        <p:cTn dur="1000"/>
                                        <p:tgtEl>
                                          <p:spTgt spid="16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28"/>
          <p:cNvSpPr txBox="1"/>
          <p:nvPr>
            <p:ph type="ctrTitle"/>
          </p:nvPr>
        </p:nvSpPr>
        <p:spPr>
          <a:xfrm>
            <a:off x="311700" y="194550"/>
            <a:ext cx="8520600" cy="574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Clr>
                <a:schemeClr val="dk1"/>
              </a:buClr>
              <a:buSzPts val="891"/>
              <a:buFont typeface="Arial"/>
              <a:buNone/>
            </a:pPr>
            <a:r>
              <a:rPr b="1" lang="es" sz="2500">
                <a:solidFill>
                  <a:srgbClr val="1C4587"/>
                </a:solidFill>
              </a:rPr>
              <a:t>ARQUITECTURA MULTIAGENTE</a:t>
            </a:r>
            <a:endParaRPr sz="2500"/>
          </a:p>
        </p:txBody>
      </p:sp>
      <p:pic>
        <p:nvPicPr>
          <p:cNvPr id="172" name="Google Shape;172;p28"/>
          <p:cNvPicPr preferRelativeResize="0"/>
          <p:nvPr/>
        </p:nvPicPr>
        <p:blipFill>
          <a:blip r:embed="rId3">
            <a:alphaModFix/>
          </a:blip>
          <a:stretch>
            <a:fillRect/>
          </a:stretch>
        </p:blipFill>
        <p:spPr>
          <a:xfrm>
            <a:off x="983513" y="769350"/>
            <a:ext cx="7176979" cy="42217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172"/>
                                        </p:tgtEl>
                                        <p:attrNameLst>
                                          <p:attrName>style.visibility</p:attrName>
                                        </p:attrNameLst>
                                      </p:cBhvr>
                                      <p:to>
                                        <p:strVal val="visible"/>
                                      </p:to>
                                    </p:set>
                                    <p:animEffect filter="fade" transition="in">
                                      <p:cBhvr>
                                        <p:cTn dur="1000"/>
                                        <p:tgtEl>
                                          <p:spTgt spid="17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pic>
        <p:nvPicPr>
          <p:cNvPr id="177" name="Google Shape;177;p29"/>
          <p:cNvPicPr preferRelativeResize="0"/>
          <p:nvPr/>
        </p:nvPicPr>
        <p:blipFill>
          <a:blip r:embed="rId3">
            <a:alphaModFix/>
          </a:blip>
          <a:stretch>
            <a:fillRect/>
          </a:stretch>
        </p:blipFill>
        <p:spPr>
          <a:xfrm>
            <a:off x="311700" y="769350"/>
            <a:ext cx="8520599" cy="3872875"/>
          </a:xfrm>
          <a:prstGeom prst="rect">
            <a:avLst/>
          </a:prstGeom>
          <a:noFill/>
          <a:ln>
            <a:noFill/>
          </a:ln>
        </p:spPr>
      </p:pic>
      <p:pic>
        <p:nvPicPr>
          <p:cNvPr id="178" name="Google Shape;178;p29"/>
          <p:cNvPicPr preferRelativeResize="0"/>
          <p:nvPr/>
        </p:nvPicPr>
        <p:blipFill>
          <a:blip r:embed="rId4">
            <a:alphaModFix/>
          </a:blip>
          <a:stretch>
            <a:fillRect/>
          </a:stretch>
        </p:blipFill>
        <p:spPr>
          <a:xfrm>
            <a:off x="311700" y="769350"/>
            <a:ext cx="8520600" cy="4173350"/>
          </a:xfrm>
          <a:prstGeom prst="rect">
            <a:avLst/>
          </a:prstGeom>
          <a:noFill/>
          <a:ln>
            <a:noFill/>
          </a:ln>
        </p:spPr>
      </p:pic>
      <p:pic>
        <p:nvPicPr>
          <p:cNvPr id="179" name="Google Shape;179;p29"/>
          <p:cNvPicPr preferRelativeResize="0"/>
          <p:nvPr/>
        </p:nvPicPr>
        <p:blipFill>
          <a:blip r:embed="rId5">
            <a:alphaModFix/>
          </a:blip>
          <a:stretch>
            <a:fillRect/>
          </a:stretch>
        </p:blipFill>
        <p:spPr>
          <a:xfrm>
            <a:off x="311700" y="769350"/>
            <a:ext cx="8275777" cy="4173349"/>
          </a:xfrm>
          <a:prstGeom prst="rect">
            <a:avLst/>
          </a:prstGeom>
          <a:noFill/>
          <a:ln>
            <a:noFill/>
          </a:ln>
        </p:spPr>
      </p:pic>
      <p:pic>
        <p:nvPicPr>
          <p:cNvPr id="180" name="Google Shape;180;p29"/>
          <p:cNvPicPr preferRelativeResize="0"/>
          <p:nvPr/>
        </p:nvPicPr>
        <p:blipFill>
          <a:blip r:embed="rId6">
            <a:alphaModFix/>
          </a:blip>
          <a:stretch>
            <a:fillRect/>
          </a:stretch>
        </p:blipFill>
        <p:spPr>
          <a:xfrm>
            <a:off x="311700" y="769350"/>
            <a:ext cx="8275777" cy="4173350"/>
          </a:xfrm>
          <a:prstGeom prst="rect">
            <a:avLst/>
          </a:prstGeom>
          <a:noFill/>
          <a:ln>
            <a:noFill/>
          </a:ln>
        </p:spPr>
      </p:pic>
      <p:sp>
        <p:nvSpPr>
          <p:cNvPr id="181" name="Google Shape;181;p29"/>
          <p:cNvSpPr txBox="1"/>
          <p:nvPr>
            <p:ph type="ctrTitle"/>
          </p:nvPr>
        </p:nvSpPr>
        <p:spPr>
          <a:xfrm>
            <a:off x="311700" y="194550"/>
            <a:ext cx="8520600" cy="574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Clr>
                <a:schemeClr val="dk1"/>
              </a:buClr>
              <a:buSzPts val="891"/>
              <a:buFont typeface="Arial"/>
              <a:buNone/>
            </a:pPr>
            <a:r>
              <a:rPr b="1" lang="es" sz="2500">
                <a:solidFill>
                  <a:srgbClr val="1C4587"/>
                </a:solidFill>
              </a:rPr>
              <a:t>INTERFAZ Y FLUJO DE USUARIO</a:t>
            </a:r>
            <a:endParaRPr sz="2500"/>
          </a:p>
        </p:txBody>
      </p:sp>
      <p:sp>
        <p:nvSpPr>
          <p:cNvPr id="182" name="Google Shape;182;p29"/>
          <p:cNvSpPr/>
          <p:nvPr/>
        </p:nvSpPr>
        <p:spPr>
          <a:xfrm>
            <a:off x="311700" y="769350"/>
            <a:ext cx="8520600" cy="42753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xit" presetID="10" presetSubtype="0">
                                  <p:stCondLst>
                                    <p:cond delay="0"/>
                                  </p:stCondLst>
                                  <p:childTnLst>
                                    <p:animEffect filter="fade" transition="out">
                                      <p:cBhvr>
                                        <p:cTn dur="1000"/>
                                        <p:tgtEl>
                                          <p:spTgt spid="182"/>
                                        </p:tgtEl>
                                      </p:cBhvr>
                                    </p:animEffect>
                                    <p:set>
                                      <p:cBhvr>
                                        <p:cTn dur="1" fill="hold">
                                          <p:stCondLst>
                                            <p:cond delay="1000"/>
                                          </p:stCondLst>
                                        </p:cTn>
                                        <p:tgtEl>
                                          <p:spTgt spid="182"/>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1000"/>
                                        <p:tgtEl>
                                          <p:spTgt spid="180"/>
                                        </p:tgtEl>
                                      </p:cBhvr>
                                    </p:animEffect>
                                    <p:set>
                                      <p:cBhvr>
                                        <p:cTn dur="1" fill="hold">
                                          <p:stCondLst>
                                            <p:cond delay="1000"/>
                                          </p:stCondLst>
                                        </p:cTn>
                                        <p:tgtEl>
                                          <p:spTgt spid="180"/>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1000"/>
                                        <p:tgtEl>
                                          <p:spTgt spid="179"/>
                                        </p:tgtEl>
                                      </p:cBhvr>
                                    </p:animEffect>
                                    <p:set>
                                      <p:cBhvr>
                                        <p:cTn dur="1" fill="hold">
                                          <p:stCondLst>
                                            <p:cond delay="1000"/>
                                          </p:stCondLst>
                                        </p:cTn>
                                        <p:tgtEl>
                                          <p:spTgt spid="179"/>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1000"/>
                                        <p:tgtEl>
                                          <p:spTgt spid="178"/>
                                        </p:tgtEl>
                                      </p:cBhvr>
                                    </p:animEffect>
                                    <p:set>
                                      <p:cBhvr>
                                        <p:cTn dur="1" fill="hold">
                                          <p:stCondLst>
                                            <p:cond delay="1000"/>
                                          </p:stCondLst>
                                        </p:cTn>
                                        <p:tgtEl>
                                          <p:spTgt spid="178"/>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pic>
        <p:nvPicPr>
          <p:cNvPr id="187" name="Google Shape;187;p30"/>
          <p:cNvPicPr preferRelativeResize="0"/>
          <p:nvPr/>
        </p:nvPicPr>
        <p:blipFill>
          <a:blip r:embed="rId3">
            <a:alphaModFix/>
          </a:blip>
          <a:stretch>
            <a:fillRect/>
          </a:stretch>
        </p:blipFill>
        <p:spPr>
          <a:xfrm>
            <a:off x="311700" y="769350"/>
            <a:ext cx="8520599" cy="4179916"/>
          </a:xfrm>
          <a:prstGeom prst="rect">
            <a:avLst/>
          </a:prstGeom>
          <a:noFill/>
          <a:ln>
            <a:noFill/>
          </a:ln>
        </p:spPr>
      </p:pic>
      <p:sp>
        <p:nvSpPr>
          <p:cNvPr id="188" name="Google Shape;188;p30"/>
          <p:cNvSpPr txBox="1"/>
          <p:nvPr>
            <p:ph type="ctrTitle"/>
          </p:nvPr>
        </p:nvSpPr>
        <p:spPr>
          <a:xfrm>
            <a:off x="311700" y="194550"/>
            <a:ext cx="8520600" cy="5748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Clr>
                <a:schemeClr val="dk1"/>
              </a:buClr>
              <a:buSzPts val="990"/>
              <a:buFont typeface="Arial"/>
              <a:buNone/>
            </a:pPr>
            <a:r>
              <a:rPr b="1" lang="es" sz="2500">
                <a:solidFill>
                  <a:srgbClr val="1C4587"/>
                </a:solidFill>
              </a:rPr>
              <a:t>EJEMPLOS DE RESULTADOS</a:t>
            </a:r>
            <a:endParaRPr sz="2500"/>
          </a:p>
        </p:txBody>
      </p:sp>
      <p:pic>
        <p:nvPicPr>
          <p:cNvPr id="189" name="Google Shape;189;p30"/>
          <p:cNvPicPr preferRelativeResize="0"/>
          <p:nvPr/>
        </p:nvPicPr>
        <p:blipFill>
          <a:blip r:embed="rId4">
            <a:alphaModFix/>
          </a:blip>
          <a:stretch>
            <a:fillRect/>
          </a:stretch>
        </p:blipFill>
        <p:spPr>
          <a:xfrm>
            <a:off x="340925" y="769350"/>
            <a:ext cx="8520598" cy="4179926"/>
          </a:xfrm>
          <a:prstGeom prst="rect">
            <a:avLst/>
          </a:prstGeom>
          <a:noFill/>
          <a:ln>
            <a:noFill/>
          </a:ln>
        </p:spPr>
      </p:pic>
      <p:pic>
        <p:nvPicPr>
          <p:cNvPr id="190" name="Google Shape;190;p30"/>
          <p:cNvPicPr preferRelativeResize="0"/>
          <p:nvPr/>
        </p:nvPicPr>
        <p:blipFill>
          <a:blip r:embed="rId5">
            <a:alphaModFix/>
          </a:blip>
          <a:stretch>
            <a:fillRect/>
          </a:stretch>
        </p:blipFill>
        <p:spPr>
          <a:xfrm>
            <a:off x="266575" y="769350"/>
            <a:ext cx="8610836" cy="4069351"/>
          </a:xfrm>
          <a:prstGeom prst="rect">
            <a:avLst/>
          </a:prstGeom>
          <a:noFill/>
          <a:ln>
            <a:noFill/>
          </a:ln>
        </p:spPr>
      </p:pic>
      <p:pic>
        <p:nvPicPr>
          <p:cNvPr id="191" name="Google Shape;191;p30"/>
          <p:cNvPicPr preferRelativeResize="0"/>
          <p:nvPr/>
        </p:nvPicPr>
        <p:blipFill>
          <a:blip r:embed="rId6">
            <a:alphaModFix/>
          </a:blip>
          <a:stretch>
            <a:fillRect/>
          </a:stretch>
        </p:blipFill>
        <p:spPr>
          <a:xfrm>
            <a:off x="266575" y="769350"/>
            <a:ext cx="8594951" cy="4179924"/>
          </a:xfrm>
          <a:prstGeom prst="rect">
            <a:avLst/>
          </a:prstGeom>
          <a:noFill/>
          <a:ln>
            <a:noFill/>
          </a:ln>
        </p:spPr>
      </p:pic>
      <p:sp>
        <p:nvSpPr>
          <p:cNvPr id="192" name="Google Shape;192;p30"/>
          <p:cNvSpPr/>
          <p:nvPr/>
        </p:nvSpPr>
        <p:spPr>
          <a:xfrm>
            <a:off x="266575" y="769350"/>
            <a:ext cx="8595000" cy="41799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xit" presetID="10" presetSubtype="0">
                                  <p:stCondLst>
                                    <p:cond delay="0"/>
                                  </p:stCondLst>
                                  <p:childTnLst>
                                    <p:animEffect filter="fade" transition="out">
                                      <p:cBhvr>
                                        <p:cTn dur="1000"/>
                                        <p:tgtEl>
                                          <p:spTgt spid="192"/>
                                        </p:tgtEl>
                                      </p:cBhvr>
                                    </p:animEffect>
                                    <p:set>
                                      <p:cBhvr>
                                        <p:cTn dur="1" fill="hold">
                                          <p:stCondLst>
                                            <p:cond delay="1000"/>
                                          </p:stCondLst>
                                        </p:cTn>
                                        <p:tgtEl>
                                          <p:spTgt spid="192"/>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1000"/>
                                        <p:tgtEl>
                                          <p:spTgt spid="191"/>
                                        </p:tgtEl>
                                      </p:cBhvr>
                                    </p:animEffect>
                                    <p:set>
                                      <p:cBhvr>
                                        <p:cTn dur="1" fill="hold">
                                          <p:stCondLst>
                                            <p:cond delay="1000"/>
                                          </p:stCondLst>
                                        </p:cTn>
                                        <p:tgtEl>
                                          <p:spTgt spid="191"/>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1000"/>
                                        <p:tgtEl>
                                          <p:spTgt spid="190"/>
                                        </p:tgtEl>
                                      </p:cBhvr>
                                    </p:animEffect>
                                    <p:set>
                                      <p:cBhvr>
                                        <p:cTn dur="1" fill="hold">
                                          <p:stCondLst>
                                            <p:cond delay="1000"/>
                                          </p:stCondLst>
                                        </p:cTn>
                                        <p:tgtEl>
                                          <p:spTgt spid="190"/>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1000"/>
                                        <p:tgtEl>
                                          <p:spTgt spid="189"/>
                                        </p:tgtEl>
                                      </p:cBhvr>
                                    </p:animEffect>
                                    <p:set>
                                      <p:cBhvr>
                                        <p:cTn dur="1" fill="hold">
                                          <p:stCondLst>
                                            <p:cond delay="1000"/>
                                          </p:stCondLst>
                                        </p:cTn>
                                        <p:tgtEl>
                                          <p:spTgt spid="189"/>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31"/>
          <p:cNvSpPr txBox="1"/>
          <p:nvPr>
            <p:ph type="ctrTitle"/>
          </p:nvPr>
        </p:nvSpPr>
        <p:spPr>
          <a:xfrm>
            <a:off x="311700" y="194550"/>
            <a:ext cx="8520600" cy="5748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Clr>
                <a:schemeClr val="dk1"/>
              </a:buClr>
              <a:buSzPct val="32781"/>
              <a:buFont typeface="Arial"/>
              <a:buNone/>
            </a:pPr>
            <a:r>
              <a:rPr b="1" lang="es" sz="3020">
                <a:solidFill>
                  <a:srgbClr val="1C4587"/>
                </a:solidFill>
              </a:rPr>
              <a:t>LIMITACIONES</a:t>
            </a:r>
            <a:endParaRPr/>
          </a:p>
        </p:txBody>
      </p:sp>
      <p:sp>
        <p:nvSpPr>
          <p:cNvPr id="198" name="Google Shape;198;p31"/>
          <p:cNvSpPr txBox="1"/>
          <p:nvPr>
            <p:ph idx="1" type="subTitle"/>
          </p:nvPr>
        </p:nvSpPr>
        <p:spPr>
          <a:xfrm>
            <a:off x="311700" y="4141475"/>
            <a:ext cx="8520600" cy="805200"/>
          </a:xfrm>
          <a:prstGeom prst="rect">
            <a:avLst/>
          </a:prstGeom>
        </p:spPr>
        <p:txBody>
          <a:bodyPr anchorCtr="0" anchor="t" bIns="91425" lIns="91425" spcFirstLastPara="1" rIns="91425" wrap="square" tIns="91425">
            <a:noAutofit/>
          </a:bodyPr>
          <a:lstStyle/>
          <a:p>
            <a:pPr indent="0" lvl="0" marL="0" rtl="0" algn="l">
              <a:lnSpc>
                <a:spcPct val="80000"/>
              </a:lnSpc>
              <a:spcBef>
                <a:spcPts val="0"/>
              </a:spcBef>
              <a:spcAft>
                <a:spcPts val="0"/>
              </a:spcAft>
              <a:buSzPts val="523"/>
              <a:buNone/>
            </a:pPr>
            <a:r>
              <a:rPr b="1" lang="es" sz="1000">
                <a:solidFill>
                  <a:srgbClr val="0B5394"/>
                </a:solidFill>
              </a:rPr>
              <a:t>Personalización</a:t>
            </a:r>
            <a:r>
              <a:rPr lang="es" sz="1000">
                <a:solidFill>
                  <a:srgbClr val="0B5394"/>
                </a:solidFill>
              </a:rPr>
              <a:t>. El sistema no considera aún contexto temporal como la estación del año (verano vs invierno) ni características del usuario como edad o preferencias de estilo previas. Todas las búsquedas son independientes sin memoria a largo plazo.</a:t>
            </a:r>
            <a:endParaRPr b="1" sz="1000">
              <a:solidFill>
                <a:srgbClr val="0B5394"/>
              </a:solidFill>
            </a:endParaRPr>
          </a:p>
          <a:p>
            <a:pPr indent="0" lvl="0" marL="0" rtl="0" algn="l">
              <a:lnSpc>
                <a:spcPct val="80000"/>
              </a:lnSpc>
              <a:spcBef>
                <a:spcPts val="0"/>
              </a:spcBef>
              <a:spcAft>
                <a:spcPts val="0"/>
              </a:spcAft>
              <a:buClr>
                <a:schemeClr val="dk1"/>
              </a:buClr>
              <a:buSzPts val="523"/>
              <a:buFont typeface="Arial"/>
              <a:buNone/>
            </a:pPr>
            <a:r>
              <a:t/>
            </a:r>
            <a:endParaRPr b="1" sz="712">
              <a:solidFill>
                <a:srgbClr val="0B5394"/>
              </a:solidFill>
            </a:endParaRPr>
          </a:p>
        </p:txBody>
      </p:sp>
      <p:sp>
        <p:nvSpPr>
          <p:cNvPr id="199" name="Google Shape;199;p31"/>
          <p:cNvSpPr txBox="1"/>
          <p:nvPr/>
        </p:nvSpPr>
        <p:spPr>
          <a:xfrm>
            <a:off x="311700" y="1583025"/>
            <a:ext cx="8520600" cy="897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000">
                <a:solidFill>
                  <a:srgbClr val="0B5394"/>
                </a:solidFill>
              </a:rPr>
              <a:t> </a:t>
            </a:r>
            <a:r>
              <a:rPr b="1" lang="es" sz="1000">
                <a:solidFill>
                  <a:srgbClr val="0B5394"/>
                </a:solidFill>
              </a:rPr>
              <a:t>El color</a:t>
            </a:r>
            <a:r>
              <a:rPr lang="es" sz="1000">
                <a:solidFill>
                  <a:srgbClr val="0B5394"/>
                </a:solidFill>
              </a:rPr>
              <a:t>. No se entrenó un modelo específico de clasificación de color porque las etiquetas originales eran extremadamente inconsistentes: algunas tiendas usan nombres ('rojo'), otras códigos hexadecimales ('#FF0000'), otras URLs de imágenes. Fusionar estas representaciones habría requerido un trabajo de normalización adicional que quedó fuera del alcance.</a:t>
            </a:r>
            <a:endParaRPr sz="1000">
              <a:solidFill>
                <a:schemeClr val="dk2"/>
              </a:solidFill>
            </a:endParaRPr>
          </a:p>
        </p:txBody>
      </p:sp>
      <p:sp>
        <p:nvSpPr>
          <p:cNvPr id="200" name="Google Shape;200;p31"/>
          <p:cNvSpPr txBox="1"/>
          <p:nvPr/>
        </p:nvSpPr>
        <p:spPr>
          <a:xfrm>
            <a:off x="311700" y="769350"/>
            <a:ext cx="8520600" cy="873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000">
                <a:solidFill>
                  <a:srgbClr val="0B5394"/>
                </a:solidFill>
              </a:rPr>
              <a:t>El dataset.</a:t>
            </a:r>
            <a:r>
              <a:rPr lang="es" sz="1000">
                <a:solidFill>
                  <a:srgbClr val="0B5394"/>
                </a:solidFill>
              </a:rPr>
              <a:t> De los 16,660 productos consolidados, solo 764 tenían imágenes válidas y utilizables. Esto creó un desbalanceo significativo: Dama representa el 45%, Caballero el 30%, mientras que Niños y Bebés están subrepresentados. Además, categorías minoritarias como 'Trajes de baño' tienen solo 15 productos, insuficientes para generalizar bien.</a:t>
            </a:r>
            <a:endParaRPr sz="1000">
              <a:solidFill>
                <a:schemeClr val="dk2"/>
              </a:solidFill>
            </a:endParaRPr>
          </a:p>
        </p:txBody>
      </p:sp>
      <p:sp>
        <p:nvSpPr>
          <p:cNvPr id="201" name="Google Shape;201;p31"/>
          <p:cNvSpPr txBox="1"/>
          <p:nvPr/>
        </p:nvSpPr>
        <p:spPr>
          <a:xfrm>
            <a:off x="311700" y="2388300"/>
            <a:ext cx="8520600" cy="873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000">
                <a:solidFill>
                  <a:srgbClr val="0B5394"/>
                </a:solidFill>
              </a:rPr>
              <a:t>Los embeddings de imagen</a:t>
            </a:r>
            <a:r>
              <a:rPr lang="es" sz="1000">
                <a:solidFill>
                  <a:srgbClr val="0B5394"/>
                </a:solidFill>
              </a:rPr>
              <a:t>. Contienen mucho ruido contextual: fondos de estudio, maniquíes, otras prendas en la misma foto. Esto dificulta su uso directo para clasificación supervisada. Por eso decidí usar solo los embeddings de texto bilingüe para CatBoost, que son más limpios y consistentes.</a:t>
            </a:r>
            <a:endParaRPr sz="1000">
              <a:solidFill>
                <a:schemeClr val="dk2"/>
              </a:solidFill>
            </a:endParaRPr>
          </a:p>
        </p:txBody>
      </p:sp>
      <p:sp>
        <p:nvSpPr>
          <p:cNvPr id="202" name="Google Shape;202;p31"/>
          <p:cNvSpPr txBox="1"/>
          <p:nvPr/>
        </p:nvSpPr>
        <p:spPr>
          <a:xfrm>
            <a:off x="311700" y="3268275"/>
            <a:ext cx="8520600" cy="805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000">
                <a:solidFill>
                  <a:srgbClr val="0B5394"/>
                </a:solidFill>
              </a:rPr>
              <a:t>La arquitectura</a:t>
            </a:r>
            <a:r>
              <a:rPr lang="es" sz="1000">
                <a:solidFill>
                  <a:srgbClr val="0B5394"/>
                </a:solidFill>
              </a:rPr>
              <a:t>. Hay una fuerte dependencia de LLMs externos (Azure OpenAI), lo que implica costos operacionales continuos y preocupaciones de privacidad al enviar datos de usuarios a APIs de terceros. El modo fallback basado en reglas es funcional pero limitado: no puede entender matices complejos ni adaptarse a consultas inusuales.</a:t>
            </a:r>
            <a:endParaRPr sz="1000">
              <a:solidFill>
                <a:schemeClr val="dk2"/>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00"/>
                                        </p:tgtEl>
                                        <p:attrNameLst>
                                          <p:attrName>style.visibility</p:attrName>
                                        </p:attrNameLst>
                                      </p:cBhvr>
                                      <p:to>
                                        <p:strVal val="visible"/>
                                      </p:to>
                                    </p:set>
                                    <p:animEffect filter="fade" transition="in">
                                      <p:cBhvr>
                                        <p:cTn dur="1000"/>
                                        <p:tgtEl>
                                          <p:spTgt spid="200"/>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99"/>
                                        </p:tgtEl>
                                        <p:attrNameLst>
                                          <p:attrName>style.visibility</p:attrName>
                                        </p:attrNameLst>
                                      </p:cBhvr>
                                      <p:to>
                                        <p:strVal val="visible"/>
                                      </p:to>
                                    </p:set>
                                    <p:animEffect filter="fade" transition="in">
                                      <p:cBhvr>
                                        <p:cTn dur="1000"/>
                                        <p:tgtEl>
                                          <p:spTgt spid="199"/>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201"/>
                                        </p:tgtEl>
                                        <p:attrNameLst>
                                          <p:attrName>style.visibility</p:attrName>
                                        </p:attrNameLst>
                                      </p:cBhvr>
                                      <p:to>
                                        <p:strVal val="visible"/>
                                      </p:to>
                                    </p:set>
                                    <p:animEffect filter="fade" transition="in">
                                      <p:cBhvr>
                                        <p:cTn dur="1000"/>
                                        <p:tgtEl>
                                          <p:spTgt spid="201"/>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202"/>
                                        </p:tgtEl>
                                        <p:attrNameLst>
                                          <p:attrName>style.visibility</p:attrName>
                                        </p:attrNameLst>
                                      </p:cBhvr>
                                      <p:to>
                                        <p:strVal val="visible"/>
                                      </p:to>
                                    </p:set>
                                    <p:animEffect filter="fade" transition="in">
                                      <p:cBhvr>
                                        <p:cTn dur="1000"/>
                                        <p:tgtEl>
                                          <p:spTgt spid="202"/>
                                        </p:tgtEl>
                                      </p:cBhvr>
                                    </p:animEffect>
                                  </p:childTnLst>
                                </p:cTn>
                              </p:par>
                            </p:childTnLst>
                          </p:cTn>
                        </p:par>
                        <p:par>
                          <p:cTn fill="hold">
                            <p:stCondLst>
                              <p:cond delay="4000"/>
                            </p:stCondLst>
                            <p:childTnLst>
                              <p:par>
                                <p:cTn fill="hold" nodeType="afterEffect" presetClass="entr" presetID="10" presetSubtype="0">
                                  <p:stCondLst>
                                    <p:cond delay="0"/>
                                  </p:stCondLst>
                                  <p:childTnLst>
                                    <p:set>
                                      <p:cBhvr>
                                        <p:cTn dur="1" fill="hold">
                                          <p:stCondLst>
                                            <p:cond delay="0"/>
                                          </p:stCondLst>
                                        </p:cTn>
                                        <p:tgtEl>
                                          <p:spTgt spid="198"/>
                                        </p:tgtEl>
                                        <p:attrNameLst>
                                          <p:attrName>style.visibility</p:attrName>
                                        </p:attrNameLst>
                                      </p:cBhvr>
                                      <p:to>
                                        <p:strVal val="visible"/>
                                      </p:to>
                                    </p:set>
                                    <p:animEffect filter="fade" transition="in">
                                      <p:cBhvr>
                                        <p:cTn dur="1000"/>
                                        <p:tgtEl>
                                          <p:spTgt spid="19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32"/>
          <p:cNvSpPr txBox="1"/>
          <p:nvPr>
            <p:ph type="ctrTitle"/>
          </p:nvPr>
        </p:nvSpPr>
        <p:spPr>
          <a:xfrm>
            <a:off x="311700" y="194550"/>
            <a:ext cx="8520600" cy="5748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Clr>
                <a:schemeClr val="dk1"/>
              </a:buClr>
              <a:buSzPts val="990"/>
              <a:buFont typeface="Arial"/>
              <a:buNone/>
            </a:pPr>
            <a:r>
              <a:rPr b="1" lang="es" sz="2500">
                <a:solidFill>
                  <a:srgbClr val="1C4587"/>
                </a:solidFill>
              </a:rPr>
              <a:t>CONCLUSIONES Y TRABAJO FUTURO</a:t>
            </a:r>
            <a:endParaRPr sz="2500"/>
          </a:p>
        </p:txBody>
      </p:sp>
      <p:sp>
        <p:nvSpPr>
          <p:cNvPr id="208" name="Google Shape;208;p32"/>
          <p:cNvSpPr txBox="1"/>
          <p:nvPr>
            <p:ph idx="1" type="subTitle"/>
          </p:nvPr>
        </p:nvSpPr>
        <p:spPr>
          <a:xfrm>
            <a:off x="311700" y="769350"/>
            <a:ext cx="4260300" cy="40413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b="1" lang="es" sz="1500">
                <a:solidFill>
                  <a:srgbClr val="0B5394"/>
                </a:solidFill>
              </a:rPr>
              <a:t>Conclusiones:</a:t>
            </a:r>
            <a:endParaRPr b="1" sz="1500">
              <a:solidFill>
                <a:srgbClr val="0B5394"/>
              </a:solidFill>
            </a:endParaRPr>
          </a:p>
          <a:p>
            <a:pPr indent="0" lvl="0" marL="0" rtl="0" algn="l">
              <a:spcBef>
                <a:spcPts val="0"/>
              </a:spcBef>
              <a:spcAft>
                <a:spcPts val="0"/>
              </a:spcAft>
              <a:buNone/>
            </a:pPr>
            <a:r>
              <a:t/>
            </a:r>
            <a:endParaRPr b="1" sz="1500">
              <a:solidFill>
                <a:srgbClr val="0B5394"/>
              </a:solidFill>
            </a:endParaRPr>
          </a:p>
          <a:p>
            <a:pPr indent="-323850" lvl="0" marL="457200" rtl="0" algn="l">
              <a:spcBef>
                <a:spcPts val="0"/>
              </a:spcBef>
              <a:spcAft>
                <a:spcPts val="0"/>
              </a:spcAft>
              <a:buClr>
                <a:srgbClr val="0B5394"/>
              </a:buClr>
              <a:buSzPts val="1500"/>
              <a:buAutoNum type="arabicPeriod"/>
            </a:pPr>
            <a:r>
              <a:rPr lang="es" sz="1500">
                <a:solidFill>
                  <a:srgbClr val="0B5394"/>
                </a:solidFill>
              </a:rPr>
              <a:t>Se logró estandarizar exitosamente 31 taxonomías de tiendas.</a:t>
            </a:r>
            <a:endParaRPr sz="1500">
              <a:solidFill>
                <a:srgbClr val="0B5394"/>
              </a:solidFill>
            </a:endParaRPr>
          </a:p>
          <a:p>
            <a:pPr indent="0" lvl="0" marL="914400" rtl="0" algn="l">
              <a:spcBef>
                <a:spcPts val="0"/>
              </a:spcBef>
              <a:spcAft>
                <a:spcPts val="0"/>
              </a:spcAft>
              <a:buNone/>
            </a:pPr>
            <a:r>
              <a:t/>
            </a:r>
            <a:endParaRPr sz="1500">
              <a:solidFill>
                <a:srgbClr val="0B5394"/>
              </a:solidFill>
            </a:endParaRPr>
          </a:p>
          <a:p>
            <a:pPr indent="-323850" lvl="0" marL="457200" rtl="0" algn="l">
              <a:spcBef>
                <a:spcPts val="0"/>
              </a:spcBef>
              <a:spcAft>
                <a:spcPts val="0"/>
              </a:spcAft>
              <a:buClr>
                <a:srgbClr val="0B5394"/>
              </a:buClr>
              <a:buSzPts val="1500"/>
              <a:buAutoNum type="arabicPeriod"/>
            </a:pPr>
            <a:r>
              <a:rPr lang="es" sz="1500">
                <a:solidFill>
                  <a:srgbClr val="0B5394"/>
                </a:solidFill>
              </a:rPr>
              <a:t>Los modelos CatBoost entrenados alcanzaron F1-score de 85% en categoría y 92% en género.</a:t>
            </a:r>
            <a:endParaRPr sz="1500">
              <a:solidFill>
                <a:srgbClr val="0B5394"/>
              </a:solidFill>
            </a:endParaRPr>
          </a:p>
          <a:p>
            <a:pPr indent="0" lvl="0" marL="914400" rtl="0" algn="l">
              <a:spcBef>
                <a:spcPts val="0"/>
              </a:spcBef>
              <a:spcAft>
                <a:spcPts val="0"/>
              </a:spcAft>
              <a:buNone/>
            </a:pPr>
            <a:r>
              <a:t/>
            </a:r>
            <a:endParaRPr sz="1500">
              <a:solidFill>
                <a:srgbClr val="0B5394"/>
              </a:solidFill>
            </a:endParaRPr>
          </a:p>
          <a:p>
            <a:pPr indent="-323850" lvl="0" marL="457200" rtl="0" algn="l">
              <a:spcBef>
                <a:spcPts val="0"/>
              </a:spcBef>
              <a:spcAft>
                <a:spcPts val="0"/>
              </a:spcAft>
              <a:buClr>
                <a:srgbClr val="0B5394"/>
              </a:buClr>
              <a:buSzPts val="1500"/>
              <a:buAutoNum type="arabicPeriod"/>
            </a:pPr>
            <a:r>
              <a:rPr lang="es" sz="1500">
                <a:solidFill>
                  <a:srgbClr val="0B5394"/>
                </a:solidFill>
              </a:rPr>
              <a:t>La búsqueda vectorial con pgvector demostró ser eficiente para catálogos de tamaño medio.</a:t>
            </a:r>
            <a:endParaRPr sz="1500">
              <a:solidFill>
                <a:srgbClr val="0B5394"/>
              </a:solidFill>
            </a:endParaRPr>
          </a:p>
          <a:p>
            <a:pPr indent="0" lvl="0" marL="914400" rtl="0" algn="l">
              <a:spcBef>
                <a:spcPts val="0"/>
              </a:spcBef>
              <a:spcAft>
                <a:spcPts val="0"/>
              </a:spcAft>
              <a:buNone/>
            </a:pPr>
            <a:r>
              <a:t/>
            </a:r>
            <a:endParaRPr sz="1500">
              <a:solidFill>
                <a:srgbClr val="0B5394"/>
              </a:solidFill>
            </a:endParaRPr>
          </a:p>
          <a:p>
            <a:pPr indent="-323850" lvl="0" marL="457200" rtl="0" algn="l">
              <a:spcBef>
                <a:spcPts val="0"/>
              </a:spcBef>
              <a:spcAft>
                <a:spcPts val="0"/>
              </a:spcAft>
              <a:buClr>
                <a:srgbClr val="0B5394"/>
              </a:buClr>
              <a:buSzPts val="1500"/>
              <a:buAutoNum type="arabicPeriod"/>
            </a:pPr>
            <a:r>
              <a:rPr lang="es" sz="1500">
                <a:solidFill>
                  <a:srgbClr val="0B5394"/>
                </a:solidFill>
              </a:rPr>
              <a:t>La arquitectura multiagente con 8 agentes especializados y coordinador inteligente permite procesar consultas de diferente complejidad de forma escalonada.</a:t>
            </a:r>
            <a:endParaRPr sz="1500">
              <a:solidFill>
                <a:srgbClr val="0B5394"/>
              </a:solidFill>
            </a:endParaRPr>
          </a:p>
        </p:txBody>
      </p:sp>
      <p:sp>
        <p:nvSpPr>
          <p:cNvPr id="209" name="Google Shape;209;p32"/>
          <p:cNvSpPr txBox="1"/>
          <p:nvPr/>
        </p:nvSpPr>
        <p:spPr>
          <a:xfrm>
            <a:off x="4572000" y="769350"/>
            <a:ext cx="4572000" cy="404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s" sz="1500">
                <a:solidFill>
                  <a:schemeClr val="dk2"/>
                </a:solidFill>
              </a:rPr>
              <a:t>Trabajo Futuro:</a:t>
            </a:r>
            <a:endParaRPr b="1" sz="1500">
              <a:solidFill>
                <a:schemeClr val="dk2"/>
              </a:solidFill>
            </a:endParaRPr>
          </a:p>
          <a:p>
            <a:pPr indent="0" lvl="0" marL="0" rtl="0" algn="l">
              <a:spcBef>
                <a:spcPts val="0"/>
              </a:spcBef>
              <a:spcAft>
                <a:spcPts val="0"/>
              </a:spcAft>
              <a:buClr>
                <a:schemeClr val="dk1"/>
              </a:buClr>
              <a:buSzPts val="1100"/>
              <a:buFont typeface="Arial"/>
              <a:buNone/>
            </a:pPr>
            <a:r>
              <a:t/>
            </a:r>
            <a:endParaRPr b="1" sz="1500">
              <a:solidFill>
                <a:schemeClr val="dk2"/>
              </a:solidFill>
            </a:endParaRPr>
          </a:p>
          <a:p>
            <a:pPr indent="-323850" lvl="0" marL="457200" rtl="0" algn="l">
              <a:spcBef>
                <a:spcPts val="0"/>
              </a:spcBef>
              <a:spcAft>
                <a:spcPts val="0"/>
              </a:spcAft>
              <a:buClr>
                <a:schemeClr val="dk2"/>
              </a:buClr>
              <a:buSzPts val="1500"/>
              <a:buAutoNum type="arabicPeriod"/>
            </a:pPr>
            <a:r>
              <a:rPr lang="es" sz="1500">
                <a:solidFill>
                  <a:schemeClr val="dk2"/>
                </a:solidFill>
              </a:rPr>
              <a:t>Ampliar el dataset a al menos 5,000 productos. </a:t>
            </a:r>
            <a:endParaRPr sz="1500">
              <a:solidFill>
                <a:schemeClr val="dk2"/>
              </a:solidFill>
            </a:endParaRPr>
          </a:p>
          <a:p>
            <a:pPr indent="-323850" lvl="0" marL="457200" rtl="0" algn="l">
              <a:spcBef>
                <a:spcPts val="0"/>
              </a:spcBef>
              <a:spcAft>
                <a:spcPts val="0"/>
              </a:spcAft>
              <a:buClr>
                <a:schemeClr val="dk2"/>
              </a:buClr>
              <a:buSzPts val="1500"/>
              <a:buAutoNum type="arabicPeriod"/>
            </a:pPr>
            <a:r>
              <a:rPr lang="es" sz="1500">
                <a:solidFill>
                  <a:schemeClr val="dk2"/>
                </a:solidFill>
              </a:rPr>
              <a:t>Implementar A/B testing con usuarios reales.</a:t>
            </a:r>
            <a:endParaRPr sz="1500">
              <a:solidFill>
                <a:schemeClr val="dk2"/>
              </a:solidFill>
            </a:endParaRPr>
          </a:p>
          <a:p>
            <a:pPr indent="-323850" lvl="0" marL="457200" rtl="0" algn="l">
              <a:spcBef>
                <a:spcPts val="0"/>
              </a:spcBef>
              <a:spcAft>
                <a:spcPts val="0"/>
              </a:spcAft>
              <a:buClr>
                <a:schemeClr val="dk2"/>
              </a:buClr>
              <a:buSzPts val="1500"/>
              <a:buAutoNum type="arabicPeriod"/>
            </a:pPr>
            <a:r>
              <a:rPr lang="es" sz="1500">
                <a:solidFill>
                  <a:schemeClr val="dk2"/>
                </a:solidFill>
              </a:rPr>
              <a:t>Incorporar contexto temporal y personal.</a:t>
            </a:r>
            <a:endParaRPr sz="1500">
              <a:solidFill>
                <a:schemeClr val="dk2"/>
              </a:solidFill>
            </a:endParaRPr>
          </a:p>
          <a:p>
            <a:pPr indent="-323850" lvl="0" marL="457200" rtl="0" algn="l">
              <a:spcBef>
                <a:spcPts val="0"/>
              </a:spcBef>
              <a:spcAft>
                <a:spcPts val="0"/>
              </a:spcAft>
              <a:buClr>
                <a:schemeClr val="dk2"/>
              </a:buClr>
              <a:buSzPts val="1500"/>
              <a:buAutoNum type="arabicPeriod"/>
            </a:pPr>
            <a:r>
              <a:rPr lang="es" sz="1500">
                <a:solidFill>
                  <a:schemeClr val="dk2"/>
                </a:solidFill>
              </a:rPr>
              <a:t>Agregar perfil de usuario con preferencias de estilo.</a:t>
            </a:r>
            <a:endParaRPr sz="1500">
              <a:solidFill>
                <a:schemeClr val="dk2"/>
              </a:solidFill>
            </a:endParaRPr>
          </a:p>
          <a:p>
            <a:pPr indent="-323850" lvl="0" marL="457200" rtl="0" algn="l">
              <a:spcBef>
                <a:spcPts val="0"/>
              </a:spcBef>
              <a:spcAft>
                <a:spcPts val="0"/>
              </a:spcAft>
              <a:buClr>
                <a:schemeClr val="dk2"/>
              </a:buClr>
              <a:buSzPts val="1500"/>
              <a:buAutoNum type="arabicPeriod"/>
            </a:pPr>
            <a:r>
              <a:rPr lang="es" sz="1500">
                <a:solidFill>
                  <a:schemeClr val="dk2"/>
                </a:solidFill>
              </a:rPr>
              <a:t>Integrar con APIs de tiendas</a:t>
            </a:r>
            <a:endParaRPr sz="1500">
              <a:solidFill>
                <a:schemeClr val="dk2"/>
              </a:solidFill>
            </a:endParaRPr>
          </a:p>
          <a:p>
            <a:pPr indent="-323850" lvl="0" marL="457200" rtl="0" algn="l">
              <a:spcBef>
                <a:spcPts val="0"/>
              </a:spcBef>
              <a:spcAft>
                <a:spcPts val="0"/>
              </a:spcAft>
              <a:buClr>
                <a:schemeClr val="dk2"/>
              </a:buClr>
              <a:buSzPts val="1500"/>
              <a:buAutoNum type="arabicPeriod"/>
            </a:pPr>
            <a:r>
              <a:rPr lang="es" sz="1500">
                <a:solidFill>
                  <a:schemeClr val="dk2"/>
                </a:solidFill>
              </a:rPr>
              <a:t>Explorar índices HNSW.</a:t>
            </a:r>
            <a:endParaRPr sz="1500">
              <a:solidFill>
                <a:schemeClr val="dk2"/>
              </a:solidFill>
            </a:endParaRPr>
          </a:p>
          <a:p>
            <a:pPr indent="-323850" lvl="0" marL="457200" rtl="0" algn="l">
              <a:spcBef>
                <a:spcPts val="0"/>
              </a:spcBef>
              <a:spcAft>
                <a:spcPts val="0"/>
              </a:spcAft>
              <a:buClr>
                <a:schemeClr val="dk2"/>
              </a:buClr>
              <a:buSzPts val="1500"/>
              <a:buAutoNum type="arabicPeriod"/>
            </a:pPr>
            <a:r>
              <a:rPr lang="es" sz="1500">
                <a:solidFill>
                  <a:schemeClr val="dk2"/>
                </a:solidFill>
              </a:rPr>
              <a:t>Extender el EspecialistaOutfits para generación automática de outfits completos.</a:t>
            </a:r>
            <a:endParaRPr sz="1500">
              <a:solidFill>
                <a:schemeClr val="dk2"/>
              </a:solidFill>
            </a:endParaRPr>
          </a:p>
          <a:p>
            <a:pPr indent="-323850" lvl="0" marL="457200" rtl="0" algn="l">
              <a:spcBef>
                <a:spcPts val="0"/>
              </a:spcBef>
              <a:spcAft>
                <a:spcPts val="0"/>
              </a:spcAft>
              <a:buClr>
                <a:schemeClr val="dk2"/>
              </a:buClr>
              <a:buSzPts val="1500"/>
              <a:buAutoNum type="arabicPeriod"/>
            </a:pPr>
            <a:r>
              <a:rPr lang="es" sz="1500">
                <a:solidFill>
                  <a:schemeClr val="dk2"/>
                </a:solidFill>
              </a:rPr>
              <a:t>Evaluar modelos locales.</a:t>
            </a:r>
            <a:endParaRPr sz="1500">
              <a:solidFill>
                <a:schemeClr val="dk2"/>
              </a:solidFill>
            </a:endParaRPr>
          </a:p>
          <a:p>
            <a:pPr indent="-323850" lvl="0" marL="457200" rtl="0" algn="l">
              <a:spcBef>
                <a:spcPts val="0"/>
              </a:spcBef>
              <a:spcAft>
                <a:spcPts val="0"/>
              </a:spcAft>
              <a:buClr>
                <a:schemeClr val="dk2"/>
              </a:buClr>
              <a:buSzPts val="1500"/>
              <a:buAutoNum type="arabicPeriod"/>
            </a:pPr>
            <a:r>
              <a:rPr lang="es" sz="1500">
                <a:solidFill>
                  <a:schemeClr val="dk2"/>
                </a:solidFill>
              </a:rPr>
              <a:t>Realizar fine-tuning de embeddings con datos propios.</a:t>
            </a:r>
            <a:endParaRPr sz="1500">
              <a:solidFill>
                <a:schemeClr val="dk2"/>
              </a:solidFill>
            </a:endParaRPr>
          </a:p>
          <a:p>
            <a:pPr indent="-323850" lvl="0" marL="457200" rtl="0" algn="l">
              <a:spcBef>
                <a:spcPts val="0"/>
              </a:spcBef>
              <a:spcAft>
                <a:spcPts val="0"/>
              </a:spcAft>
              <a:buClr>
                <a:schemeClr val="dk2"/>
              </a:buClr>
              <a:buSzPts val="1500"/>
              <a:buAutoNum type="arabicPeriod"/>
            </a:pPr>
            <a:r>
              <a:rPr lang="es" sz="1500">
                <a:solidFill>
                  <a:schemeClr val="dk2"/>
                </a:solidFill>
              </a:rPr>
              <a:t>Desarrollar un sistema de feedback explícito</a:t>
            </a:r>
            <a:endParaRPr sz="1500">
              <a:solidFill>
                <a:schemeClr val="dk2"/>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208"/>
                                        </p:tgtEl>
                                        <p:attrNameLst>
                                          <p:attrName>style.visibility</p:attrName>
                                        </p:attrNameLst>
                                      </p:cBhvr>
                                      <p:to>
                                        <p:strVal val="visible"/>
                                      </p:to>
                                    </p:set>
                                    <p:animEffect filter="fade" transition="in">
                                      <p:cBhvr>
                                        <p:cTn dur="1000"/>
                                        <p:tgtEl>
                                          <p:spTgt spid="208"/>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09"/>
                                        </p:tgtEl>
                                        <p:attrNameLst>
                                          <p:attrName>style.visibility</p:attrName>
                                        </p:attrNameLst>
                                      </p:cBhvr>
                                      <p:to>
                                        <p:strVal val="visible"/>
                                      </p:to>
                                    </p:set>
                                    <p:animEffect filter="fade" transition="in">
                                      <p:cBhvr>
                                        <p:cTn dur="1000"/>
                                        <p:tgtEl>
                                          <p:spTgt spid="20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33"/>
          <p:cNvSpPr txBox="1"/>
          <p:nvPr>
            <p:ph idx="1" type="subTitle"/>
          </p:nvPr>
        </p:nvSpPr>
        <p:spPr>
          <a:xfrm>
            <a:off x="2268050" y="927050"/>
            <a:ext cx="4607400" cy="2785800"/>
          </a:xfrm>
          <a:prstGeom prst="rect">
            <a:avLst/>
          </a:prstGeom>
        </p:spPr>
        <p:txBody>
          <a:bodyPr anchorCtr="0" anchor="ctr" bIns="91425" lIns="91425" spcFirstLastPara="1" rIns="91425" wrap="square" tIns="91425">
            <a:normAutofit/>
          </a:bodyPr>
          <a:lstStyle/>
          <a:p>
            <a:pPr indent="0" lvl="0" marL="0" rtl="0" algn="l">
              <a:lnSpc>
                <a:spcPct val="115000"/>
              </a:lnSpc>
              <a:spcBef>
                <a:spcPts val="0"/>
              </a:spcBef>
              <a:spcAft>
                <a:spcPts val="0"/>
              </a:spcAft>
              <a:buClr>
                <a:schemeClr val="dk1"/>
              </a:buClr>
              <a:buSzPts val="1100"/>
              <a:buFont typeface="Arial"/>
              <a:buNone/>
            </a:pPr>
            <a:r>
              <a:rPr b="1" lang="es" sz="1500">
                <a:solidFill>
                  <a:srgbClr val="0B5394"/>
                </a:solidFill>
              </a:rPr>
              <a:t>AGRADECIMIENTOS</a:t>
            </a:r>
            <a:endParaRPr b="1" sz="1500">
              <a:solidFill>
                <a:srgbClr val="0B5394"/>
              </a:solidFill>
            </a:endParaRPr>
          </a:p>
          <a:p>
            <a:pPr indent="-311150" lvl="0" marL="457200" rtl="0" algn="l">
              <a:lnSpc>
                <a:spcPct val="115000"/>
              </a:lnSpc>
              <a:spcBef>
                <a:spcPts val="1200"/>
              </a:spcBef>
              <a:spcAft>
                <a:spcPts val="0"/>
              </a:spcAft>
              <a:buClr>
                <a:srgbClr val="0B5394"/>
              </a:buClr>
              <a:buSzPts val="1300"/>
              <a:buChar char="●"/>
            </a:pPr>
            <a:r>
              <a:rPr b="1" lang="es" sz="1300">
                <a:solidFill>
                  <a:srgbClr val="0B5394"/>
                </a:solidFill>
              </a:rPr>
              <a:t>Lic. Martín Fernández.</a:t>
            </a:r>
            <a:endParaRPr b="1" sz="1300">
              <a:solidFill>
                <a:srgbClr val="0B5394"/>
              </a:solidFill>
            </a:endParaRPr>
          </a:p>
          <a:p>
            <a:pPr indent="-311150" lvl="0" marL="457200" rtl="0" algn="l">
              <a:lnSpc>
                <a:spcPct val="115000"/>
              </a:lnSpc>
              <a:spcBef>
                <a:spcPts val="0"/>
              </a:spcBef>
              <a:spcAft>
                <a:spcPts val="0"/>
              </a:spcAft>
              <a:buClr>
                <a:srgbClr val="0B5394"/>
              </a:buClr>
              <a:buSzPts val="1300"/>
              <a:buChar char="●"/>
            </a:pPr>
            <a:r>
              <a:rPr b="1" lang="es" sz="1300">
                <a:solidFill>
                  <a:srgbClr val="0B5394"/>
                </a:solidFill>
              </a:rPr>
              <a:t>Style Designer</a:t>
            </a:r>
            <a:endParaRPr b="1" sz="1300">
              <a:solidFill>
                <a:srgbClr val="0B5394"/>
              </a:solidFill>
            </a:endParaRPr>
          </a:p>
          <a:p>
            <a:pPr indent="-311150" lvl="0" marL="457200" rtl="0" algn="l">
              <a:lnSpc>
                <a:spcPct val="115000"/>
              </a:lnSpc>
              <a:spcBef>
                <a:spcPts val="0"/>
              </a:spcBef>
              <a:spcAft>
                <a:spcPts val="0"/>
              </a:spcAft>
              <a:buClr>
                <a:srgbClr val="0B5394"/>
              </a:buClr>
              <a:buSzPts val="1300"/>
              <a:buChar char="●"/>
            </a:pPr>
            <a:r>
              <a:rPr b="1" lang="es" sz="1300">
                <a:solidFill>
                  <a:srgbClr val="0B5394"/>
                </a:solidFill>
              </a:rPr>
              <a:t>UTEC Uruguay</a:t>
            </a:r>
            <a:endParaRPr b="1" sz="1300">
              <a:solidFill>
                <a:srgbClr val="0B5394"/>
              </a:solidFill>
            </a:endParaRPr>
          </a:p>
          <a:p>
            <a:pPr indent="-311150" lvl="0" marL="457200" rtl="0" algn="l">
              <a:lnSpc>
                <a:spcPct val="115000"/>
              </a:lnSpc>
              <a:spcBef>
                <a:spcPts val="0"/>
              </a:spcBef>
              <a:spcAft>
                <a:spcPts val="0"/>
              </a:spcAft>
              <a:buClr>
                <a:srgbClr val="0B5394"/>
              </a:buClr>
              <a:buSzPts val="1300"/>
              <a:buChar char="●"/>
            </a:pPr>
            <a:r>
              <a:rPr b="1" lang="es" sz="1300">
                <a:solidFill>
                  <a:srgbClr val="0B5394"/>
                </a:solidFill>
              </a:rPr>
              <a:t>Tecnológico de Monterrey</a:t>
            </a:r>
            <a:endParaRPr b="1" sz="1300">
              <a:solidFill>
                <a:srgbClr val="0B5394"/>
              </a:solidFill>
            </a:endParaRPr>
          </a:p>
          <a:p>
            <a:pPr indent="-311150" lvl="0" marL="457200" rtl="0" algn="l">
              <a:lnSpc>
                <a:spcPct val="115000"/>
              </a:lnSpc>
              <a:spcBef>
                <a:spcPts val="0"/>
              </a:spcBef>
              <a:spcAft>
                <a:spcPts val="0"/>
              </a:spcAft>
              <a:buClr>
                <a:srgbClr val="0B5394"/>
              </a:buClr>
              <a:buSzPts val="1300"/>
              <a:buChar char="●"/>
            </a:pPr>
            <a:r>
              <a:rPr b="1" lang="es" sz="1300">
                <a:solidFill>
                  <a:srgbClr val="0B5394"/>
                </a:solidFill>
              </a:rPr>
              <a:t>Familia y amigos</a:t>
            </a:r>
            <a:endParaRPr b="1" sz="1300">
              <a:solidFill>
                <a:srgbClr val="0B5394"/>
              </a:solidFill>
            </a:endParaRPr>
          </a:p>
        </p:txBody>
      </p:sp>
      <p:pic>
        <p:nvPicPr>
          <p:cNvPr id="215" name="Google Shape;215;p33"/>
          <p:cNvPicPr preferRelativeResize="0"/>
          <p:nvPr/>
        </p:nvPicPr>
        <p:blipFill>
          <a:blip r:embed="rId3">
            <a:alphaModFix/>
          </a:blip>
          <a:stretch>
            <a:fillRect/>
          </a:stretch>
        </p:blipFill>
        <p:spPr>
          <a:xfrm>
            <a:off x="2268275" y="3712953"/>
            <a:ext cx="4607458" cy="5133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 presetSubtype="4">
                                  <p:stCondLst>
                                    <p:cond delay="0"/>
                                  </p:stCondLst>
                                  <p:childTnLst>
                                    <p:set>
                                      <p:cBhvr>
                                        <p:cTn dur="1" fill="hold">
                                          <p:stCondLst>
                                            <p:cond delay="0"/>
                                          </p:stCondLst>
                                        </p:cTn>
                                        <p:tgtEl>
                                          <p:spTgt spid="214"/>
                                        </p:tgtEl>
                                        <p:attrNameLst>
                                          <p:attrName>style.visibility</p:attrName>
                                        </p:attrNameLst>
                                      </p:cBhvr>
                                      <p:to>
                                        <p:strVal val="visible"/>
                                      </p:to>
                                    </p:set>
                                    <p:anim calcmode="lin" valueType="num">
                                      <p:cBhvr additive="base">
                                        <p:cTn dur="1500"/>
                                        <p:tgtEl>
                                          <p:spTgt spid="214"/>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215"/>
                                        </p:tgtEl>
                                        <p:attrNameLst>
                                          <p:attrName>style.visibility</p:attrName>
                                        </p:attrNameLst>
                                      </p:cBhvr>
                                      <p:to>
                                        <p:strVal val="visible"/>
                                      </p:to>
                                    </p:set>
                                    <p:anim calcmode="lin" valueType="num">
                                      <p:cBhvr additive="base">
                                        <p:cTn dur="1500"/>
                                        <p:tgtEl>
                                          <p:spTgt spid="215"/>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